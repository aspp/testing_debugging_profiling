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76" r:id="rId3"/>
    <p:sldId id="258" r:id="rId4"/>
    <p:sldId id="291" r:id="rId5"/>
    <p:sldId id="268" r:id="rId6"/>
    <p:sldId id="259" r:id="rId7"/>
    <p:sldId id="261" r:id="rId8"/>
    <p:sldId id="260" r:id="rId9"/>
    <p:sldId id="264" r:id="rId10"/>
    <p:sldId id="274" r:id="rId11"/>
    <p:sldId id="263" r:id="rId12"/>
    <p:sldId id="292" r:id="rId13"/>
    <p:sldId id="269" r:id="rId14"/>
    <p:sldId id="270" r:id="rId15"/>
    <p:sldId id="257" r:id="rId16"/>
    <p:sldId id="277" r:id="rId17"/>
    <p:sldId id="262" r:id="rId18"/>
    <p:sldId id="275" r:id="rId19"/>
    <p:sldId id="266" r:id="rId20"/>
    <p:sldId id="265" r:id="rId21"/>
    <p:sldId id="273" r:id="rId22"/>
    <p:sldId id="267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32"/>
    <p:restoredTop sz="96556"/>
  </p:normalViewPr>
  <p:slideViewPr>
    <p:cSldViewPr snapToGrid="0">
      <p:cViewPr varScale="1">
        <p:scale>
          <a:sx n="131" d="100"/>
          <a:sy n="131" d="100"/>
        </p:scale>
        <p:origin x="21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something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code and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an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a </a:t>
            </a:r>
            <a:r>
              <a:rPr lang="de-DE" dirty="0" err="1"/>
              <a:t>wring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, </a:t>
            </a:r>
            <a:r>
              <a:rPr lang="de-DE" dirty="0" err="1"/>
              <a:t>what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do? </a:t>
            </a:r>
          </a:p>
          <a:p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anyone</a:t>
            </a:r>
            <a:r>
              <a:rPr lang="de-DE" dirty="0"/>
              <a:t> just </a:t>
            </a:r>
            <a:r>
              <a:rPr lang="de-DE" dirty="0" err="1"/>
              <a:t>read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code, </a:t>
            </a:r>
            <a:r>
              <a:rPr lang="de-DE" dirty="0" err="1"/>
              <a:t>think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, and 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?</a:t>
            </a:r>
          </a:p>
          <a:p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So, </a:t>
            </a:r>
            <a:r>
              <a:rPr lang="de-DE" dirty="0" err="1"/>
              <a:t>How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? </a:t>
            </a:r>
            <a:r>
              <a:rPr lang="de-DE" dirty="0" err="1"/>
              <a:t>How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find out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fix </a:t>
            </a:r>
            <a:r>
              <a:rPr lang="de-DE" dirty="0" err="1"/>
              <a:t>it</a:t>
            </a:r>
            <a:r>
              <a:rPr lang="de-DE" dirty="0"/>
              <a:t>?</a:t>
            </a:r>
          </a:p>
          <a:p>
            <a:endParaRPr lang="de-DE" dirty="0"/>
          </a:p>
          <a:p>
            <a:r>
              <a:rPr lang="de-DE" dirty="0"/>
              <a:t>Probable </a:t>
            </a:r>
            <a:r>
              <a:rPr lang="de-DE" dirty="0" err="1"/>
              <a:t>answers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Debugger</a:t>
            </a:r>
          </a:p>
          <a:p>
            <a:pPr marL="171450" indent="-171450">
              <a:buFontTx/>
              <a:buChar char="-"/>
            </a:pPr>
            <a:r>
              <a:rPr lang="de-DE" dirty="0"/>
              <a:t>Print </a:t>
            </a:r>
            <a:r>
              <a:rPr lang="de-DE" dirty="0" err="1"/>
              <a:t>statements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Jupyter</a:t>
            </a:r>
            <a:r>
              <a:rPr lang="de-DE" dirty="0"/>
              <a:t>: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cell</a:t>
            </a:r>
            <a:r>
              <a:rPr lang="de-DE" dirty="0"/>
              <a:t> and </a:t>
            </a:r>
            <a:r>
              <a:rPr lang="de-DE" dirty="0" err="1"/>
              <a:t>execute</a:t>
            </a:r>
            <a:r>
              <a:rPr lang="de-DE" dirty="0"/>
              <a:t> </a:t>
            </a:r>
            <a:r>
              <a:rPr lang="de-DE" dirty="0" err="1"/>
              <a:t>cell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r>
              <a:rPr lang="de-DE" dirty="0"/>
              <a:t>Who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strategies</a:t>
            </a:r>
            <a:r>
              <a:rPr lang="de-DE" dirty="0"/>
              <a:t> </a:t>
            </a:r>
            <a:r>
              <a:rPr lang="de-DE" dirty="0" err="1"/>
              <a:t>regularly</a:t>
            </a:r>
            <a:r>
              <a:rPr lang="de-DE" dirty="0"/>
              <a:t>?</a:t>
            </a:r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goal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motivate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debugging</a:t>
            </a:r>
            <a:r>
              <a:rPr lang="de-DE" dirty="0"/>
              <a:t> a </a:t>
            </a:r>
            <a:r>
              <a:rPr lang="de-DE" dirty="0" err="1"/>
              <a:t>try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think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fix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problems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code.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5763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9" name="Shape 1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First two points</a:t>
            </a:r>
          </a:p>
          <a:p>
            <a:endParaRPr lang="en-US" dirty="0"/>
          </a:p>
          <a:p>
            <a:r>
              <a:rPr lang="en-US" dirty="0"/>
              <a:t>BUT </a:t>
            </a:r>
            <a:r>
              <a:rPr dirty="0"/>
              <a:t>Bugs are inevitable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And finding them after you have written them is something that we spend a lot of time on, </a:t>
            </a:r>
          </a:p>
          <a:p>
            <a:r>
              <a:rPr lang="en-US" dirty="0"/>
              <a:t>so we want to have a good way of finding and eliminating them. </a:t>
            </a:r>
          </a:p>
          <a:p>
            <a:endParaRPr lang="en-US" dirty="0"/>
          </a:p>
          <a:p>
            <a:r>
              <a:rPr lang="en-US" dirty="0"/>
              <a:t>This is why we want to show you how to debug, </a:t>
            </a:r>
          </a:p>
          <a:p>
            <a:r>
              <a:rPr lang="en-US" dirty="0"/>
              <a:t>Debugging is &lt;&lt;&lt;third point&gt;&gt;&gt;</a:t>
            </a:r>
          </a:p>
          <a:p>
            <a:endParaRPr lang="en-US" dirty="0"/>
          </a:p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helpful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obviously</a:t>
            </a:r>
            <a:r>
              <a:rPr lang="de-DE" dirty="0"/>
              <a:t> </a:t>
            </a:r>
            <a:r>
              <a:rPr lang="de-DE" dirty="0" err="1"/>
              <a:t>wrote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code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think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thing</a:t>
            </a:r>
            <a:r>
              <a:rPr lang="de-DE" dirty="0"/>
              <a:t>, but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doing</a:t>
            </a:r>
            <a:r>
              <a:rPr lang="de-DE" dirty="0"/>
              <a:t> </a:t>
            </a:r>
            <a:r>
              <a:rPr lang="de-DE" dirty="0" err="1"/>
              <a:t>something</a:t>
            </a:r>
            <a:r>
              <a:rPr lang="de-DE" dirty="0"/>
              <a:t> </a:t>
            </a:r>
            <a:r>
              <a:rPr lang="de-DE" dirty="0" err="1"/>
              <a:t>else</a:t>
            </a:r>
            <a:r>
              <a:rPr lang="de-DE" dirty="0"/>
              <a:t>. </a:t>
            </a:r>
          </a:p>
          <a:p>
            <a:r>
              <a:rPr lang="de-DE" dirty="0"/>
              <a:t>And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find out at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going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,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going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and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fix </a:t>
            </a:r>
            <a:r>
              <a:rPr lang="de-DE" dirty="0" err="1"/>
              <a:t>it</a:t>
            </a:r>
            <a:r>
              <a:rPr lang="de-DE" dirty="0"/>
              <a:t> </a:t>
            </a:r>
          </a:p>
          <a:p>
            <a:r>
              <a:rPr lang="de-DE" dirty="0"/>
              <a:t>WITHOUT </a:t>
            </a:r>
            <a:r>
              <a:rPr lang="de-DE" dirty="0" err="1"/>
              <a:t>littering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code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commented</a:t>
            </a:r>
            <a:r>
              <a:rPr lang="de-DE" dirty="0"/>
              <a:t> out code, </a:t>
            </a:r>
            <a:r>
              <a:rPr lang="de-DE" dirty="0" err="1"/>
              <a:t>print</a:t>
            </a:r>
            <a:r>
              <a:rPr lang="de-DE" dirty="0"/>
              <a:t> </a:t>
            </a:r>
            <a:r>
              <a:rPr lang="de-DE" dirty="0" err="1"/>
              <a:t>statement</a:t>
            </a:r>
            <a:r>
              <a:rPr lang="de-DE" dirty="0"/>
              <a:t>, </a:t>
            </a:r>
            <a:r>
              <a:rPr lang="de-DE" dirty="0" err="1"/>
              <a:t>creating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cells</a:t>
            </a:r>
            <a:r>
              <a:rPr lang="de-DE" dirty="0"/>
              <a:t> in </a:t>
            </a:r>
            <a:r>
              <a:rPr lang="de-DE" dirty="0" err="1"/>
              <a:t>jupyter</a:t>
            </a:r>
            <a:r>
              <a:rPr lang="de-DE" dirty="0"/>
              <a:t>, …</a:t>
            </a:r>
          </a:p>
          <a:p>
            <a:endParaRPr lang="de-DE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5" name="Shape 1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As </a:t>
            </a:r>
            <a:r>
              <a:rPr lang="de-DE" dirty="0" err="1"/>
              <a:t>opposed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waterfall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Reminder</a:t>
            </a:r>
            <a:endParaRPr lang="de-DE" dirty="0"/>
          </a:p>
          <a:p>
            <a:r>
              <a:rPr lang="de-DE" dirty="0"/>
              <a:t> 1) </a:t>
            </a:r>
            <a:r>
              <a:rPr lang="de-DE" dirty="0" err="1"/>
              <a:t>describe</a:t>
            </a:r>
            <a:r>
              <a:rPr lang="de-DE" dirty="0"/>
              <a:t> </a:t>
            </a:r>
            <a:r>
              <a:rPr lang="de-DE" dirty="0" err="1"/>
              <a:t>cycle</a:t>
            </a:r>
            <a:endParaRPr lang="de-DE" dirty="0"/>
          </a:p>
          <a:p>
            <a:r>
              <a:rPr lang="de-DE" dirty="0"/>
              <a:t> 2)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cycles</a:t>
            </a:r>
            <a:r>
              <a:rPr lang="de-DE" dirty="0"/>
              <a:t>: </a:t>
            </a:r>
            <a:r>
              <a:rPr lang="de-DE" dirty="0" err="1"/>
              <a:t>granularity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feature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important</a:t>
            </a:r>
            <a:endParaRPr lang="de-DE" dirty="0"/>
          </a:p>
          <a:p>
            <a:r>
              <a:rPr lang="de-DE" dirty="0"/>
              <a:t> 3)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======</a:t>
            </a:r>
          </a:p>
          <a:p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maybe</a:t>
            </a:r>
            <a:r>
              <a:rPr lang="de-DE" dirty="0"/>
              <a:t> </a:t>
            </a:r>
            <a:r>
              <a:rPr lang="de-DE" dirty="0" err="1"/>
              <a:t>it's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and </a:t>
            </a: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52711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will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pdb</a:t>
            </a:r>
            <a:r>
              <a:rPr lang="de-DE" dirty="0"/>
              <a:t>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session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Python-default </a:t>
            </a:r>
            <a:r>
              <a:rPr lang="de-DE" dirty="0" err="1"/>
              <a:t>debugger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Raise </a:t>
            </a:r>
            <a:r>
              <a:rPr lang="de-DE" dirty="0" err="1"/>
              <a:t>hands</a:t>
            </a:r>
            <a:r>
              <a:rPr lang="de-DE" dirty="0"/>
              <a:t> (also </a:t>
            </a:r>
            <a:r>
              <a:rPr lang="de-DE" dirty="0" err="1"/>
              <a:t>faculty</a:t>
            </a:r>
            <a:r>
              <a:rPr lang="de-DE" dirty="0"/>
              <a:t>), </a:t>
            </a:r>
            <a:r>
              <a:rPr lang="de-DE" dirty="0" err="1"/>
              <a:t>who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a </a:t>
            </a:r>
            <a:r>
              <a:rPr lang="de-DE" dirty="0" err="1"/>
              <a:t>debugger</a:t>
            </a:r>
            <a:r>
              <a:rPr lang="de-DE" dirty="0"/>
              <a:t>?</a:t>
            </a:r>
          </a:p>
          <a:p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,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pdb</a:t>
            </a:r>
            <a:r>
              <a:rPr lang="de-DE" dirty="0"/>
              <a:t>?</a:t>
            </a:r>
          </a:p>
          <a:p>
            <a:endParaRPr lang="de-DE" dirty="0"/>
          </a:p>
          <a:p>
            <a:r>
              <a:rPr lang="de-DE" dirty="0"/>
              <a:t>Not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. </a:t>
            </a:r>
          </a:p>
          <a:p>
            <a:r>
              <a:rPr lang="de-DE" dirty="0" err="1"/>
              <a:t>Pdb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and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line-y</a:t>
            </a:r>
            <a:r>
              <a:rPr lang="de-DE" dirty="0"/>
              <a:t>, so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like </a:t>
            </a:r>
            <a:r>
              <a:rPr lang="de-DE" dirty="0" err="1"/>
              <a:t>working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will </a:t>
            </a:r>
            <a:r>
              <a:rPr lang="de-DE" dirty="0" err="1"/>
              <a:t>probably</a:t>
            </a:r>
            <a:r>
              <a:rPr lang="de-DE" dirty="0"/>
              <a:t> like it. </a:t>
            </a:r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like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in </a:t>
            </a:r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in an IDE,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find </a:t>
            </a:r>
            <a:r>
              <a:rPr lang="de-DE" dirty="0" err="1"/>
              <a:t>it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weird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 err="1"/>
              <a:t>Because</a:t>
            </a:r>
            <a:r>
              <a:rPr lang="de-DE" dirty="0"/>
              <a:t>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push an IDE,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going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pdb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. </a:t>
            </a:r>
          </a:p>
          <a:p>
            <a:r>
              <a:rPr lang="de-DE" dirty="0"/>
              <a:t>All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debuggers</a:t>
            </a:r>
            <a:r>
              <a:rPr lang="de-DE" dirty="0"/>
              <a:t> in IDEs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same, so </a:t>
            </a:r>
            <a:r>
              <a:rPr lang="de-DE" dirty="0" err="1"/>
              <a:t>you</a:t>
            </a:r>
            <a:r>
              <a:rPr lang="de-DE" dirty="0"/>
              <a:t> will 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concepts</a:t>
            </a:r>
            <a:r>
              <a:rPr lang="de-DE" dirty="0"/>
              <a:t> </a:t>
            </a:r>
            <a:r>
              <a:rPr lang="de-DE" dirty="0" err="1"/>
              <a:t>translate</a:t>
            </a:r>
            <a:r>
              <a:rPr lang="de-DE" dirty="0"/>
              <a:t> 1:1. </a:t>
            </a:r>
          </a:p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just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tell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find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strange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pdb</a:t>
            </a:r>
            <a:r>
              <a:rPr lang="de-DE" dirty="0"/>
              <a:t>, I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 I will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, so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patience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Debugging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in </a:t>
            </a:r>
            <a:r>
              <a:rPr lang="de-DE" dirty="0" err="1"/>
              <a:t>VSCodium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default</a:t>
            </a:r>
            <a:r>
              <a:rPr lang="de-DE" dirty="0"/>
              <a:t>, but </a:t>
            </a:r>
            <a:r>
              <a:rPr lang="de-DE" dirty="0" err="1"/>
              <a:t>anyone</a:t>
            </a:r>
            <a:r>
              <a:rPr lang="de-DE" dirty="0"/>
              <a:t> </a:t>
            </a:r>
            <a:r>
              <a:rPr lang="de-DE" dirty="0" err="1"/>
              <a:t>who</a:t>
            </a:r>
            <a:r>
              <a:rPr lang="de-DE" dirty="0"/>
              <a:t> </a:t>
            </a:r>
            <a:r>
              <a:rPr lang="de-DE" dirty="0" err="1"/>
              <a:t>wants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debugging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, </a:t>
            </a:r>
            <a:r>
              <a:rPr lang="de-DE" dirty="0" err="1"/>
              <a:t>let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, I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So </a:t>
            </a:r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pdb</a:t>
            </a:r>
            <a:r>
              <a:rPr lang="de-DE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946961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Calibri" panose="020F0502020204030204" pitchFamily="34" charset="0"/>
              </a:rPr>
              <a:t>DEBUGGING EXERCISE LIVE CODING PDB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Introduce find maxima function that I wrote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First and last elements are checked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Then it checks for the plateau in the middle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Let's run it first and then go through it in detail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Run with default happy path values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Change to plateau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Run with plateau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So it works, but I am not sure why. Let's step through the code line by line and see what happens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Put breakpoint at start (line 17)</a:t>
            </a: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Calibri" panose="020F0502020204030204" pitchFamily="34" charset="0"/>
              </a:rPr>
              <a:t>Use only c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Add breakpoint before return of large function</a:t>
            </a: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Calibri" panose="020F0502020204030204" pitchFamily="34" charset="0"/>
              </a:rPr>
              <a:t>Use c</a:t>
            </a: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Calibri" panose="020F0502020204030204" pitchFamily="34" charset="0"/>
              </a:rPr>
              <a:t>Use c and n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Start again to Step through one by one</a:t>
            </a: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Calibri" panose="020F0502020204030204" pitchFamily="34" charset="0"/>
              </a:rPr>
              <a:t>Step into - s + run until end of function - r + Next - n to step out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Remove breakpoints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I could now manually check different values, e.g. [0], and see what happens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But we have learned about tests, so what we should be doing is write a test and if it fails, fix it.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Run all tests with </a:t>
            </a:r>
            <a:r>
              <a:rPr lang="en-US" sz="1100" dirty="0" err="1">
                <a:effectLst/>
                <a:latin typeface="Calibri" panose="020F0502020204030204" pitchFamily="34" charset="0"/>
              </a:rPr>
              <a:t>pytest</a:t>
            </a:r>
            <a:endParaRPr lang="en-US" sz="11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5 pass, the others fail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We can see that the first pass, the others fail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Can we debug tests as well?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Yes of course, it </a:t>
            </a:r>
            <a:r>
              <a:rPr lang="en-US" sz="1100" dirty="0" err="1">
                <a:effectLst/>
                <a:latin typeface="Calibri" panose="020F0502020204030204" pitchFamily="34" charset="0"/>
              </a:rPr>
              <a:t>workes</a:t>
            </a:r>
            <a:r>
              <a:rPr lang="en-US" sz="1100" dirty="0">
                <a:effectLst/>
                <a:latin typeface="Calibri" panose="020F0502020204030204" pitchFamily="34" charset="0"/>
              </a:rPr>
              <a:t> the same way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Let's take one test: first below comment and run it without breakpoint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Assert in the order is wrong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Where does this order come from</a:t>
            </a: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Calibri" panose="020F0502020204030204" pitchFamily="34" charset="0"/>
              </a:rPr>
              <a:t>Let's step through the code line by line and find out</a:t>
            </a: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Calibri" panose="020F0502020204030204" pitchFamily="34" charset="0"/>
              </a:rPr>
              <a:t>See that the final maxima is added at the start, should be at end</a:t>
            </a: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Calibri" panose="020F0502020204030204" pitchFamily="34" charset="0"/>
              </a:rPr>
              <a:t>Move to end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Run specific test again without breakpoint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Calibri" panose="020F0502020204030204" pitchFamily="34" charset="0"/>
              </a:rPr>
              <a:t>Run all tests again to check if I broke anything else with this change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0134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9866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3502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Show </a:t>
            </a:r>
            <a:r>
              <a:rPr lang="de-DE" dirty="0" err="1"/>
              <a:t>VSCode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PyCharm</a:t>
            </a:r>
            <a:r>
              <a:rPr lang="de-DE" dirty="0"/>
              <a:t> Debugging</a:t>
            </a:r>
          </a:p>
          <a:p>
            <a:pPr marL="171450" indent="-171450">
              <a:buFontTx/>
              <a:buChar char="-"/>
            </a:pPr>
            <a:r>
              <a:rPr lang="de-DE" dirty="0"/>
              <a:t>Will not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setup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Run all </a:t>
            </a:r>
            <a:r>
              <a:rPr lang="de-DE" dirty="0" err="1"/>
              <a:t>tests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Set </a:t>
            </a:r>
            <a:r>
              <a:rPr lang="de-DE" dirty="0" err="1"/>
              <a:t>breakpoint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and </a:t>
            </a:r>
            <a:r>
              <a:rPr lang="de-DE" dirty="0" err="1"/>
              <a:t>stop</a:t>
            </a:r>
            <a:r>
              <a:rPr lang="de-DE" dirty="0"/>
              <a:t> </a:t>
            </a:r>
            <a:r>
              <a:rPr lang="de-DE" dirty="0" err="1"/>
              <a:t>there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Show variable </a:t>
            </a:r>
            <a:r>
              <a:rPr lang="de-DE" dirty="0" err="1"/>
              <a:t>explorer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Show </a:t>
            </a:r>
            <a:r>
              <a:rPr lang="de-DE" dirty="0" err="1"/>
              <a:t>degub</a:t>
            </a:r>
            <a:r>
              <a:rPr lang="de-DE" dirty="0"/>
              <a:t> </a:t>
            </a:r>
            <a:r>
              <a:rPr lang="de-DE" dirty="0" err="1"/>
              <a:t>console</a:t>
            </a:r>
            <a:endParaRPr lang="de-DE" dirty="0"/>
          </a:p>
          <a:p>
            <a:pPr marL="171450" lvl="1" indent="-171450">
              <a:buFontTx/>
              <a:buChar char="-"/>
            </a:pPr>
            <a:r>
              <a:rPr lang="de-DE" dirty="0"/>
              <a:t>    ---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also </a:t>
            </a:r>
            <a:r>
              <a:rPr lang="de-DE" dirty="0" err="1"/>
              <a:t>write</a:t>
            </a:r>
            <a:r>
              <a:rPr lang="de-DE" dirty="0"/>
              <a:t> code in </a:t>
            </a: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–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code in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code will </a:t>
            </a:r>
            <a:r>
              <a:rPr lang="de-DE" dirty="0" err="1"/>
              <a:t>run</a:t>
            </a:r>
            <a:r>
              <a:rPr lang="de-DE" dirty="0"/>
              <a:t>, so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somewhere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out and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it. </a:t>
            </a:r>
          </a:p>
          <a:p>
            <a:pPr marL="171450" indent="-171450">
              <a:buFontTx/>
              <a:buChar char="-"/>
            </a:pPr>
            <a:r>
              <a:rPr lang="de-DE" dirty="0"/>
              <a:t>Show </a:t>
            </a:r>
            <a:r>
              <a:rPr lang="de-DE" dirty="0" err="1"/>
              <a:t>call</a:t>
            </a:r>
            <a:r>
              <a:rPr lang="de-DE" dirty="0"/>
              <a:t> </a:t>
            </a:r>
            <a:r>
              <a:rPr lang="de-DE" dirty="0" err="1"/>
              <a:t>stack</a:t>
            </a:r>
            <a:r>
              <a:rPr lang="de-DE" dirty="0"/>
              <a:t>, </a:t>
            </a:r>
            <a:r>
              <a:rPr lang="de-DE" dirty="0" err="1"/>
              <a:t>access</a:t>
            </a:r>
            <a:r>
              <a:rPr lang="de-DE" dirty="0"/>
              <a:t> variables in </a:t>
            </a:r>
            <a:r>
              <a:rPr lang="de-DE" dirty="0" err="1"/>
              <a:t>call</a:t>
            </a:r>
            <a:r>
              <a:rPr lang="de-DE" dirty="0"/>
              <a:t> </a:t>
            </a:r>
            <a:r>
              <a:rPr lang="de-DE" dirty="0" err="1"/>
              <a:t>stack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Show </a:t>
            </a:r>
            <a:r>
              <a:rPr lang="de-DE" dirty="0" err="1"/>
              <a:t>controls</a:t>
            </a:r>
            <a:endParaRPr lang="de-DE" dirty="0"/>
          </a:p>
          <a:p>
            <a:pPr marL="171450" lvl="3" indent="-171450">
              <a:buFontTx/>
              <a:buChar char="-"/>
            </a:pPr>
            <a:r>
              <a:rPr lang="de-DE" dirty="0"/>
              <a:t>    </a:t>
            </a:r>
            <a:r>
              <a:rPr lang="de-DE" dirty="0" err="1"/>
              <a:t>Continue</a:t>
            </a:r>
            <a:r>
              <a:rPr lang="de-DE" dirty="0"/>
              <a:t>, </a:t>
            </a:r>
            <a:r>
              <a:rPr lang="de-DE" dirty="0" err="1"/>
              <a:t>step</a:t>
            </a:r>
            <a:r>
              <a:rPr lang="de-DE" dirty="0"/>
              <a:t>,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into</a:t>
            </a:r>
            <a:endParaRPr lang="de-DE" dirty="0"/>
          </a:p>
          <a:p>
            <a:pPr marL="171450" lvl="3" indent="-171450">
              <a:buFontTx/>
              <a:buChar char="-"/>
            </a:pPr>
            <a:endParaRPr lang="de-DE" dirty="0"/>
          </a:p>
          <a:p>
            <a:pPr marL="0" lvl="2" indent="0">
              <a:buFontTx/>
              <a:buNone/>
            </a:pPr>
            <a:r>
              <a:rPr lang="de-DE" dirty="0"/>
              <a:t>Show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IDEs</a:t>
            </a:r>
          </a:p>
          <a:p>
            <a:pPr marL="171450" lvl="2" indent="-171450">
              <a:buFontTx/>
              <a:buChar char="-"/>
            </a:pPr>
            <a:r>
              <a:rPr lang="de-DE" dirty="0" err="1"/>
              <a:t>Navigate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via </a:t>
            </a:r>
            <a:r>
              <a:rPr lang="de-DE" dirty="0" err="1"/>
              <a:t>clicking</a:t>
            </a:r>
            <a:endParaRPr lang="de-DE" dirty="0"/>
          </a:p>
          <a:p>
            <a:pPr marL="171450" lvl="2" indent="-171450">
              <a:buFontTx/>
              <a:buChar char="-"/>
            </a:pPr>
            <a:r>
              <a:rPr lang="de-DE" dirty="0"/>
              <a:t>Go back </a:t>
            </a:r>
            <a:r>
              <a:rPr lang="de-DE" dirty="0" err="1"/>
              <a:t>to</a:t>
            </a:r>
            <a:r>
              <a:rPr lang="de-DE" dirty="0"/>
              <a:t> last </a:t>
            </a:r>
            <a:r>
              <a:rPr lang="de-DE" dirty="0" err="1"/>
              <a:t>place</a:t>
            </a:r>
            <a:r>
              <a:rPr lang="de-DE" dirty="0"/>
              <a:t> I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been</a:t>
            </a:r>
            <a:endParaRPr lang="de-DE" dirty="0"/>
          </a:p>
          <a:p>
            <a:pPr marL="171450" lvl="2" indent="-171450">
              <a:buFontTx/>
              <a:buChar char="-"/>
            </a:pP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do </a:t>
            </a:r>
            <a:r>
              <a:rPr lang="de-DE" dirty="0" err="1"/>
              <a:t>plotting</a:t>
            </a:r>
            <a:r>
              <a:rPr lang="de-DE" dirty="0"/>
              <a:t> </a:t>
            </a:r>
            <a:r>
              <a:rPr lang="de-DE" dirty="0" err="1"/>
              <a:t>interactively</a:t>
            </a:r>
            <a:endParaRPr lang="de-DE" dirty="0"/>
          </a:p>
          <a:p>
            <a:pPr marL="171450" lvl="2" indent="-171450">
              <a:buFontTx/>
              <a:buChar char="-"/>
            </a:pPr>
            <a:endParaRPr lang="de-DE" dirty="0"/>
          </a:p>
          <a:p>
            <a:pPr marL="171450" lvl="2" indent="-171450">
              <a:buFontTx/>
              <a:buChar char="-"/>
            </a:pPr>
            <a:endParaRPr lang="de-DE" dirty="0"/>
          </a:p>
          <a:p>
            <a:pPr marL="171450" lvl="2" indent="-1714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2336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8391-7D7C-FC4D-70FD-0E2F7597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>
            <a:extLst>
              <a:ext uri="{FF2B5EF4-FFF2-40B4-BE49-F238E27FC236}">
                <a16:creationId xmlns:a16="http://schemas.microsoft.com/office/drawing/2014/main" id="{0AC20B73-EFC2-AF6E-534B-105674A94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5" name="Shape 185">
            <a:extLst>
              <a:ext uri="{FF2B5EF4-FFF2-40B4-BE49-F238E27FC236}">
                <a16:creationId xmlns:a16="http://schemas.microsoft.com/office/drawing/2014/main" id="{B68451F8-7DA7-E1C3-D0AC-D2B24BA737E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As </a:t>
            </a:r>
            <a:r>
              <a:rPr lang="de-DE" dirty="0" err="1"/>
              <a:t>opposed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waterfall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Reminder</a:t>
            </a:r>
            <a:endParaRPr lang="de-DE" dirty="0"/>
          </a:p>
          <a:p>
            <a:r>
              <a:rPr lang="de-DE" dirty="0"/>
              <a:t> 1) </a:t>
            </a:r>
            <a:r>
              <a:rPr lang="de-DE" dirty="0" err="1"/>
              <a:t>describe</a:t>
            </a:r>
            <a:r>
              <a:rPr lang="de-DE" dirty="0"/>
              <a:t> </a:t>
            </a:r>
            <a:r>
              <a:rPr lang="de-DE" dirty="0" err="1"/>
              <a:t>cycle</a:t>
            </a:r>
            <a:endParaRPr lang="de-DE" dirty="0"/>
          </a:p>
          <a:p>
            <a:r>
              <a:rPr lang="de-DE" dirty="0"/>
              <a:t> 2)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cycles</a:t>
            </a:r>
            <a:r>
              <a:rPr lang="de-DE" dirty="0"/>
              <a:t>: </a:t>
            </a:r>
            <a:r>
              <a:rPr lang="de-DE" dirty="0" err="1"/>
              <a:t>granularity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feature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important</a:t>
            </a:r>
            <a:endParaRPr lang="de-DE" dirty="0"/>
          </a:p>
          <a:p>
            <a:r>
              <a:rPr lang="de-DE" dirty="0"/>
              <a:t> 3)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======</a:t>
            </a:r>
          </a:p>
          <a:p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maybe</a:t>
            </a:r>
            <a:r>
              <a:rPr lang="de-DE" dirty="0"/>
              <a:t> </a:t>
            </a:r>
            <a:r>
              <a:rPr lang="de-DE" dirty="0" err="1"/>
              <a:t>it's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and </a:t>
            </a: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6070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363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57200">
              <a:defRPr sz="1500">
                <a:solidFill>
                  <a:srgbClr val="FFFFFF"/>
                </a:solidFill>
              </a:defRPr>
            </a:pPr>
            <a:r>
              <a:rPr lang="de-DE" dirty="0"/>
              <a:t>Live </a:t>
            </a:r>
            <a:r>
              <a:rPr lang="de-DE" dirty="0" err="1"/>
              <a:t>coding</a:t>
            </a:r>
            <a:r>
              <a:rPr lang="de-DE" dirty="0"/>
              <a:t>, </a:t>
            </a:r>
            <a:r>
              <a:rPr lang="de-DE" dirty="0" err="1"/>
              <a:t>right</a:t>
            </a:r>
            <a:r>
              <a:rPr lang="de-DE" dirty="0"/>
              <a:t>?</a:t>
            </a:r>
          </a:p>
          <a:p>
            <a:pPr defTabSz="457200">
              <a:defRPr sz="1500">
                <a:solidFill>
                  <a:srgbClr val="FFFFFF"/>
                </a:solidFill>
              </a:defRPr>
            </a:pPr>
            <a:endParaRPr lang="de-DE" dirty="0"/>
          </a:p>
          <a:p>
            <a:pPr defTabSz="457200">
              <a:defRPr sz="1500">
                <a:solidFill>
                  <a:srgbClr val="FFFFFF"/>
                </a:solidFill>
              </a:defRPr>
            </a:pPr>
            <a:r>
              <a:rPr lang="de-DE" dirty="0" err="1"/>
              <a:t>Exercise</a:t>
            </a:r>
            <a:r>
              <a:rPr lang="de-DE" dirty="0"/>
              <a:t>/</a:t>
            </a: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/>
              <a:t>multiple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calls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stack</a:t>
            </a:r>
            <a:r>
              <a:rPr lang="de-DE" dirty="0"/>
              <a:t> </a:t>
            </a:r>
            <a:r>
              <a:rPr lang="de-DE" dirty="0" err="1"/>
              <a:t>calls</a:t>
            </a:r>
            <a:endParaRPr lang="de-DE" dirty="0"/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/>
              <a:t>Multiple variables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unclear</a:t>
            </a:r>
            <a:r>
              <a:rPr lang="de-DE" dirty="0"/>
              <a:t> /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None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 err="1"/>
              <a:t>Unexpected</a:t>
            </a:r>
            <a:r>
              <a:rPr lang="de-DE" dirty="0"/>
              <a:t> </a:t>
            </a:r>
            <a:r>
              <a:rPr lang="de-DE" dirty="0" err="1"/>
              <a:t>behaviour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function</a:t>
            </a:r>
            <a:r>
              <a:rPr lang="de-DE" dirty="0"/>
              <a:t> (</a:t>
            </a:r>
            <a:r>
              <a:rPr lang="de-DE" dirty="0" err="1"/>
              <a:t>maybe</a:t>
            </a:r>
            <a:r>
              <a:rPr lang="de-DE" dirty="0"/>
              <a:t> an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returns</a:t>
            </a:r>
            <a:r>
              <a:rPr lang="de-DE" dirty="0"/>
              <a:t> None, …)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/>
              <a:t>Multiple </a:t>
            </a:r>
            <a:r>
              <a:rPr lang="de-DE" dirty="0" err="1"/>
              <a:t>bugs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grow</a:t>
            </a:r>
            <a:r>
              <a:rPr lang="de-DE" dirty="0"/>
              <a:t> in </a:t>
            </a:r>
            <a:r>
              <a:rPr lang="de-DE" dirty="0" err="1"/>
              <a:t>severity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and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,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 on </a:t>
            </a:r>
            <a:r>
              <a:rPr lang="de-DE" dirty="0" err="1"/>
              <a:t>to</a:t>
            </a:r>
            <a:r>
              <a:rPr lang="de-DE" dirty="0"/>
              <a:t> fix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endParaRPr lang="de-DE" dirty="0"/>
          </a:p>
          <a:p>
            <a:pPr defTabSz="457200">
              <a:defRPr sz="1500">
                <a:solidFill>
                  <a:srgbClr val="FFFFFF"/>
                </a:solidFill>
              </a:defRPr>
            </a:pPr>
            <a:endParaRPr lang="de-DE" dirty="0"/>
          </a:p>
          <a:p>
            <a:pPr defTabSz="457200">
              <a:defRPr sz="1500">
                <a:solidFill>
                  <a:srgbClr val="FFFFFF"/>
                </a:solidFill>
              </a:defRPr>
            </a:pPr>
            <a:r>
              <a:rPr lang="de-DE" dirty="0"/>
              <a:t>Maybe </a:t>
            </a:r>
            <a:r>
              <a:rPr lang="de-DE" dirty="0" err="1"/>
              <a:t>my</a:t>
            </a:r>
            <a:r>
              <a:rPr lang="de-DE" dirty="0"/>
              <a:t> own </a:t>
            </a:r>
            <a:r>
              <a:rPr lang="de-DE" dirty="0" err="1"/>
              <a:t>find_maxima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complicated</a:t>
            </a:r>
            <a:r>
              <a:rPr lang="de-DE" dirty="0"/>
              <a:t> </a:t>
            </a:r>
            <a:r>
              <a:rPr lang="de-DE" dirty="0" err="1"/>
              <a:t>stuff</a:t>
            </a:r>
            <a:r>
              <a:rPr lang="de-DE" dirty="0"/>
              <a:t> in </a:t>
            </a:r>
            <a:r>
              <a:rPr lang="de-DE" dirty="0" err="1"/>
              <a:t>there</a:t>
            </a:r>
            <a:r>
              <a:rPr lang="de-DE" dirty="0"/>
              <a:t>?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calls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finding</a:t>
            </a:r>
            <a:r>
              <a:rPr lang="de-DE" dirty="0"/>
              <a:t> </a:t>
            </a:r>
            <a:r>
              <a:rPr lang="de-DE" dirty="0" err="1"/>
              <a:t>maxima</a:t>
            </a:r>
            <a:r>
              <a:rPr lang="de-DE" dirty="0"/>
              <a:t> (</a:t>
            </a:r>
            <a:r>
              <a:rPr lang="de-DE" dirty="0" err="1"/>
              <a:t>option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saddle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, and </a:t>
            </a:r>
            <a:r>
              <a:rPr lang="de-DE" dirty="0" err="1"/>
              <a:t>then</a:t>
            </a:r>
            <a:r>
              <a:rPr lang="de-DE" dirty="0"/>
              <a:t> not </a:t>
            </a:r>
            <a:r>
              <a:rPr lang="de-DE" dirty="0" err="1"/>
              <a:t>having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properly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variable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), </a:t>
            </a:r>
            <a:r>
              <a:rPr lang="de-DE" dirty="0" err="1"/>
              <a:t>plotting</a:t>
            </a:r>
            <a:r>
              <a:rPr lang="de-DE" dirty="0"/>
              <a:t> </a:t>
            </a:r>
            <a:r>
              <a:rPr lang="de-DE" dirty="0" err="1"/>
              <a:t>maxima</a:t>
            </a:r>
            <a:endParaRPr lang="de-DE" dirty="0"/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/>
              <a:t>Level 1: Easy fix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an </a:t>
            </a:r>
            <a:r>
              <a:rPr lang="de-DE" dirty="0" err="1"/>
              <a:t>if</a:t>
            </a:r>
            <a:r>
              <a:rPr lang="de-DE" dirty="0"/>
              <a:t> [] </a:t>
            </a:r>
            <a:r>
              <a:rPr lang="de-DE" dirty="0" err="1"/>
              <a:t>return</a:t>
            </a:r>
            <a:r>
              <a:rPr lang="de-DE" dirty="0"/>
              <a:t> []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/>
              <a:t>Level 2: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/>
              <a:t>Level 3: </a:t>
            </a:r>
            <a:r>
              <a:rPr lang="de-DE" dirty="0" err="1"/>
              <a:t>something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saving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figure</a:t>
            </a:r>
            <a:r>
              <a:rPr lang="de-DE" dirty="0"/>
              <a:t> in an absolute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not?</a:t>
            </a:r>
          </a:p>
          <a:p>
            <a:pPr defTabSz="457200">
              <a:defRPr sz="1500">
                <a:solidFill>
                  <a:srgbClr val="FFFFFF"/>
                </a:solidFill>
              </a:defRPr>
            </a:pPr>
            <a:endParaRPr lang="de-DE" dirty="0"/>
          </a:p>
          <a:p>
            <a:pPr defTabSz="457200">
              <a:defRPr sz="1500">
                <a:solidFill>
                  <a:srgbClr val="FFFFFF"/>
                </a:solidFill>
              </a:defRPr>
            </a:pPr>
            <a:r>
              <a:rPr lang="de-DE" dirty="0" err="1"/>
              <a:t>Remember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pdf</a:t>
            </a:r>
            <a:r>
              <a:rPr lang="de-DE" dirty="0"/>
              <a:t> </a:t>
            </a:r>
            <a:r>
              <a:rPr lang="de-DE" dirty="0" err="1"/>
              <a:t>debugger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. Show </a:t>
            </a:r>
            <a:r>
              <a:rPr lang="de-DE" dirty="0" err="1"/>
              <a:t>running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pytest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finding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errors</a:t>
            </a:r>
            <a:r>
              <a:rPr lang="de-DE" dirty="0"/>
              <a:t> out, </a:t>
            </a:r>
            <a:r>
              <a:rPr lang="de-DE" dirty="0" err="1"/>
              <a:t>adding</a:t>
            </a:r>
            <a:r>
              <a:rPr lang="de-DE" dirty="0"/>
              <a:t> a </a:t>
            </a:r>
            <a:r>
              <a:rPr lang="de-DE" dirty="0" err="1"/>
              <a:t>breakpoint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and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</a:t>
            </a:r>
            <a:r>
              <a:rPr lang="de-DE" dirty="0" err="1"/>
              <a:t>pytest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.</a:t>
            </a:r>
          </a:p>
          <a:p>
            <a:pPr defTabSz="457200">
              <a:defRPr sz="1500">
                <a:solidFill>
                  <a:srgbClr val="FFFFFF"/>
                </a:solidFill>
              </a:defRPr>
            </a:pPr>
            <a:endParaRPr lang="de-DE" dirty="0"/>
          </a:p>
          <a:p>
            <a:pPr defTabSz="457200">
              <a:defRPr sz="1500">
                <a:solidFill>
                  <a:srgbClr val="FFFFFF"/>
                </a:solidFill>
              </a:defRPr>
            </a:pPr>
            <a:r>
              <a:rPr lang="de-DE" dirty="0" err="1"/>
              <a:t>Suggest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terminal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!</a:t>
            </a:r>
          </a:p>
          <a:p>
            <a:pPr defTabSz="457200">
              <a:defRPr sz="1500">
                <a:solidFill>
                  <a:srgbClr val="FFFFFF"/>
                </a:solidFill>
              </a:defRPr>
            </a:pPr>
            <a:endParaRPr lang="de-DE" dirty="0"/>
          </a:p>
          <a:p>
            <a:pPr defTabSz="457200">
              <a:defRPr sz="1500">
                <a:solidFill>
                  <a:srgbClr val="FFFFFF"/>
                </a:solidFill>
              </a:defRPr>
            </a:pPr>
            <a:r>
              <a:rPr lang="de-DE" dirty="0"/>
              <a:t>Show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 err="1"/>
              <a:t>evaluation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variables</a:t>
            </a:r>
          </a:p>
          <a:p>
            <a:pPr marL="180473" indent="-180473" defTabSz="457200">
              <a:buSzPct val="100000"/>
              <a:buChar char="-"/>
              <a:defRPr sz="1500">
                <a:solidFill>
                  <a:srgbClr val="FFFFFF"/>
                </a:solidFill>
              </a:defRPr>
            </a:pPr>
            <a:r>
              <a:rPr lang="de-DE" dirty="0" err="1"/>
              <a:t>Plotting</a:t>
            </a:r>
            <a:r>
              <a:rPr lang="de-DE" dirty="0"/>
              <a:t> </a:t>
            </a:r>
            <a:r>
              <a:rPr lang="de-DE" dirty="0" err="1"/>
              <a:t>options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857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7" name="Shape 2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Run flake8 on the *initial* pyanno code.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9" name="Shape 1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 dirty="0"/>
              <a:t>Did not cover </a:t>
            </a:r>
            <a:r>
              <a:rPr lang="en-US" dirty="0" err="1"/>
              <a:t>jupyter</a:t>
            </a:r>
            <a:r>
              <a:rPr lang="en-US" dirty="0"/>
              <a:t> debugging, because if you are doing such complicated things in </a:t>
            </a:r>
            <a:r>
              <a:rPr lang="en-US" dirty="0" err="1"/>
              <a:t>jupyter</a:t>
            </a:r>
            <a:r>
              <a:rPr lang="en-US" dirty="0"/>
              <a:t> that require debugging, you would probably be better off using an IDE </a:t>
            </a:r>
            <a:r>
              <a:rPr lang="en-US" dirty="0">
                <a:sym typeface="Wingdings" pitchFamily="2" charset="2"/>
              </a:rPr>
              <a:t>.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Also, the concept is the same, you will figure it out if you need to</a:t>
            </a:r>
          </a:p>
          <a:p>
            <a:pPr marL="514350" indent="-514350">
              <a:buFontTx/>
              <a:buAutoNum type="arabicPeriod"/>
            </a:pPr>
            <a:r>
              <a:rPr lang="en-US" dirty="0">
                <a:sym typeface="Wingdings" pitchFamily="2" charset="2"/>
              </a:rPr>
              <a:t>Did not cover </a:t>
            </a:r>
            <a:r>
              <a:rPr lang="en-US" dirty="0" err="1">
                <a:sym typeface="Wingdings" pitchFamily="2" charset="2"/>
              </a:rPr>
              <a:t>jupyter</a:t>
            </a:r>
            <a:r>
              <a:rPr lang="en-US" dirty="0">
                <a:sym typeface="Wingdings" pitchFamily="2" charset="2"/>
              </a:rPr>
              <a:t> in general, because </a:t>
            </a:r>
            <a:r>
              <a:rPr lang="en-US" dirty="0" err="1">
                <a:sym typeface="Wingdings" pitchFamily="2" charset="2"/>
              </a:rPr>
              <a:t>pytest</a:t>
            </a:r>
            <a:r>
              <a:rPr lang="en-US" dirty="0">
                <a:sym typeface="Wingdings" pitchFamily="2" charset="2"/>
              </a:rPr>
              <a:t> does not cover tests in </a:t>
            </a:r>
            <a:r>
              <a:rPr lang="en-US" dirty="0" err="1">
                <a:sym typeface="Wingdings" pitchFamily="2" charset="2"/>
              </a:rPr>
              <a:t>jupyter</a:t>
            </a:r>
            <a:r>
              <a:rPr lang="en-US" dirty="0">
                <a:sym typeface="Wingdings" pitchFamily="2" charset="2"/>
              </a:rPr>
              <a:t> notebooks, it is designed to work with .</a:t>
            </a:r>
            <a:r>
              <a:rPr lang="en-US" dirty="0" err="1">
                <a:sym typeface="Wingdings" pitchFamily="2" charset="2"/>
              </a:rPr>
              <a:t>py</a:t>
            </a:r>
            <a:r>
              <a:rPr lang="en-US" dirty="0">
                <a:sym typeface="Wingdings" pitchFamily="2" charset="2"/>
              </a:rPr>
              <a:t> files.</a:t>
            </a:r>
          </a:p>
          <a:p>
            <a:pPr marL="514350" indent="-514350">
              <a:buFontTx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Tx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Tx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Tx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Tx/>
              <a:buAutoNum type="arabicPeriod"/>
            </a:pPr>
            <a:endParaRPr lang="en-US" dirty="0">
              <a:sym typeface="Wingdings" pitchFamily="2" charset="2"/>
            </a:endParaRPr>
          </a:p>
          <a:p>
            <a:r>
              <a:rPr lang="de-DE" dirty="0"/>
              <a:t>Notes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slides</a:t>
            </a:r>
            <a:r>
              <a:rPr lang="de-DE" dirty="0"/>
              <a:t>:</a:t>
            </a:r>
          </a:p>
          <a:p>
            <a:endParaRPr lang="de-DE" dirty="0"/>
          </a:p>
          <a:p>
            <a:pPr defTabSz="457200">
              <a:defRPr>
                <a:solidFill>
                  <a:srgbClr val="FFFFFF"/>
                </a:solidFill>
              </a:defRPr>
            </a:pPr>
            <a:r>
              <a:rPr lang="de-DE" dirty="0"/>
              <a:t>Note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agile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modules</a:t>
            </a:r>
            <a:r>
              <a:rPr lang="de-DE" dirty="0"/>
              <a:t>, so .</a:t>
            </a:r>
            <a:r>
              <a:rPr lang="de-DE" dirty="0" err="1"/>
              <a:t>py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and </a:t>
            </a:r>
            <a:r>
              <a:rPr lang="de-DE" dirty="0" err="1"/>
              <a:t>pytest</a:t>
            </a:r>
            <a:r>
              <a:rPr lang="de-DE" dirty="0"/>
              <a:t> and not </a:t>
            </a:r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notebooks</a:t>
            </a:r>
            <a:r>
              <a:rPr lang="de-DE" dirty="0"/>
              <a:t>. </a:t>
            </a:r>
          </a:p>
          <a:p>
            <a:pPr defTabSz="457200">
              <a:defRPr>
                <a:solidFill>
                  <a:srgbClr val="FFFFFF"/>
                </a:solidFill>
              </a:defRPr>
            </a:pPr>
            <a:r>
              <a:rPr lang="de-DE" dirty="0"/>
              <a:t>Notebooks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properly</a:t>
            </a:r>
            <a:r>
              <a:rPr lang="de-DE" dirty="0"/>
              <a:t>.</a:t>
            </a:r>
          </a:p>
          <a:p>
            <a:pPr defTabSz="457200">
              <a:defRPr>
                <a:solidFill>
                  <a:srgbClr val="FFFFFF"/>
                </a:solidFill>
              </a:defRPr>
            </a:pPr>
            <a:endParaRPr lang="de-DE" dirty="0"/>
          </a:p>
          <a:p>
            <a:pPr defTabSz="457200">
              <a:defRPr>
                <a:solidFill>
                  <a:srgbClr val="FFFFFF"/>
                </a:solidFill>
              </a:defRPr>
            </a:pP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maybe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pytest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notebook</a:t>
            </a:r>
            <a:r>
              <a:rPr lang="de-DE" dirty="0"/>
              <a:t>, but </a:t>
            </a:r>
            <a:r>
              <a:rPr lang="de-DE" dirty="0" err="1"/>
              <a:t>you</a:t>
            </a:r>
            <a:r>
              <a:rPr lang="de-DE" dirty="0"/>
              <a:t> lose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possibility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all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all </a:t>
            </a:r>
            <a:r>
              <a:rPr lang="de-DE" dirty="0" err="1"/>
              <a:t>files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. </a:t>
            </a:r>
          </a:p>
          <a:p>
            <a:pPr defTabSz="457200">
              <a:defRPr>
                <a:solidFill>
                  <a:srgbClr val="FFFFFF"/>
                </a:solidFill>
              </a:defRPr>
            </a:pPr>
            <a:r>
              <a:rPr lang="de-DE" dirty="0"/>
              <a:t>I will not </a:t>
            </a:r>
            <a:r>
              <a:rPr lang="de-DE" dirty="0" err="1"/>
              <a:t>cover</a:t>
            </a:r>
            <a:r>
              <a:rPr lang="de-DE" dirty="0"/>
              <a:t> </a:t>
            </a:r>
            <a:r>
              <a:rPr lang="de-DE" dirty="0" err="1"/>
              <a:t>debugging</a:t>
            </a:r>
            <a:r>
              <a:rPr lang="de-DE" dirty="0"/>
              <a:t> in </a:t>
            </a:r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defeating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</a:t>
            </a:r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imo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replacement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debugging</a:t>
            </a:r>
            <a:r>
              <a:rPr lang="de-DE" dirty="0"/>
              <a:t>, but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necessary</a:t>
            </a:r>
            <a:r>
              <a:rPr lang="de-DE" dirty="0"/>
              <a:t>. </a:t>
            </a:r>
          </a:p>
          <a:p>
            <a:endParaRPr lang="de-DE" dirty="0"/>
          </a:p>
          <a:p>
            <a:pPr marL="514350" indent="-514350">
              <a:buFontTx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6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/>
        </p:nvSpPr>
        <p:spPr>
          <a:xfrm>
            <a:off x="309071" y="153290"/>
            <a:ext cx="9989682" cy="1809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90000"/>
              </a:lnSpc>
              <a:defRPr sz="80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dirty="0"/>
              <a:t>Debugging</a:t>
            </a:r>
            <a:br>
              <a:rPr dirty="0"/>
            </a:br>
            <a:r>
              <a:rPr lang="en-US" sz="4400" dirty="0"/>
              <a:t>How to fix problems</a:t>
            </a:r>
            <a:endParaRPr sz="4400" dirty="0"/>
          </a:p>
        </p:txBody>
      </p:sp>
      <p:sp>
        <p:nvSpPr>
          <p:cNvPr id="95" name="Subtitle 2"/>
          <p:cNvSpPr txBox="1"/>
          <p:nvPr/>
        </p:nvSpPr>
        <p:spPr>
          <a:xfrm>
            <a:off x="309072" y="6014637"/>
            <a:ext cx="5830456" cy="548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3200"/>
            </a:lvl1pPr>
          </a:lstStyle>
          <a:p>
            <a:pPr algn="l"/>
            <a:r>
              <a:rPr lang="en-US" dirty="0"/>
              <a:t>Lisa, Carlos, and Pietro</a:t>
            </a:r>
            <a:endParaRPr dirty="0"/>
          </a:p>
        </p:txBody>
      </p:sp>
      <p:pic>
        <p:nvPicPr>
          <p:cNvPr id="96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208" y="2888302"/>
            <a:ext cx="3960441" cy="396044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1A9A59-DEB0-1467-5ADD-E7A51DC2F8A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CH" smtClean="0"/>
              <a:t>1</a:t>
            </a:fld>
            <a:endParaRPr lang="en-CH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743200"/>
            <a:ext cx="4114800" cy="411480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very first computer bug</a:t>
            </a:r>
            <a:endParaRPr dirty="0"/>
          </a:p>
        </p:txBody>
      </p:sp>
      <p:sp>
        <p:nvSpPr>
          <p:cNvPr id="22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Team around Grace Hopper at Harvard found a moth in their computer in 1947 in what is maybe the first description of a computer bug</a:t>
            </a:r>
            <a:endParaRPr dirty="0"/>
          </a:p>
        </p:txBody>
      </p:sp>
      <p:sp>
        <p:nvSpPr>
          <p:cNvPr id="222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6D7C5D-CF24-B861-B0A8-6980E77E8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032" y="2768209"/>
            <a:ext cx="3347663" cy="278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28FE3CE-8493-2C81-5A8A-54C961B8C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02" y="2796951"/>
            <a:ext cx="4038265" cy="275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9206AB2-05ED-A65F-A121-7B304CC2D52B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ADDC7C8-37A9-16B6-A705-71D04BCFE359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  <p:extLst>
      <p:ext uri="{BB962C8B-B14F-4D97-AF65-F5344CB8AC3E}">
        <p14:creationId xmlns:p14="http://schemas.microsoft.com/office/powerpoint/2010/main" val="196961050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076" y="3933054"/>
            <a:ext cx="2560188" cy="2560188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Rectangl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Debugging and the agile development cycle</a:t>
            </a:r>
            <a:endParaRPr dirty="0"/>
          </a:p>
        </p:txBody>
      </p:sp>
      <p:sp>
        <p:nvSpPr>
          <p:cNvPr id="134" name="Rectangle 3"/>
          <p:cNvSpPr txBox="1">
            <a:spLocks noGrp="1"/>
          </p:cNvSpPr>
          <p:nvPr>
            <p:ph type="body" idx="1"/>
          </p:nvPr>
        </p:nvSpPr>
        <p:spPr>
          <a:xfrm>
            <a:off x="983431" y="1484783"/>
            <a:ext cx="8642178" cy="469218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By writing tests, you </a:t>
            </a:r>
            <a:r>
              <a:rPr lang="en-GB" i="1" dirty="0"/>
              <a:t>anticipate</a:t>
            </a:r>
            <a:r>
              <a:rPr lang="en-GB" dirty="0"/>
              <a:t> the bugs</a:t>
            </a:r>
          </a:p>
          <a:p>
            <a:r>
              <a:rPr lang="en-GB" dirty="0"/>
              <a:t>Your test cases should already exclude a big portion of the possible causes</a:t>
            </a:r>
            <a:endParaRPr lang="en-US" dirty="0"/>
          </a:p>
          <a:p>
            <a:pPr marL="0" indent="0">
              <a:buSzTx/>
              <a:buNone/>
            </a:pPr>
            <a:endParaRPr dirty="0"/>
          </a:p>
        </p:txBody>
      </p:sp>
      <p:sp>
        <p:nvSpPr>
          <p:cNvPr id="13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AEB4497-AD4D-B0AD-0A5C-B9AE73E1135A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FD17DC6-8C30-E949-792E-5F0671E23AFE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oter Placeholder 2"/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157" name="Rectangl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Debugging and t</a:t>
            </a:r>
            <a:r>
              <a:rPr dirty="0"/>
              <a:t>he agile development cycle</a:t>
            </a:r>
          </a:p>
        </p:txBody>
      </p:sp>
      <p:sp>
        <p:nvSpPr>
          <p:cNvPr id="158" name="Date Placeholder 1"/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  <p:sp>
        <p:nvSpPr>
          <p:cNvPr id="15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181" name="Group 6"/>
          <p:cNvGrpSpPr/>
          <p:nvPr/>
        </p:nvGrpSpPr>
        <p:grpSpPr>
          <a:xfrm>
            <a:off x="1919535" y="1298321"/>
            <a:ext cx="4680531" cy="4823953"/>
            <a:chOff x="-1" y="0"/>
            <a:chExt cx="4680530" cy="4823952"/>
          </a:xfrm>
        </p:grpSpPr>
        <p:grpSp>
          <p:nvGrpSpPr>
            <p:cNvPr id="179" name="Diagram 16"/>
            <p:cNvGrpSpPr/>
            <p:nvPr/>
          </p:nvGrpSpPr>
          <p:grpSpPr>
            <a:xfrm>
              <a:off x="829242" y="0"/>
              <a:ext cx="3851287" cy="4823952"/>
              <a:chOff x="0" y="0"/>
              <a:chExt cx="3851286" cy="4823951"/>
            </a:xfrm>
          </p:grpSpPr>
          <p:grpSp>
            <p:nvGrpSpPr>
              <p:cNvPr id="162" name="Group"/>
              <p:cNvGrpSpPr/>
              <p:nvPr/>
            </p:nvGrpSpPr>
            <p:grpSpPr>
              <a:xfrm>
                <a:off x="34855" y="0"/>
                <a:ext cx="3781574" cy="682931"/>
                <a:chOff x="0" y="0"/>
                <a:chExt cx="3781572" cy="682930"/>
              </a:xfrm>
            </p:grpSpPr>
            <p:sp>
              <p:nvSpPr>
                <p:cNvPr id="160" name="Rounded Rectangle"/>
                <p:cNvSpPr/>
                <p:nvPr/>
              </p:nvSpPr>
              <p:spPr>
                <a:xfrm>
                  <a:off x="0" y="0"/>
                  <a:ext cx="3781572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chemeClr val="tx2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61" name="Pick your next feature"/>
                <p:cNvSpPr txBox="1"/>
                <p:nvPr/>
              </p:nvSpPr>
              <p:spPr>
                <a:xfrm>
                  <a:off x="20002" y="82934"/>
                  <a:ext cx="3741568" cy="5170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>
                  <a:lvl1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lvl1pPr>
                </a:lstStyle>
                <a:p>
                  <a:r>
                    <a:rPr>
                      <a:solidFill>
                        <a:schemeClr val="tx2"/>
                      </a:solidFill>
                    </a:rPr>
                    <a:t>Pick your next feature</a:t>
                  </a:r>
                </a:p>
              </p:txBody>
            </p:sp>
          </p:grpSp>
          <p:sp>
            <p:nvSpPr>
              <p:cNvPr id="163" name="Arrow"/>
              <p:cNvSpPr/>
              <p:nvPr/>
            </p:nvSpPr>
            <p:spPr>
              <a:xfrm rot="5400000">
                <a:off x="1797593" y="700003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chemeClr val="tx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4" name="Rounded Rectangle"/>
              <p:cNvSpPr/>
              <p:nvPr/>
            </p:nvSpPr>
            <p:spPr>
              <a:xfrm>
                <a:off x="0" y="1024393"/>
                <a:ext cx="3851286" cy="682932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38100" cap="flat">
                <a:solidFill>
                  <a:schemeClr val="tx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2400"/>
                </a:pPr>
                <a:r>
                  <a:rPr lang="de-DE" dirty="0">
                    <a:solidFill>
                      <a:schemeClr val="tx2"/>
                    </a:solidFill>
                  </a:rPr>
                  <a:t>Write </a:t>
                </a:r>
                <a:r>
                  <a:rPr lang="de-DE" dirty="0" err="1">
                    <a:solidFill>
                      <a:schemeClr val="tx2"/>
                    </a:solidFill>
                  </a:rPr>
                  <a:t>tests</a:t>
                </a:r>
                <a:r>
                  <a:rPr lang="de-DE" dirty="0">
                    <a:solidFill>
                      <a:schemeClr val="tx2"/>
                    </a:solidFill>
                  </a:rPr>
                  <a:t> </a:t>
                </a:r>
                <a:br>
                  <a:rPr lang="de-DE" dirty="0">
                    <a:solidFill>
                      <a:schemeClr val="tx2"/>
                    </a:solidFill>
                  </a:rPr>
                </a:br>
                <a:r>
                  <a:rPr lang="de-DE" sz="2000" dirty="0" err="1">
                    <a:solidFill>
                      <a:schemeClr val="tx2"/>
                    </a:solidFill>
                  </a:rPr>
                  <a:t>to</a:t>
                </a:r>
                <a:r>
                  <a:rPr lang="de-DE" sz="2000" dirty="0">
                    <a:solidFill>
                      <a:schemeClr val="tx2"/>
                    </a:solidFill>
                  </a:rPr>
                  <a:t> check </a:t>
                </a:r>
                <a:r>
                  <a:rPr lang="de-DE" sz="2000" dirty="0" err="1">
                    <a:solidFill>
                      <a:schemeClr val="tx2"/>
                    </a:solidFill>
                  </a:rPr>
                  <a:t>that</a:t>
                </a:r>
                <a:r>
                  <a:rPr lang="de-DE" sz="2000" dirty="0">
                    <a:solidFill>
                      <a:schemeClr val="tx2"/>
                    </a:solidFill>
                  </a:rPr>
                  <a:t> feature </a:t>
                </a:r>
                <a:r>
                  <a:rPr lang="de-DE" sz="2000" dirty="0" err="1">
                    <a:solidFill>
                      <a:schemeClr val="tx2"/>
                    </a:solidFill>
                  </a:rPr>
                  <a:t>works</a:t>
                </a:r>
                <a:r>
                  <a:rPr lang="de-DE" sz="20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  <p:sp>
            <p:nvSpPr>
              <p:cNvPr id="167" name="Arrow"/>
              <p:cNvSpPr/>
              <p:nvPr/>
            </p:nvSpPr>
            <p:spPr>
              <a:xfrm rot="5400000">
                <a:off x="1797593" y="1724397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chemeClr val="tx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70" name="Group"/>
              <p:cNvGrpSpPr/>
              <p:nvPr/>
            </p:nvGrpSpPr>
            <p:grpSpPr>
              <a:xfrm>
                <a:off x="15201" y="2005343"/>
                <a:ext cx="3820882" cy="769820"/>
                <a:chOff x="0" y="0"/>
                <a:chExt cx="3820880" cy="769818"/>
              </a:xfrm>
            </p:grpSpPr>
            <p:sp>
              <p:nvSpPr>
                <p:cNvPr id="168" name="Rounded Rectangle"/>
                <p:cNvSpPr/>
                <p:nvPr/>
              </p:nvSpPr>
              <p:spPr>
                <a:xfrm>
                  <a:off x="0" y="43444"/>
                  <a:ext cx="3820881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0ECC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9" name="Write simplest code  that makes tests pass"/>
                <p:cNvSpPr txBox="1"/>
                <p:nvPr/>
              </p:nvSpPr>
              <p:spPr>
                <a:xfrm>
                  <a:off x="20001" y="0"/>
                  <a:ext cx="3780878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pPr>
                  <a:r>
                    <a:t>Write simplest code </a:t>
                  </a:r>
                  <a:br/>
                  <a:r>
                    <a:rPr sz="2000"/>
                    <a:t>that makes tests pass</a:t>
                  </a:r>
                </a:p>
              </p:txBody>
            </p:sp>
          </p:grpSp>
          <p:sp>
            <p:nvSpPr>
              <p:cNvPr id="171" name="Arrow"/>
              <p:cNvSpPr/>
              <p:nvPr/>
            </p:nvSpPr>
            <p:spPr>
              <a:xfrm rot="5400000">
                <a:off x="1797593" y="2748791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0ECC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74" name="Group"/>
              <p:cNvGrpSpPr/>
              <p:nvPr/>
            </p:nvGrpSpPr>
            <p:grpSpPr>
              <a:xfrm>
                <a:off x="15201" y="3029737"/>
                <a:ext cx="3820882" cy="769820"/>
                <a:chOff x="0" y="0"/>
                <a:chExt cx="3820880" cy="769818"/>
              </a:xfrm>
            </p:grpSpPr>
            <p:sp>
              <p:nvSpPr>
                <p:cNvPr id="172" name="Rounded Rectangle"/>
                <p:cNvSpPr/>
                <p:nvPr/>
              </p:nvSpPr>
              <p:spPr>
                <a:xfrm>
                  <a:off x="0" y="43444"/>
                  <a:ext cx="3820881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0ECC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73" name="Run tests and debug  until all tests pass"/>
                <p:cNvSpPr txBox="1"/>
                <p:nvPr/>
              </p:nvSpPr>
              <p:spPr>
                <a:xfrm>
                  <a:off x="20001" y="0"/>
                  <a:ext cx="3780878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pPr>
                  <a:r>
                    <a:t>Run tests and debug </a:t>
                  </a:r>
                  <a:br/>
                  <a:r>
                    <a:rPr sz="2000"/>
                    <a:t>until </a:t>
                  </a:r>
                  <a:r>
                    <a:rPr sz="2000" i="1"/>
                    <a:t>all</a:t>
                  </a:r>
                  <a:r>
                    <a:rPr sz="2000"/>
                    <a:t> tests pass</a:t>
                  </a:r>
                </a:p>
              </p:txBody>
            </p:sp>
          </p:grpSp>
          <p:sp>
            <p:nvSpPr>
              <p:cNvPr id="175" name="Arrow"/>
              <p:cNvSpPr/>
              <p:nvPr/>
            </p:nvSpPr>
            <p:spPr>
              <a:xfrm rot="5400000">
                <a:off x="1797593" y="3773185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0ECC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78" name="Group"/>
              <p:cNvGrpSpPr/>
              <p:nvPr/>
            </p:nvGrpSpPr>
            <p:grpSpPr>
              <a:xfrm>
                <a:off x="15201" y="4054132"/>
                <a:ext cx="3820882" cy="769819"/>
                <a:chOff x="0" y="0"/>
                <a:chExt cx="3820880" cy="769818"/>
              </a:xfrm>
            </p:grpSpPr>
            <p:sp>
              <p:nvSpPr>
                <p:cNvPr id="176" name="Rounded Rectangle"/>
                <p:cNvSpPr/>
                <p:nvPr/>
              </p:nvSpPr>
              <p:spPr>
                <a:xfrm>
                  <a:off x="0" y="43444"/>
                  <a:ext cx="3820881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0ECC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77" name="Refactor and optimize  only if necessary"/>
                <p:cNvSpPr txBox="1"/>
                <p:nvPr/>
              </p:nvSpPr>
              <p:spPr>
                <a:xfrm>
                  <a:off x="20001" y="0"/>
                  <a:ext cx="3780878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pPr>
                  <a:r>
                    <a:t>Refactor and optimize </a:t>
                  </a:r>
                  <a:br/>
                  <a:r>
                    <a:rPr sz="2000"/>
                    <a:t>only if necessary</a:t>
                  </a:r>
                </a:p>
              </p:txBody>
            </p:sp>
          </p:grpSp>
        </p:grpSp>
        <p:sp>
          <p:nvSpPr>
            <p:cNvPr id="180" name="U-Turn Arrow 17"/>
            <p:cNvSpPr/>
            <p:nvPr/>
          </p:nvSpPr>
          <p:spPr>
            <a:xfrm rot="16200000">
              <a:off x="-1800201" y="1914656"/>
              <a:ext cx="4392490" cy="7920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9450"/>
                  </a:lnTo>
                  <a:cubicBezTo>
                    <a:pt x="0" y="4231"/>
                    <a:pt x="763" y="0"/>
                    <a:pt x="1704" y="0"/>
                  </a:cubicBezTo>
                  <a:lnTo>
                    <a:pt x="19438" y="0"/>
                  </a:lnTo>
                  <a:cubicBezTo>
                    <a:pt x="20379" y="0"/>
                    <a:pt x="21142" y="4231"/>
                    <a:pt x="21142" y="9450"/>
                  </a:cubicBezTo>
                  <a:lnTo>
                    <a:pt x="21142" y="16200"/>
                  </a:lnTo>
                  <a:lnTo>
                    <a:pt x="21600" y="16200"/>
                  </a:lnTo>
                  <a:lnTo>
                    <a:pt x="20655" y="21600"/>
                  </a:lnTo>
                  <a:lnTo>
                    <a:pt x="19710" y="16200"/>
                  </a:lnTo>
                  <a:lnTo>
                    <a:pt x="20168" y="16200"/>
                  </a:lnTo>
                  <a:lnTo>
                    <a:pt x="20168" y="9450"/>
                  </a:lnTo>
                  <a:cubicBezTo>
                    <a:pt x="20168" y="7213"/>
                    <a:pt x="19841" y="5400"/>
                    <a:pt x="19438" y="5400"/>
                  </a:cubicBezTo>
                  <a:lnTo>
                    <a:pt x="1704" y="5400"/>
                  </a:lnTo>
                  <a:cubicBezTo>
                    <a:pt x="1301" y="5400"/>
                    <a:pt x="974" y="7213"/>
                    <a:pt x="974" y="9450"/>
                  </a:cubicBezTo>
                  <a:lnTo>
                    <a:pt x="974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chemeClr val="tx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182" name="U-Turn Arrow 18"/>
          <p:cNvSpPr/>
          <p:nvPr/>
        </p:nvSpPr>
        <p:spPr>
          <a:xfrm rot="16200000" flipV="1">
            <a:off x="6312024" y="4869160"/>
            <a:ext cx="1296145" cy="576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2977"/>
                </a:lnTo>
                <a:cubicBezTo>
                  <a:pt x="0" y="5810"/>
                  <a:pt x="2582" y="0"/>
                  <a:pt x="5768" y="0"/>
                </a:cubicBezTo>
                <a:lnTo>
                  <a:pt x="14894" y="0"/>
                </a:lnTo>
                <a:cubicBezTo>
                  <a:pt x="18079" y="0"/>
                  <a:pt x="20661" y="5810"/>
                  <a:pt x="20661" y="12977"/>
                </a:cubicBezTo>
                <a:lnTo>
                  <a:pt x="20661" y="15080"/>
                </a:lnTo>
                <a:lnTo>
                  <a:pt x="21600" y="15080"/>
                </a:lnTo>
                <a:lnTo>
                  <a:pt x="19200" y="21600"/>
                </a:lnTo>
                <a:lnTo>
                  <a:pt x="16800" y="15080"/>
                </a:lnTo>
                <a:lnTo>
                  <a:pt x="17739" y="15080"/>
                </a:lnTo>
                <a:lnTo>
                  <a:pt x="17739" y="12977"/>
                </a:lnTo>
                <a:cubicBezTo>
                  <a:pt x="17739" y="9442"/>
                  <a:pt x="16465" y="6576"/>
                  <a:pt x="14894" y="6576"/>
                </a:cubicBezTo>
                <a:lnTo>
                  <a:pt x="5768" y="6576"/>
                </a:lnTo>
                <a:cubicBezTo>
                  <a:pt x="4196" y="6576"/>
                  <a:pt x="2923" y="9442"/>
                  <a:pt x="2923" y="12977"/>
                </a:cubicBezTo>
                <a:lnTo>
                  <a:pt x="2923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chemeClr val="tx2"/>
            </a:solidFill>
            <a:miter/>
          </a:ln>
        </p:spPr>
        <p:txBody>
          <a:bodyPr lIns="45719" rIns="45719" anchor="ctr"/>
          <a:lstStyle/>
          <a:p>
            <a:pPr algn="ctr">
              <a:defRPr sz="2800"/>
            </a:pPr>
            <a:endParaRPr>
              <a:solidFill>
                <a:schemeClr val="tx2"/>
              </a:solidFill>
            </a:endParaRPr>
          </a:p>
        </p:txBody>
      </p:sp>
      <p:pic>
        <p:nvPicPr>
          <p:cNvPr id="183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727702" y="4149080"/>
            <a:ext cx="2386137" cy="238613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6CF76CDB-5B72-3856-5EA2-FF2283CD7044}"/>
              </a:ext>
            </a:extLst>
          </p:cNvPr>
          <p:cNvSpPr txBox="1"/>
          <p:nvPr/>
        </p:nvSpPr>
        <p:spPr>
          <a:xfrm>
            <a:off x="7581880" y="4509120"/>
            <a:ext cx="214770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 err="1"/>
              <a:t>pdb</a:t>
            </a:r>
            <a:endParaRPr dirty="0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8B006517-BE35-E312-56F0-0AE7F8FA6256}"/>
              </a:ext>
            </a:extLst>
          </p:cNvPr>
          <p:cNvSpPr txBox="1"/>
          <p:nvPr/>
        </p:nvSpPr>
        <p:spPr>
          <a:xfrm>
            <a:off x="7581880" y="2420888"/>
            <a:ext cx="1778537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 err="1"/>
              <a:t>pytest</a:t>
            </a:r>
            <a:endParaRPr dirty="0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C72142DE-23A6-3F95-A027-E8355F99CD70}"/>
              </a:ext>
            </a:extLst>
          </p:cNvPr>
          <p:cNvSpPr txBox="1"/>
          <p:nvPr/>
        </p:nvSpPr>
        <p:spPr>
          <a:xfrm>
            <a:off x="7581880" y="5175484"/>
            <a:ext cx="2644865" cy="104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timeit</a:t>
            </a:r>
          </a:p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cProfile</a:t>
            </a:r>
          </a:p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line_profiler</a:t>
            </a:r>
          </a:p>
        </p:txBody>
      </p:sp>
    </p:spTree>
    <p:extLst>
      <p:ext uri="{BB962C8B-B14F-4D97-AF65-F5344CB8AC3E}">
        <p14:creationId xmlns:p14="http://schemas.microsoft.com/office/powerpoint/2010/main" val="399340608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Debugging and the agile development cycle</a:t>
            </a:r>
            <a:endParaRPr dirty="0"/>
          </a:p>
        </p:txBody>
      </p:sp>
      <p:sp>
        <p:nvSpPr>
          <p:cNvPr id="22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14350" indent="-514350">
              <a:buFontTx/>
              <a:buAutoNum type="arabicPeriod"/>
            </a:pPr>
            <a:r>
              <a:rPr dirty="0"/>
              <a:t>Add a test that matches the behavior you expect. It will fail and reproduce the bug</a:t>
            </a:r>
          </a:p>
          <a:p>
            <a:pPr marL="514350" indent="-514350">
              <a:buFontTx/>
              <a:buAutoNum type="arabicPeriod"/>
            </a:pPr>
            <a:r>
              <a:rPr dirty="0"/>
              <a:t>Debug and fix the the bug</a:t>
            </a:r>
          </a:p>
          <a:p>
            <a:pPr marL="514350" indent="-514350">
              <a:buFontTx/>
              <a:buAutoNum type="arabicPeriod"/>
            </a:pPr>
            <a:r>
              <a:rPr dirty="0"/>
              <a:t>Run the tests until they all pass (go back to 2 if necessary)</a:t>
            </a:r>
          </a:p>
          <a:p>
            <a:pPr marL="514350" indent="-514350">
              <a:buFontTx/>
              <a:buAutoNum type="arabicPeriod"/>
            </a:pPr>
            <a:endParaRPr dirty="0"/>
          </a:p>
          <a:p>
            <a:r>
              <a:rPr b="1" dirty="0"/>
              <a:t>Now your bug is fixed *and* it will never occur again!</a:t>
            </a:r>
          </a:p>
        </p:txBody>
      </p:sp>
      <p:sp>
        <p:nvSpPr>
          <p:cNvPr id="222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2" name="Picture 4" descr="Picture 4">
            <a:extLst>
              <a:ext uri="{FF2B5EF4-FFF2-40B4-BE49-F238E27FC236}">
                <a16:creationId xmlns:a16="http://schemas.microsoft.com/office/drawing/2014/main" id="{24764535-7B4E-437F-620C-E0FA653EA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556" y="3813931"/>
            <a:ext cx="2678944" cy="267894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5AF27-50BD-0EE2-3852-06F71D2B4815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07B446AE-07EE-97DA-C379-D766F076714D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  <p:extLst>
      <p:ext uri="{BB962C8B-B14F-4D97-AF65-F5344CB8AC3E}">
        <p14:creationId xmlns:p14="http://schemas.microsoft.com/office/powerpoint/2010/main" val="184860947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pdb</a:t>
            </a:r>
            <a:r>
              <a:rPr>
                <a:latin typeface="Calibri Light"/>
                <a:ea typeface="Calibri Light"/>
                <a:cs typeface="Calibri Light"/>
                <a:sym typeface="Calibri Light"/>
              </a:rPr>
              <a:t>, the Python debugger</a:t>
            </a:r>
          </a:p>
        </p:txBody>
      </p:sp>
      <p:sp>
        <p:nvSpPr>
          <p:cNvPr id="14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 sz="3200"/>
            </a:pPr>
            <a:r>
              <a:rPr lang="en-GB" dirty="0"/>
              <a:t>Core idea in debugging: you can stop the execution of your application at any point, look at the state of the variables, and execute the code step by step</a:t>
            </a:r>
          </a:p>
          <a:p>
            <a:pPr>
              <a:defRPr sz="3200"/>
            </a:pPr>
            <a:r>
              <a:rPr dirty="0"/>
              <a:t>Command-line based debugger</a:t>
            </a:r>
          </a:p>
          <a:p>
            <a:pPr>
              <a:defRPr sz="3200">
                <a:latin typeface="Consolas"/>
                <a:ea typeface="Consolas"/>
                <a:cs typeface="Consolas"/>
                <a:sym typeface="Consolas"/>
              </a:defRPr>
            </a:pPr>
            <a:r>
              <a:rPr dirty="0" err="1"/>
              <a:t>pdb</a:t>
            </a:r>
            <a:r>
              <a:rPr dirty="0">
                <a:latin typeface="Calibri"/>
                <a:ea typeface="Calibri"/>
                <a:cs typeface="Calibri"/>
                <a:sym typeface="Calibri"/>
              </a:rPr>
              <a:t> opens an interactive shell, in which one can interact with the code</a:t>
            </a:r>
          </a:p>
          <a:p>
            <a:pPr marL="685800" lvl="1" indent="-228600">
              <a:spcBef>
                <a:spcPts val="500"/>
              </a:spcBef>
            </a:pPr>
            <a:r>
              <a:rPr dirty="0"/>
              <a:t>examine and change value of variables</a:t>
            </a:r>
            <a:endParaRPr sz="2400" dirty="0"/>
          </a:p>
          <a:p>
            <a:pPr marL="685800" lvl="1" indent="-228600">
              <a:spcBef>
                <a:spcPts val="500"/>
              </a:spcBef>
            </a:pPr>
            <a:r>
              <a:rPr dirty="0"/>
              <a:t>execute code line by line</a:t>
            </a:r>
            <a:endParaRPr sz="2400" dirty="0"/>
          </a:p>
          <a:p>
            <a:pPr marL="685800" lvl="1" indent="-228600">
              <a:spcBef>
                <a:spcPts val="500"/>
              </a:spcBef>
            </a:pPr>
            <a:r>
              <a:rPr dirty="0"/>
              <a:t>set up breakpoints</a:t>
            </a:r>
            <a:endParaRPr sz="2400" dirty="0"/>
          </a:p>
          <a:p>
            <a:pPr marL="685800" lvl="1" indent="-228600">
              <a:spcBef>
                <a:spcPts val="500"/>
              </a:spcBef>
            </a:pPr>
            <a:r>
              <a:rPr dirty="0"/>
              <a:t>examine calls stack</a:t>
            </a:r>
          </a:p>
        </p:txBody>
      </p:sp>
      <p:sp>
        <p:nvSpPr>
          <p:cNvPr id="145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46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423" y="3861048"/>
            <a:ext cx="2671193" cy="267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4419DD6-D48A-87D7-B3BD-C6875111777C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BE7F4B2-41D8-9891-B5A3-3231B8E04166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Entering the debugger</a:t>
            </a:r>
          </a:p>
        </p:txBody>
      </p:sp>
      <p:sp>
        <p:nvSpPr>
          <p:cNvPr id="15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/>
          <a:lstStyle/>
          <a:p>
            <a:pPr marL="457200"/>
            <a:r>
              <a:rPr dirty="0"/>
              <a:t>Enter at a specific point in the code (easy alternative to </a:t>
            </a:r>
            <a:r>
              <a:rPr dirty="0"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dirty="0"/>
              <a:t>):</a:t>
            </a:r>
          </a:p>
          <a:p>
            <a:pPr marL="457200"/>
            <a:endParaRPr dirty="0"/>
          </a:p>
          <a:p>
            <a:pPr marL="457200"/>
            <a:endParaRPr dirty="0"/>
          </a:p>
          <a:p>
            <a:pPr marL="0" indent="228600">
              <a:buSzTx/>
              <a:buNone/>
            </a:pPr>
            <a:br>
              <a:rPr dirty="0"/>
            </a:br>
            <a:endParaRPr dirty="0"/>
          </a:p>
        </p:txBody>
      </p:sp>
      <p:sp>
        <p:nvSpPr>
          <p:cNvPr id="161" name="TextBox 4"/>
          <p:cNvSpPr txBox="1"/>
          <p:nvPr/>
        </p:nvSpPr>
        <p:spPr>
          <a:xfrm>
            <a:off x="2548040" y="2329774"/>
            <a:ext cx="4556072" cy="13106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9494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# some code here</a:t>
            </a:r>
            <a:br>
              <a:rPr dirty="0"/>
            </a:br>
            <a:r>
              <a:rPr dirty="0"/>
              <a:t># the debugger starts here</a:t>
            </a:r>
            <a:br>
              <a:rPr dirty="0"/>
            </a:br>
            <a:r>
              <a:rPr dirty="0">
                <a:solidFill>
                  <a:srgbClr val="0000FF"/>
                </a:solidFill>
              </a:rPr>
              <a:t>breakpoint()</a:t>
            </a:r>
            <a:br>
              <a:rPr dirty="0">
                <a:solidFill>
                  <a:srgbClr val="0000FF"/>
                </a:solidFill>
              </a:rPr>
            </a:br>
            <a:r>
              <a:rPr dirty="0"/>
              <a:t># rest of the code</a:t>
            </a:r>
          </a:p>
        </p:txBody>
      </p:sp>
      <p:sp>
        <p:nvSpPr>
          <p:cNvPr id="162" name="Slide Number Placeholder 7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16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170" y="3394250"/>
            <a:ext cx="2953545" cy="295354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5F67897-B8C4-1B1F-D4ED-A66D1BC74E27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1DFE13F-5DA4-7FBD-A981-E366FDF15D12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Demonstration</a:t>
            </a:r>
            <a:r>
              <a:rPr dirty="0"/>
              <a:t>!</a:t>
            </a:r>
          </a:p>
        </p:txBody>
      </p:sp>
      <p:sp>
        <p:nvSpPr>
          <p:cNvPr id="150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/>
          <a:lstStyle/>
          <a:p>
            <a:r>
              <a:rPr dirty="0"/>
              <a:t>Debugging </a:t>
            </a:r>
            <a:r>
              <a:rPr lang="en-US" dirty="0"/>
              <a:t>with </a:t>
            </a:r>
            <a:r>
              <a:rPr lang="en-US" dirty="0" err="1"/>
              <a:t>pdb</a:t>
            </a:r>
            <a:endParaRPr dirty="0"/>
          </a:p>
        </p:txBody>
      </p:sp>
      <p:sp>
        <p:nvSpPr>
          <p:cNvPr id="152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53" name="Rectangle 5"/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ln w="165100">
            <a:solidFill>
              <a:srgbClr val="7030A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54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91" y="3645024"/>
            <a:ext cx="2593505" cy="259350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39D9FCF-4BB4-E5BC-1FD6-368F877C3275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80FE2DE-D0ED-42C4-33FE-1CC85BC3E466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dirty="0"/>
              <a:t>Hands-on!</a:t>
            </a:r>
            <a:r>
              <a:rPr lang="en-US" dirty="0"/>
              <a:t> – Issue #2</a:t>
            </a:r>
            <a:endParaRPr dirty="0"/>
          </a:p>
        </p:txBody>
      </p:sp>
      <p:sp>
        <p:nvSpPr>
          <p:cNvPr id="18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097280"/>
            <a:ext cx="10671596" cy="507968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905255">
              <a:spcBef>
                <a:spcPts val="900"/>
              </a:spcBef>
              <a:buNone/>
              <a:defRPr sz="2772"/>
            </a:pPr>
            <a:r>
              <a:rPr lang="en-US" sz="2400" noProof="0" dirty="0"/>
              <a:t>1) Go to </a:t>
            </a: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local_maxima_part3_debug/</a:t>
            </a:r>
            <a:r>
              <a:rPr lang="en-US" sz="2000" b="1" noProof="0" dirty="0" err="1">
                <a:latin typeface="Consolas"/>
                <a:ea typeface="Consolas"/>
                <a:cs typeface="Consolas"/>
                <a:sym typeface="Consolas"/>
              </a:rPr>
              <a:t>local_maxima.py</a:t>
            </a:r>
            <a:r>
              <a:rPr lang="en-US" sz="2000" b="1" noProof="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noProof="0" dirty="0"/>
              <a:t>and execute it</a:t>
            </a:r>
            <a:endParaRPr lang="en-US" sz="2400" noProof="0" dirty="0">
              <a:sym typeface="Wingdings" pitchFamily="2" charset="2"/>
            </a:endParaRPr>
          </a:p>
          <a:p>
            <a:pPr marL="0" indent="0" defTabSz="905255">
              <a:spcBef>
                <a:spcPts val="900"/>
              </a:spcBef>
              <a:buNone/>
              <a:defRPr sz="2772"/>
            </a:pPr>
            <a:r>
              <a:rPr lang="en-US" sz="2400" noProof="0" dirty="0"/>
              <a:t>2) Run the script with these inputs:</a:t>
            </a:r>
          </a:p>
          <a:p>
            <a:pPr lvl="1" defTabSz="905255">
              <a:spcBef>
                <a:spcPts val="900"/>
              </a:spcBef>
              <a:defRPr sz="2772"/>
            </a:pPr>
            <a:r>
              <a:rPr lang="en-US" sz="2400" noProof="0" dirty="0"/>
              <a:t>[1] (expected output: [0]),</a:t>
            </a:r>
          </a:p>
          <a:p>
            <a:pPr lvl="1" defTabSz="905255">
              <a:spcBef>
                <a:spcPts val="900"/>
              </a:spcBef>
              <a:defRPr sz="2772"/>
            </a:pPr>
            <a:r>
              <a:rPr lang="en-US" sz="2400" noProof="0" dirty="0"/>
              <a:t>[2, 2, 1, 0] (expected output: [0])</a:t>
            </a:r>
          </a:p>
          <a:p>
            <a:pPr marL="0" indent="0" defTabSz="905255">
              <a:spcBef>
                <a:spcPts val="900"/>
              </a:spcBef>
              <a:buNone/>
              <a:defRPr sz="2772"/>
            </a:pPr>
            <a:r>
              <a:rPr lang="en-US" sz="2400" noProof="0" dirty="0"/>
              <a:t>3) When you find a bug, write a test, then debug and fix it. Finally, create a PR</a:t>
            </a:r>
            <a:br>
              <a:rPr lang="en-US" sz="2400" noProof="0" dirty="0"/>
            </a:br>
            <a:br>
              <a:rPr sz="2400" dirty="0"/>
            </a:br>
            <a:endParaRPr lang="de-DE" sz="2400" dirty="0"/>
          </a:p>
        </p:txBody>
      </p:sp>
      <p:sp>
        <p:nvSpPr>
          <p:cNvPr id="18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84" name="Rectangle 6"/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ln w="165100">
            <a:solidFill>
              <a:srgbClr val="00B05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304" y="3589166"/>
            <a:ext cx="2677490" cy="26774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0" descr="Picture 10">
            <a:extLst>
              <a:ext uri="{FF2B5EF4-FFF2-40B4-BE49-F238E27FC236}">
                <a16:creationId xmlns:a16="http://schemas.microsoft.com/office/drawing/2014/main" id="{D19957DF-2E7E-8E63-5FCC-CF1FF0E26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648" y="3412574"/>
            <a:ext cx="5758250" cy="298783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5BF2A50B-346F-CF3C-B4C4-8F6B4B8BCBD8}"/>
              </a:ext>
            </a:extLst>
          </p:cNvPr>
          <p:cNvSpPr txBox="1"/>
          <p:nvPr/>
        </p:nvSpPr>
        <p:spPr>
          <a:xfrm>
            <a:off x="1025126" y="3368511"/>
            <a:ext cx="18723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/>
            <a:r>
              <a:rPr lang="en-US" noProof="0" dirty="0" err="1"/>
              <a:t>pdb</a:t>
            </a:r>
            <a:r>
              <a:rPr lang="en-US" noProof="0" dirty="0"/>
              <a:t> </a:t>
            </a:r>
            <a:r>
              <a:rPr lang="en-US" noProof="0" dirty="0" err="1"/>
              <a:t>cheatsheet</a:t>
            </a:r>
            <a:r>
              <a:rPr lang="en-US" noProof="0" dirty="0"/>
              <a:t>: 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D9EEB45-F24D-36DC-A2E9-363CC75B64C7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80E114B-8759-0CA8-8096-8D2C120F120C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Demonstration</a:t>
            </a:r>
            <a:r>
              <a:rPr dirty="0"/>
              <a:t>!</a:t>
            </a:r>
          </a:p>
        </p:txBody>
      </p:sp>
      <p:sp>
        <p:nvSpPr>
          <p:cNvPr id="150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chemeClr val="tx2"/>
                </a:solidFill>
              </a:rPr>
              <a:t>Debugging </a:t>
            </a:r>
            <a:r>
              <a:rPr lang="en-US" dirty="0">
                <a:solidFill>
                  <a:schemeClr val="tx2"/>
                </a:solidFill>
              </a:rPr>
              <a:t>with </a:t>
            </a:r>
            <a:r>
              <a:rPr lang="en-US" dirty="0" err="1">
                <a:solidFill>
                  <a:schemeClr val="tx2"/>
                </a:solidFill>
              </a:rPr>
              <a:t>pdb</a:t>
            </a:r>
            <a:endParaRPr dirty="0">
              <a:solidFill>
                <a:schemeClr val="tx2"/>
              </a:solidFill>
            </a:endParaRPr>
          </a:p>
          <a:p>
            <a:r>
              <a:rPr dirty="0"/>
              <a:t>Debugging from an IDE</a:t>
            </a:r>
          </a:p>
        </p:txBody>
      </p:sp>
      <p:sp>
        <p:nvSpPr>
          <p:cNvPr id="152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53" name="Rectangle 5"/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ln w="165100">
            <a:solidFill>
              <a:srgbClr val="7030A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54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91" y="3645024"/>
            <a:ext cx="2593505" cy="259350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38F9C50-93F7-9302-14B3-AA9074484F31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580C086-2219-FB64-8361-CAF4C71FF1E4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  <p:extLst>
      <p:ext uri="{BB962C8B-B14F-4D97-AF65-F5344CB8AC3E}">
        <p14:creationId xmlns:p14="http://schemas.microsoft.com/office/powerpoint/2010/main" val="370085059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336" y="3816424"/>
            <a:ext cx="2564905" cy="2564904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itle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Entering the debugger from VSCode</a:t>
            </a:r>
          </a:p>
        </p:txBody>
      </p:sp>
      <p:sp>
        <p:nvSpPr>
          <p:cNvPr id="17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17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463" y="1196751"/>
            <a:ext cx="7169969" cy="477251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F93C338-468F-05CA-762D-4A0E32FCDA1C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4CF2EAE-ED4F-4F68-5C42-5D937A476C14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2C00-991A-EB69-D17A-5DC38F17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oter Placeholder 2">
            <a:extLst>
              <a:ext uri="{FF2B5EF4-FFF2-40B4-BE49-F238E27FC236}">
                <a16:creationId xmlns:a16="http://schemas.microsoft.com/office/drawing/2014/main" id="{05586193-61CB-7F92-4445-EBEBEC38AE4C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157" name="Rectangle 2">
            <a:extLst>
              <a:ext uri="{FF2B5EF4-FFF2-40B4-BE49-F238E27FC236}">
                <a16:creationId xmlns:a16="http://schemas.microsoft.com/office/drawing/2014/main" id="{10A93F0E-8FF8-A817-647F-9217A426B5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Test, debug, then commit and create a PR</a:t>
            </a:r>
            <a:endParaRPr dirty="0"/>
          </a:p>
        </p:txBody>
      </p:sp>
      <p:sp>
        <p:nvSpPr>
          <p:cNvPr id="158" name="Date Placeholder 1">
            <a:extLst>
              <a:ext uri="{FF2B5EF4-FFF2-40B4-BE49-F238E27FC236}">
                <a16:creationId xmlns:a16="http://schemas.microsoft.com/office/drawing/2014/main" id="{35EC3EE1-62E2-D353-9F58-F92EBA4667D7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  <p:sp>
        <p:nvSpPr>
          <p:cNvPr id="159" name="Slide Number Placeholder 3">
            <a:extLst>
              <a:ext uri="{FF2B5EF4-FFF2-40B4-BE49-F238E27FC236}">
                <a16:creationId xmlns:a16="http://schemas.microsoft.com/office/drawing/2014/main" id="{FFC8EFD8-CA65-D00C-7230-D73D571E2F6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grpSp>
        <p:nvGrpSpPr>
          <p:cNvPr id="181" name="Group 6">
            <a:extLst>
              <a:ext uri="{FF2B5EF4-FFF2-40B4-BE49-F238E27FC236}">
                <a16:creationId xmlns:a16="http://schemas.microsoft.com/office/drawing/2014/main" id="{BC014019-C6B0-6FB8-F1D3-F806B9DEB8ED}"/>
              </a:ext>
            </a:extLst>
          </p:cNvPr>
          <p:cNvGrpSpPr/>
          <p:nvPr/>
        </p:nvGrpSpPr>
        <p:grpSpPr>
          <a:xfrm>
            <a:off x="1919535" y="1298321"/>
            <a:ext cx="4680531" cy="4823953"/>
            <a:chOff x="-1" y="0"/>
            <a:chExt cx="4680530" cy="4823952"/>
          </a:xfrm>
        </p:grpSpPr>
        <p:grpSp>
          <p:nvGrpSpPr>
            <p:cNvPr id="179" name="Diagram 16">
              <a:extLst>
                <a:ext uri="{FF2B5EF4-FFF2-40B4-BE49-F238E27FC236}">
                  <a16:creationId xmlns:a16="http://schemas.microsoft.com/office/drawing/2014/main" id="{732490CC-4E77-3F6B-2432-6A111F91340D}"/>
                </a:ext>
              </a:extLst>
            </p:cNvPr>
            <p:cNvGrpSpPr/>
            <p:nvPr/>
          </p:nvGrpSpPr>
          <p:grpSpPr>
            <a:xfrm>
              <a:off x="829242" y="0"/>
              <a:ext cx="3851287" cy="4823952"/>
              <a:chOff x="0" y="0"/>
              <a:chExt cx="3851286" cy="4823951"/>
            </a:xfrm>
          </p:grpSpPr>
          <p:grpSp>
            <p:nvGrpSpPr>
              <p:cNvPr id="162" name="Group">
                <a:extLst>
                  <a:ext uri="{FF2B5EF4-FFF2-40B4-BE49-F238E27FC236}">
                    <a16:creationId xmlns:a16="http://schemas.microsoft.com/office/drawing/2014/main" id="{EA62D1E8-0C7B-D7AA-E821-6772D3294613}"/>
                  </a:ext>
                </a:extLst>
              </p:cNvPr>
              <p:cNvGrpSpPr/>
              <p:nvPr/>
            </p:nvGrpSpPr>
            <p:grpSpPr>
              <a:xfrm>
                <a:off x="34855" y="0"/>
                <a:ext cx="3781574" cy="682931"/>
                <a:chOff x="0" y="0"/>
                <a:chExt cx="3781572" cy="682930"/>
              </a:xfrm>
            </p:grpSpPr>
            <p:sp>
              <p:nvSpPr>
                <p:cNvPr id="160" name="Rounded Rectangle">
                  <a:extLst>
                    <a:ext uri="{FF2B5EF4-FFF2-40B4-BE49-F238E27FC236}">
                      <a16:creationId xmlns:a16="http://schemas.microsoft.com/office/drawing/2014/main" id="{7FBE4E72-8EF2-9F04-BE7C-D6B47FE141B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781572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chemeClr val="tx2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61" name="Pick your next feature">
                  <a:extLst>
                    <a:ext uri="{FF2B5EF4-FFF2-40B4-BE49-F238E27FC236}">
                      <a16:creationId xmlns:a16="http://schemas.microsoft.com/office/drawing/2014/main" id="{1D5EB0AD-8902-05D8-5164-F31D7B3AEF90}"/>
                    </a:ext>
                  </a:extLst>
                </p:cNvPr>
                <p:cNvSpPr txBox="1"/>
                <p:nvPr/>
              </p:nvSpPr>
              <p:spPr>
                <a:xfrm>
                  <a:off x="20002" y="82934"/>
                  <a:ext cx="3741568" cy="5170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>
                  <a:lvl1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lvl1pPr>
                </a:lstStyle>
                <a:p>
                  <a:r>
                    <a:rPr>
                      <a:solidFill>
                        <a:schemeClr val="tx2"/>
                      </a:solidFill>
                    </a:rPr>
                    <a:t>Pick your next feature</a:t>
                  </a:r>
                </a:p>
              </p:txBody>
            </p:sp>
          </p:grpSp>
          <p:sp>
            <p:nvSpPr>
              <p:cNvPr id="163" name="Arrow">
                <a:extLst>
                  <a:ext uri="{FF2B5EF4-FFF2-40B4-BE49-F238E27FC236}">
                    <a16:creationId xmlns:a16="http://schemas.microsoft.com/office/drawing/2014/main" id="{54526A42-0EA5-248B-21BB-92FCFD5F121B}"/>
                  </a:ext>
                </a:extLst>
              </p:cNvPr>
              <p:cNvSpPr/>
              <p:nvPr/>
            </p:nvSpPr>
            <p:spPr>
              <a:xfrm rot="5400000">
                <a:off x="1797593" y="700003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chemeClr val="tx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4" name="Rounded Rectangle">
                <a:extLst>
                  <a:ext uri="{FF2B5EF4-FFF2-40B4-BE49-F238E27FC236}">
                    <a16:creationId xmlns:a16="http://schemas.microsoft.com/office/drawing/2014/main" id="{F6BD6157-5C3A-9CDC-0D8B-779BEF329499}"/>
                  </a:ext>
                </a:extLst>
              </p:cNvPr>
              <p:cNvSpPr/>
              <p:nvPr/>
            </p:nvSpPr>
            <p:spPr>
              <a:xfrm>
                <a:off x="0" y="1024393"/>
                <a:ext cx="3851286" cy="682932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38100" cap="flat">
                <a:solidFill>
                  <a:schemeClr val="tx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2400"/>
                </a:pPr>
                <a:r>
                  <a:rPr lang="de-DE" dirty="0">
                    <a:solidFill>
                      <a:schemeClr val="tx2"/>
                    </a:solidFill>
                  </a:rPr>
                  <a:t>Write </a:t>
                </a:r>
                <a:r>
                  <a:rPr lang="de-DE" dirty="0" err="1">
                    <a:solidFill>
                      <a:schemeClr val="tx2"/>
                    </a:solidFill>
                  </a:rPr>
                  <a:t>tests</a:t>
                </a:r>
                <a:r>
                  <a:rPr lang="de-DE" dirty="0">
                    <a:solidFill>
                      <a:schemeClr val="tx2"/>
                    </a:solidFill>
                  </a:rPr>
                  <a:t> </a:t>
                </a:r>
                <a:br>
                  <a:rPr lang="de-DE" dirty="0">
                    <a:solidFill>
                      <a:schemeClr val="tx2"/>
                    </a:solidFill>
                  </a:rPr>
                </a:br>
                <a:r>
                  <a:rPr lang="de-DE" sz="2000" dirty="0" err="1">
                    <a:solidFill>
                      <a:schemeClr val="tx2"/>
                    </a:solidFill>
                  </a:rPr>
                  <a:t>to</a:t>
                </a:r>
                <a:r>
                  <a:rPr lang="de-DE" sz="2000" dirty="0">
                    <a:solidFill>
                      <a:schemeClr val="tx2"/>
                    </a:solidFill>
                  </a:rPr>
                  <a:t> check </a:t>
                </a:r>
                <a:r>
                  <a:rPr lang="de-DE" sz="2000" dirty="0" err="1">
                    <a:solidFill>
                      <a:schemeClr val="tx2"/>
                    </a:solidFill>
                  </a:rPr>
                  <a:t>that</a:t>
                </a:r>
                <a:r>
                  <a:rPr lang="de-DE" sz="2000" dirty="0">
                    <a:solidFill>
                      <a:schemeClr val="tx2"/>
                    </a:solidFill>
                  </a:rPr>
                  <a:t> feature </a:t>
                </a:r>
                <a:r>
                  <a:rPr lang="de-DE" sz="2000" dirty="0" err="1">
                    <a:solidFill>
                      <a:schemeClr val="tx2"/>
                    </a:solidFill>
                  </a:rPr>
                  <a:t>works</a:t>
                </a:r>
                <a:r>
                  <a:rPr lang="de-DE" sz="20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  <p:sp>
            <p:nvSpPr>
              <p:cNvPr id="167" name="Arrow">
                <a:extLst>
                  <a:ext uri="{FF2B5EF4-FFF2-40B4-BE49-F238E27FC236}">
                    <a16:creationId xmlns:a16="http://schemas.microsoft.com/office/drawing/2014/main" id="{D1121D5B-D339-39DA-0C58-5E9EC85F8528}"/>
                  </a:ext>
                </a:extLst>
              </p:cNvPr>
              <p:cNvSpPr/>
              <p:nvPr/>
            </p:nvSpPr>
            <p:spPr>
              <a:xfrm rot="5400000">
                <a:off x="1797593" y="1724397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chemeClr val="tx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70" name="Group">
                <a:extLst>
                  <a:ext uri="{FF2B5EF4-FFF2-40B4-BE49-F238E27FC236}">
                    <a16:creationId xmlns:a16="http://schemas.microsoft.com/office/drawing/2014/main" id="{3825AC4F-1B8E-8F75-78B9-3F0397B3155E}"/>
                  </a:ext>
                </a:extLst>
              </p:cNvPr>
              <p:cNvGrpSpPr/>
              <p:nvPr/>
            </p:nvGrpSpPr>
            <p:grpSpPr>
              <a:xfrm>
                <a:off x="15201" y="2005343"/>
                <a:ext cx="3820882" cy="769820"/>
                <a:chOff x="0" y="0"/>
                <a:chExt cx="3820880" cy="769818"/>
              </a:xfrm>
            </p:grpSpPr>
            <p:sp>
              <p:nvSpPr>
                <p:cNvPr id="168" name="Rounded Rectangle">
                  <a:extLst>
                    <a:ext uri="{FF2B5EF4-FFF2-40B4-BE49-F238E27FC236}">
                      <a16:creationId xmlns:a16="http://schemas.microsoft.com/office/drawing/2014/main" id="{B32AC317-79C3-95E1-A5F6-2797F0235FF5}"/>
                    </a:ext>
                  </a:extLst>
                </p:cNvPr>
                <p:cNvSpPr/>
                <p:nvPr/>
              </p:nvSpPr>
              <p:spPr>
                <a:xfrm>
                  <a:off x="0" y="43444"/>
                  <a:ext cx="3820881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0ECC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9" name="Write simplest code  that makes tests pass">
                  <a:extLst>
                    <a:ext uri="{FF2B5EF4-FFF2-40B4-BE49-F238E27FC236}">
                      <a16:creationId xmlns:a16="http://schemas.microsoft.com/office/drawing/2014/main" id="{C8164752-9BD4-01A8-B579-430D1DAC193D}"/>
                    </a:ext>
                  </a:extLst>
                </p:cNvPr>
                <p:cNvSpPr txBox="1"/>
                <p:nvPr/>
              </p:nvSpPr>
              <p:spPr>
                <a:xfrm>
                  <a:off x="20001" y="0"/>
                  <a:ext cx="3780878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pPr>
                  <a:r>
                    <a:t>Write simplest code </a:t>
                  </a:r>
                  <a:br/>
                  <a:r>
                    <a:rPr sz="2000"/>
                    <a:t>that makes tests pass</a:t>
                  </a:r>
                </a:p>
              </p:txBody>
            </p:sp>
          </p:grpSp>
          <p:sp>
            <p:nvSpPr>
              <p:cNvPr id="171" name="Arrow">
                <a:extLst>
                  <a:ext uri="{FF2B5EF4-FFF2-40B4-BE49-F238E27FC236}">
                    <a16:creationId xmlns:a16="http://schemas.microsoft.com/office/drawing/2014/main" id="{8435E468-133C-FF02-D63B-75CC7C2A17EB}"/>
                  </a:ext>
                </a:extLst>
              </p:cNvPr>
              <p:cNvSpPr/>
              <p:nvPr/>
            </p:nvSpPr>
            <p:spPr>
              <a:xfrm rot="5400000">
                <a:off x="1797593" y="2748791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0ECC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74" name="Group">
                <a:extLst>
                  <a:ext uri="{FF2B5EF4-FFF2-40B4-BE49-F238E27FC236}">
                    <a16:creationId xmlns:a16="http://schemas.microsoft.com/office/drawing/2014/main" id="{B88CEE9B-65E3-2270-6699-915AA3BF079A}"/>
                  </a:ext>
                </a:extLst>
              </p:cNvPr>
              <p:cNvGrpSpPr/>
              <p:nvPr/>
            </p:nvGrpSpPr>
            <p:grpSpPr>
              <a:xfrm>
                <a:off x="15201" y="3029737"/>
                <a:ext cx="3820882" cy="769820"/>
                <a:chOff x="0" y="0"/>
                <a:chExt cx="3820880" cy="769818"/>
              </a:xfrm>
            </p:grpSpPr>
            <p:sp>
              <p:nvSpPr>
                <p:cNvPr id="172" name="Rounded Rectangle">
                  <a:extLst>
                    <a:ext uri="{FF2B5EF4-FFF2-40B4-BE49-F238E27FC236}">
                      <a16:creationId xmlns:a16="http://schemas.microsoft.com/office/drawing/2014/main" id="{0B4A3975-8758-F55B-AEF5-01D2B1285BE4}"/>
                    </a:ext>
                  </a:extLst>
                </p:cNvPr>
                <p:cNvSpPr/>
                <p:nvPr/>
              </p:nvSpPr>
              <p:spPr>
                <a:xfrm>
                  <a:off x="0" y="43444"/>
                  <a:ext cx="3820881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0ECC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73" name="Run tests and debug  until all tests pass">
                  <a:extLst>
                    <a:ext uri="{FF2B5EF4-FFF2-40B4-BE49-F238E27FC236}">
                      <a16:creationId xmlns:a16="http://schemas.microsoft.com/office/drawing/2014/main" id="{E73D92B5-6BB4-4B27-2C3B-25449F058406}"/>
                    </a:ext>
                  </a:extLst>
                </p:cNvPr>
                <p:cNvSpPr txBox="1"/>
                <p:nvPr/>
              </p:nvSpPr>
              <p:spPr>
                <a:xfrm>
                  <a:off x="20001" y="0"/>
                  <a:ext cx="3780878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pPr>
                  <a:r>
                    <a:t>Run tests and debug </a:t>
                  </a:r>
                  <a:br/>
                  <a:r>
                    <a:rPr sz="2000"/>
                    <a:t>until </a:t>
                  </a:r>
                  <a:r>
                    <a:rPr sz="2000" i="1"/>
                    <a:t>all</a:t>
                  </a:r>
                  <a:r>
                    <a:rPr sz="2000"/>
                    <a:t> tests pass</a:t>
                  </a:r>
                </a:p>
              </p:txBody>
            </p:sp>
          </p:grpSp>
          <p:sp>
            <p:nvSpPr>
              <p:cNvPr id="175" name="Arrow">
                <a:extLst>
                  <a:ext uri="{FF2B5EF4-FFF2-40B4-BE49-F238E27FC236}">
                    <a16:creationId xmlns:a16="http://schemas.microsoft.com/office/drawing/2014/main" id="{D4F20C74-8661-8869-DA84-5C1AD1266124}"/>
                  </a:ext>
                </a:extLst>
              </p:cNvPr>
              <p:cNvSpPr/>
              <p:nvPr/>
            </p:nvSpPr>
            <p:spPr>
              <a:xfrm rot="5400000">
                <a:off x="1797593" y="3773185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0ECC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78" name="Group">
                <a:extLst>
                  <a:ext uri="{FF2B5EF4-FFF2-40B4-BE49-F238E27FC236}">
                    <a16:creationId xmlns:a16="http://schemas.microsoft.com/office/drawing/2014/main" id="{229C4949-6A13-4C3A-8812-0BC77796F0F6}"/>
                  </a:ext>
                </a:extLst>
              </p:cNvPr>
              <p:cNvGrpSpPr/>
              <p:nvPr/>
            </p:nvGrpSpPr>
            <p:grpSpPr>
              <a:xfrm>
                <a:off x="15201" y="4054132"/>
                <a:ext cx="3820882" cy="769819"/>
                <a:chOff x="0" y="0"/>
                <a:chExt cx="3820880" cy="769818"/>
              </a:xfrm>
            </p:grpSpPr>
            <p:sp>
              <p:nvSpPr>
                <p:cNvPr id="176" name="Rounded Rectangle">
                  <a:extLst>
                    <a:ext uri="{FF2B5EF4-FFF2-40B4-BE49-F238E27FC236}">
                      <a16:creationId xmlns:a16="http://schemas.microsoft.com/office/drawing/2014/main" id="{B233F197-5C32-93F7-93CA-BB03EBE34DE4}"/>
                    </a:ext>
                  </a:extLst>
                </p:cNvPr>
                <p:cNvSpPr/>
                <p:nvPr/>
              </p:nvSpPr>
              <p:spPr>
                <a:xfrm>
                  <a:off x="0" y="43444"/>
                  <a:ext cx="3820881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0ECC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77" name="Refactor and optimize  only if necessary">
                  <a:extLst>
                    <a:ext uri="{FF2B5EF4-FFF2-40B4-BE49-F238E27FC236}">
                      <a16:creationId xmlns:a16="http://schemas.microsoft.com/office/drawing/2014/main" id="{18137F00-F9DF-AE6C-D8C3-4ED3DDD0427D}"/>
                    </a:ext>
                  </a:extLst>
                </p:cNvPr>
                <p:cNvSpPr txBox="1"/>
                <p:nvPr/>
              </p:nvSpPr>
              <p:spPr>
                <a:xfrm>
                  <a:off x="20001" y="0"/>
                  <a:ext cx="3780878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pPr>
                  <a:r>
                    <a:t>Refactor and optimize </a:t>
                  </a:r>
                  <a:br/>
                  <a:r>
                    <a:rPr sz="2000"/>
                    <a:t>only if necessary</a:t>
                  </a:r>
                </a:p>
              </p:txBody>
            </p:sp>
          </p:grpSp>
        </p:grpSp>
        <p:sp>
          <p:nvSpPr>
            <p:cNvPr id="180" name="U-Turn Arrow 17">
              <a:extLst>
                <a:ext uri="{FF2B5EF4-FFF2-40B4-BE49-F238E27FC236}">
                  <a16:creationId xmlns:a16="http://schemas.microsoft.com/office/drawing/2014/main" id="{0329ACBC-BC4D-4C5D-B3F8-D111A6648BAE}"/>
                </a:ext>
              </a:extLst>
            </p:cNvPr>
            <p:cNvSpPr/>
            <p:nvPr/>
          </p:nvSpPr>
          <p:spPr>
            <a:xfrm rot="16200000">
              <a:off x="-1800201" y="1914656"/>
              <a:ext cx="4392490" cy="7920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9450"/>
                  </a:lnTo>
                  <a:cubicBezTo>
                    <a:pt x="0" y="4231"/>
                    <a:pt x="763" y="0"/>
                    <a:pt x="1704" y="0"/>
                  </a:cubicBezTo>
                  <a:lnTo>
                    <a:pt x="19438" y="0"/>
                  </a:lnTo>
                  <a:cubicBezTo>
                    <a:pt x="20379" y="0"/>
                    <a:pt x="21142" y="4231"/>
                    <a:pt x="21142" y="9450"/>
                  </a:cubicBezTo>
                  <a:lnTo>
                    <a:pt x="21142" y="16200"/>
                  </a:lnTo>
                  <a:lnTo>
                    <a:pt x="21600" y="16200"/>
                  </a:lnTo>
                  <a:lnTo>
                    <a:pt x="20655" y="21600"/>
                  </a:lnTo>
                  <a:lnTo>
                    <a:pt x="19710" y="16200"/>
                  </a:lnTo>
                  <a:lnTo>
                    <a:pt x="20168" y="16200"/>
                  </a:lnTo>
                  <a:lnTo>
                    <a:pt x="20168" y="9450"/>
                  </a:lnTo>
                  <a:cubicBezTo>
                    <a:pt x="20168" y="7213"/>
                    <a:pt x="19841" y="5400"/>
                    <a:pt x="19438" y="5400"/>
                  </a:cubicBezTo>
                  <a:lnTo>
                    <a:pt x="1704" y="5400"/>
                  </a:lnTo>
                  <a:cubicBezTo>
                    <a:pt x="1301" y="5400"/>
                    <a:pt x="974" y="7213"/>
                    <a:pt x="974" y="9450"/>
                  </a:cubicBezTo>
                  <a:lnTo>
                    <a:pt x="974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chemeClr val="tx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182" name="U-Turn Arrow 18">
            <a:extLst>
              <a:ext uri="{FF2B5EF4-FFF2-40B4-BE49-F238E27FC236}">
                <a16:creationId xmlns:a16="http://schemas.microsoft.com/office/drawing/2014/main" id="{89418CD4-FED4-13E1-5DF2-4381F01BF49D}"/>
              </a:ext>
            </a:extLst>
          </p:cNvPr>
          <p:cNvSpPr/>
          <p:nvPr/>
        </p:nvSpPr>
        <p:spPr>
          <a:xfrm rot="16200000" flipV="1">
            <a:off x="6312024" y="4869160"/>
            <a:ext cx="1296145" cy="576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2977"/>
                </a:lnTo>
                <a:cubicBezTo>
                  <a:pt x="0" y="5810"/>
                  <a:pt x="2582" y="0"/>
                  <a:pt x="5768" y="0"/>
                </a:cubicBezTo>
                <a:lnTo>
                  <a:pt x="14894" y="0"/>
                </a:lnTo>
                <a:cubicBezTo>
                  <a:pt x="18079" y="0"/>
                  <a:pt x="20661" y="5810"/>
                  <a:pt x="20661" y="12977"/>
                </a:cubicBezTo>
                <a:lnTo>
                  <a:pt x="20661" y="15080"/>
                </a:lnTo>
                <a:lnTo>
                  <a:pt x="21600" y="15080"/>
                </a:lnTo>
                <a:lnTo>
                  <a:pt x="19200" y="21600"/>
                </a:lnTo>
                <a:lnTo>
                  <a:pt x="16800" y="15080"/>
                </a:lnTo>
                <a:lnTo>
                  <a:pt x="17739" y="15080"/>
                </a:lnTo>
                <a:lnTo>
                  <a:pt x="17739" y="12977"/>
                </a:lnTo>
                <a:cubicBezTo>
                  <a:pt x="17739" y="9442"/>
                  <a:pt x="16465" y="6576"/>
                  <a:pt x="14894" y="6576"/>
                </a:cubicBezTo>
                <a:lnTo>
                  <a:pt x="5768" y="6576"/>
                </a:lnTo>
                <a:cubicBezTo>
                  <a:pt x="4196" y="6576"/>
                  <a:pt x="2923" y="9442"/>
                  <a:pt x="2923" y="12977"/>
                </a:cubicBezTo>
                <a:lnTo>
                  <a:pt x="2923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chemeClr val="tx2"/>
            </a:solidFill>
            <a:miter/>
          </a:ln>
        </p:spPr>
        <p:txBody>
          <a:bodyPr lIns="45719" rIns="45719" anchor="ctr"/>
          <a:lstStyle/>
          <a:p>
            <a:pPr algn="ctr">
              <a:defRPr sz="2800"/>
            </a:pPr>
            <a:endParaRPr>
              <a:solidFill>
                <a:schemeClr val="tx2"/>
              </a:solidFill>
            </a:endParaRPr>
          </a:p>
        </p:txBody>
      </p:sp>
      <p:pic>
        <p:nvPicPr>
          <p:cNvPr id="183" name="Picture 6" descr="Picture 6">
            <a:extLst>
              <a:ext uri="{FF2B5EF4-FFF2-40B4-BE49-F238E27FC236}">
                <a16:creationId xmlns:a16="http://schemas.microsoft.com/office/drawing/2014/main" id="{025B3969-B47F-812F-AC68-E52AE783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727702" y="4149080"/>
            <a:ext cx="2386137" cy="238613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D0A77F08-2042-2814-8D6F-240356978A67}"/>
              </a:ext>
            </a:extLst>
          </p:cNvPr>
          <p:cNvSpPr txBox="1"/>
          <p:nvPr/>
        </p:nvSpPr>
        <p:spPr>
          <a:xfrm>
            <a:off x="7581880" y="4509120"/>
            <a:ext cx="214770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 err="1"/>
              <a:t>pdb</a:t>
            </a:r>
            <a:endParaRPr dirty="0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A8CCEA95-DB89-6D81-699F-E28055A11311}"/>
              </a:ext>
            </a:extLst>
          </p:cNvPr>
          <p:cNvSpPr txBox="1"/>
          <p:nvPr/>
        </p:nvSpPr>
        <p:spPr>
          <a:xfrm>
            <a:off x="7581880" y="2420888"/>
            <a:ext cx="1778537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 err="1"/>
              <a:t>pytest</a:t>
            </a:r>
            <a:endParaRPr dirty="0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7C50F52-6379-2EF3-7E72-8D9DEC141FD3}"/>
              </a:ext>
            </a:extLst>
          </p:cNvPr>
          <p:cNvSpPr txBox="1"/>
          <p:nvPr/>
        </p:nvSpPr>
        <p:spPr>
          <a:xfrm>
            <a:off x="7581880" y="5175484"/>
            <a:ext cx="2644865" cy="104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timeit</a:t>
            </a:r>
          </a:p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cProfile</a:t>
            </a:r>
          </a:p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line_profiler</a:t>
            </a:r>
          </a:p>
        </p:txBody>
      </p:sp>
    </p:spTree>
    <p:extLst>
      <p:ext uri="{BB962C8B-B14F-4D97-AF65-F5344CB8AC3E}">
        <p14:creationId xmlns:p14="http://schemas.microsoft.com/office/powerpoint/2010/main" val="343788214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Footer Placeholder 3"/>
          <p:cNvSpPr txBox="1"/>
          <p:nvPr/>
        </p:nvSpPr>
        <p:spPr>
          <a:xfrm>
            <a:off x="4084319" y="6356350"/>
            <a:ext cx="4023362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r>
              <a:t>Testing scientific code, v16.0</a:t>
            </a:r>
          </a:p>
        </p:txBody>
      </p:sp>
      <p:sp>
        <p:nvSpPr>
          <p:cNvPr id="225" name="Title 1"/>
          <p:cNvSpPr txBox="1">
            <a:spLocks noGrp="1"/>
          </p:cNvSpPr>
          <p:nvPr>
            <p:ph type="title" idx="4294967295"/>
          </p:nvPr>
        </p:nvSpPr>
        <p:spPr>
          <a:xfrm>
            <a:off x="1097280" y="325549"/>
            <a:ext cx="10058401" cy="2527388"/>
          </a:xfrm>
          <a:prstGeom prst="rect">
            <a:avLst/>
          </a:prstGeom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anchor="b"/>
          <a:lstStyle/>
          <a:p>
            <a:pPr algn="ctr">
              <a:defRPr sz="6600"/>
            </a:pPr>
            <a:r>
              <a:rPr lang="en-US" dirty="0"/>
              <a:t>The End</a:t>
            </a:r>
            <a:endParaRPr dirty="0"/>
          </a:p>
        </p:txBody>
      </p:sp>
      <p:sp>
        <p:nvSpPr>
          <p:cNvPr id="226" name="Date Placeholder 2"/>
          <p:cNvSpPr txBox="1"/>
          <p:nvPr/>
        </p:nvSpPr>
        <p:spPr>
          <a:xfrm>
            <a:off x="883919" y="6356350"/>
            <a:ext cx="2651762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227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>
            <a:lvl1pPr>
              <a:spcBef>
                <a:spcPts val="600"/>
              </a:spcBef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ooter Placeholder 2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sp>
        <p:nvSpPr>
          <p:cNvPr id="230" name="Date Placeholder 1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23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ooter Placeholder 2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sp>
        <p:nvSpPr>
          <p:cNvPr id="99" name="Rectangl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The agile development cycle</a:t>
            </a:r>
          </a:p>
        </p:txBody>
      </p:sp>
      <p:sp>
        <p:nvSpPr>
          <p:cNvPr id="100" name="Date Placeholder 1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101" name="TextBox 10"/>
          <p:cNvSpPr txBox="1"/>
          <p:nvPr/>
        </p:nvSpPr>
        <p:spPr>
          <a:xfrm>
            <a:off x="7581880" y="2420888"/>
            <a:ext cx="1778537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 err="1"/>
              <a:t>pytest</a:t>
            </a:r>
            <a:endParaRPr dirty="0"/>
          </a:p>
        </p:txBody>
      </p:sp>
      <p:sp>
        <p:nvSpPr>
          <p:cNvPr id="102" name="TextBox 11"/>
          <p:cNvSpPr txBox="1"/>
          <p:nvPr/>
        </p:nvSpPr>
        <p:spPr>
          <a:xfrm>
            <a:off x="7581880" y="4509120"/>
            <a:ext cx="214770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dirty="0" err="1"/>
              <a:t>pdb</a:t>
            </a:r>
            <a:endParaRPr dirty="0"/>
          </a:p>
        </p:txBody>
      </p:sp>
      <p:sp>
        <p:nvSpPr>
          <p:cNvPr id="103" name="TextBox 12"/>
          <p:cNvSpPr txBox="1"/>
          <p:nvPr/>
        </p:nvSpPr>
        <p:spPr>
          <a:xfrm>
            <a:off x="7581880" y="5175484"/>
            <a:ext cx="2644865" cy="104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timeit</a:t>
            </a:r>
          </a:p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cProfile</a:t>
            </a:r>
          </a:p>
          <a:p>
            <a:pPr>
              <a:defRPr sz="21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line_profiler</a:t>
            </a:r>
          </a:p>
        </p:txBody>
      </p:sp>
      <p:grpSp>
        <p:nvGrpSpPr>
          <p:cNvPr id="125" name="Group 6"/>
          <p:cNvGrpSpPr/>
          <p:nvPr/>
        </p:nvGrpSpPr>
        <p:grpSpPr>
          <a:xfrm>
            <a:off x="1919533" y="1298320"/>
            <a:ext cx="4680531" cy="4823952"/>
            <a:chOff x="-1" y="0"/>
            <a:chExt cx="4680529" cy="4823951"/>
          </a:xfrm>
        </p:grpSpPr>
        <p:grpSp>
          <p:nvGrpSpPr>
            <p:cNvPr id="123" name="Diagram 16"/>
            <p:cNvGrpSpPr/>
            <p:nvPr/>
          </p:nvGrpSpPr>
          <p:grpSpPr>
            <a:xfrm>
              <a:off x="829241" y="0"/>
              <a:ext cx="3851287" cy="4823951"/>
              <a:chOff x="0" y="0"/>
              <a:chExt cx="3851285" cy="4823950"/>
            </a:xfrm>
          </p:grpSpPr>
          <p:grpSp>
            <p:nvGrpSpPr>
              <p:cNvPr id="106" name="Group"/>
              <p:cNvGrpSpPr/>
              <p:nvPr/>
            </p:nvGrpSpPr>
            <p:grpSpPr>
              <a:xfrm>
                <a:off x="34856" y="0"/>
                <a:ext cx="3781572" cy="682930"/>
                <a:chOff x="0" y="0"/>
                <a:chExt cx="3781570" cy="682929"/>
              </a:xfrm>
            </p:grpSpPr>
            <p:sp>
              <p:nvSpPr>
                <p:cNvPr id="104" name="Rounded Rectangle"/>
                <p:cNvSpPr/>
                <p:nvPr/>
              </p:nvSpPr>
              <p:spPr>
                <a:xfrm>
                  <a:off x="0" y="0"/>
                  <a:ext cx="3781570" cy="682929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BFBFBF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05" name="Pick your next feature"/>
                <p:cNvSpPr txBox="1"/>
                <p:nvPr/>
              </p:nvSpPr>
              <p:spPr>
                <a:xfrm>
                  <a:off x="0" y="82934"/>
                  <a:ext cx="3761569" cy="5170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>
                  <a:lvl1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>
                      <a:solidFill>
                        <a:srgbClr val="D9D9D9"/>
                      </a:solidFill>
                    </a:defRPr>
                  </a:lvl1pPr>
                </a:lstStyle>
                <a:p>
                  <a:r>
                    <a:t>Pick your next feature</a:t>
                  </a:r>
                </a:p>
              </p:txBody>
            </p:sp>
          </p:grpSp>
          <p:sp>
            <p:nvSpPr>
              <p:cNvPr id="107" name="Arrow"/>
              <p:cNvSpPr/>
              <p:nvPr/>
            </p:nvSpPr>
            <p:spPr>
              <a:xfrm rot="5400000">
                <a:off x="1797592" y="700002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BFBFB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88950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10" name="Group"/>
              <p:cNvGrpSpPr/>
              <p:nvPr/>
            </p:nvGrpSpPr>
            <p:grpSpPr>
              <a:xfrm>
                <a:off x="0" y="968828"/>
                <a:ext cx="3851285" cy="794062"/>
                <a:chOff x="0" y="-12121"/>
                <a:chExt cx="3851284" cy="794061"/>
              </a:xfrm>
            </p:grpSpPr>
            <p:sp>
              <p:nvSpPr>
                <p:cNvPr id="108" name="Rounded Rectangle"/>
                <p:cNvSpPr/>
                <p:nvPr/>
              </p:nvSpPr>
              <p:spPr>
                <a:xfrm>
                  <a:off x="0" y="43444"/>
                  <a:ext cx="3851284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BFBFBF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 sz="2400">
                      <a:solidFill>
                        <a:srgbClr val="D9D9D9"/>
                      </a:solidFill>
                    </a:defRPr>
                  </a:pPr>
                  <a:endParaRPr/>
                </a:p>
              </p:txBody>
            </p:sp>
            <p:sp>
              <p:nvSpPr>
                <p:cNvPr id="109" name="Write tests  to check that feature works"/>
                <p:cNvSpPr txBox="1"/>
                <p:nvPr/>
              </p:nvSpPr>
              <p:spPr>
                <a:xfrm>
                  <a:off x="82808" y="-12121"/>
                  <a:ext cx="3748474" cy="7940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>
                      <a:solidFill>
                        <a:srgbClr val="D9D9D9"/>
                      </a:solidFill>
                    </a:defRPr>
                  </a:pPr>
                  <a:r>
                    <a:t>Write tests </a:t>
                  </a:r>
                  <a:br/>
                  <a:r>
                    <a:rPr sz="2000"/>
                    <a:t>to check that feature works </a:t>
                  </a:r>
                </a:p>
              </p:txBody>
            </p:sp>
          </p:grpSp>
          <p:sp>
            <p:nvSpPr>
              <p:cNvPr id="111" name="Arrow"/>
              <p:cNvSpPr/>
              <p:nvPr/>
            </p:nvSpPr>
            <p:spPr>
              <a:xfrm rot="5400000">
                <a:off x="1797592" y="1724396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BFBFB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14" name="Group"/>
              <p:cNvGrpSpPr/>
              <p:nvPr/>
            </p:nvGrpSpPr>
            <p:grpSpPr>
              <a:xfrm>
                <a:off x="15201" y="1993222"/>
                <a:ext cx="3820882" cy="794062"/>
                <a:chOff x="0" y="-12121"/>
                <a:chExt cx="3820880" cy="794061"/>
              </a:xfrm>
            </p:grpSpPr>
            <p:sp>
              <p:nvSpPr>
                <p:cNvPr id="112" name="Rounded Rectangle"/>
                <p:cNvSpPr/>
                <p:nvPr/>
              </p:nvSpPr>
              <p:spPr>
                <a:xfrm>
                  <a:off x="0" y="43444"/>
                  <a:ext cx="3820880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BFBFBF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13" name="Write simplest code  that makes tests pass"/>
                <p:cNvSpPr txBox="1"/>
                <p:nvPr/>
              </p:nvSpPr>
              <p:spPr>
                <a:xfrm>
                  <a:off x="67607" y="-12121"/>
                  <a:ext cx="3733271" cy="7940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>
                      <a:solidFill>
                        <a:srgbClr val="D9D9D9"/>
                      </a:solidFill>
                    </a:defRPr>
                  </a:pPr>
                  <a:r>
                    <a:rPr dirty="0"/>
                    <a:t>Write simplest code </a:t>
                  </a:r>
                  <a:br>
                    <a:rPr dirty="0"/>
                  </a:br>
                  <a:r>
                    <a:rPr sz="2000" dirty="0"/>
                    <a:t>that makes tests pass</a:t>
                  </a:r>
                </a:p>
              </p:txBody>
            </p:sp>
          </p:grpSp>
          <p:sp>
            <p:nvSpPr>
              <p:cNvPr id="115" name="Arrow"/>
              <p:cNvSpPr/>
              <p:nvPr/>
            </p:nvSpPr>
            <p:spPr>
              <a:xfrm rot="5400000">
                <a:off x="1797592" y="2748789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BFBFB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18" name="Group"/>
              <p:cNvGrpSpPr/>
              <p:nvPr/>
            </p:nvGrpSpPr>
            <p:grpSpPr>
              <a:xfrm>
                <a:off x="15201" y="3029737"/>
                <a:ext cx="3820881" cy="769819"/>
                <a:chOff x="0" y="0"/>
                <a:chExt cx="3820879" cy="769818"/>
              </a:xfrm>
            </p:grpSpPr>
            <p:sp>
              <p:nvSpPr>
                <p:cNvPr id="116" name="Rounded Rectangle"/>
                <p:cNvSpPr/>
                <p:nvPr/>
              </p:nvSpPr>
              <p:spPr>
                <a:xfrm>
                  <a:off x="0" y="43444"/>
                  <a:ext cx="3820880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0ECC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17" name="Run tests and debug  until all tests pass"/>
                <p:cNvSpPr txBox="1"/>
                <p:nvPr/>
              </p:nvSpPr>
              <p:spPr>
                <a:xfrm>
                  <a:off x="20002" y="0"/>
                  <a:ext cx="3780876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/>
                  </a:pPr>
                  <a:r>
                    <a:rPr dirty="0"/>
                    <a:t>Run tests and debug </a:t>
                  </a:r>
                  <a:br>
                    <a:rPr dirty="0"/>
                  </a:br>
                  <a:r>
                    <a:rPr sz="2000" dirty="0"/>
                    <a:t>until </a:t>
                  </a:r>
                  <a:r>
                    <a:rPr sz="2000" i="1" dirty="0"/>
                    <a:t>all</a:t>
                  </a:r>
                  <a:r>
                    <a:rPr sz="2000" dirty="0"/>
                    <a:t> tests pass</a:t>
                  </a:r>
                </a:p>
              </p:txBody>
            </p:sp>
          </p:grpSp>
          <p:sp>
            <p:nvSpPr>
              <p:cNvPr id="119" name="Arrow"/>
              <p:cNvSpPr/>
              <p:nvPr/>
            </p:nvSpPr>
            <p:spPr>
              <a:xfrm rot="5400000">
                <a:off x="1797592" y="3773183"/>
                <a:ext cx="256099" cy="307319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FFFFFF"/>
              </a:solidFill>
              <a:ln w="38100" cap="flat">
                <a:solidFill>
                  <a:srgbClr val="BFBFB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22" name="Group"/>
              <p:cNvGrpSpPr/>
              <p:nvPr/>
            </p:nvGrpSpPr>
            <p:grpSpPr>
              <a:xfrm>
                <a:off x="15201" y="4054130"/>
                <a:ext cx="3820881" cy="769820"/>
                <a:chOff x="0" y="0"/>
                <a:chExt cx="3820879" cy="769818"/>
              </a:xfrm>
            </p:grpSpPr>
            <p:sp>
              <p:nvSpPr>
                <p:cNvPr id="120" name="Rounded Rectangle"/>
                <p:cNvSpPr/>
                <p:nvPr/>
              </p:nvSpPr>
              <p:spPr>
                <a:xfrm>
                  <a:off x="0" y="43444"/>
                  <a:ext cx="3820880" cy="68293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FFFFFF"/>
                </a:solidFill>
                <a:ln w="38100" cap="flat">
                  <a:solidFill>
                    <a:srgbClr val="BFBFBF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700"/>
                    </a:spcBef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21" name="Refactor and optimize  only if necessary"/>
                <p:cNvSpPr txBox="1"/>
                <p:nvPr/>
              </p:nvSpPr>
              <p:spPr>
                <a:xfrm>
                  <a:off x="20002" y="0"/>
                  <a:ext cx="3780876" cy="76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/>
                <a:p>
                  <a:pPr algn="ctr" defTabSz="1066800">
                    <a:lnSpc>
                      <a:spcPct val="90000"/>
                    </a:lnSpc>
                    <a:spcBef>
                      <a:spcPts val="1000"/>
                    </a:spcBef>
                    <a:defRPr sz="2400">
                      <a:solidFill>
                        <a:srgbClr val="D9D9D9"/>
                      </a:solidFill>
                    </a:defRPr>
                  </a:pPr>
                  <a:r>
                    <a:t>Refactor and optimize </a:t>
                  </a:r>
                  <a:br/>
                  <a:r>
                    <a:rPr sz="2000"/>
                    <a:t>only if necessary</a:t>
                  </a:r>
                </a:p>
              </p:txBody>
            </p:sp>
          </p:grpSp>
        </p:grpSp>
        <p:sp>
          <p:nvSpPr>
            <p:cNvPr id="124" name="U-Turn Arrow 17"/>
            <p:cNvSpPr/>
            <p:nvPr/>
          </p:nvSpPr>
          <p:spPr>
            <a:xfrm rot="16200000">
              <a:off x="-1800200" y="1914656"/>
              <a:ext cx="4392488" cy="7920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9450"/>
                  </a:lnTo>
                  <a:cubicBezTo>
                    <a:pt x="0" y="4231"/>
                    <a:pt x="763" y="0"/>
                    <a:pt x="1704" y="0"/>
                  </a:cubicBezTo>
                  <a:lnTo>
                    <a:pt x="19438" y="0"/>
                  </a:lnTo>
                  <a:cubicBezTo>
                    <a:pt x="20379" y="0"/>
                    <a:pt x="21142" y="4231"/>
                    <a:pt x="21142" y="9450"/>
                  </a:cubicBezTo>
                  <a:lnTo>
                    <a:pt x="21142" y="16200"/>
                  </a:lnTo>
                  <a:lnTo>
                    <a:pt x="21600" y="16200"/>
                  </a:lnTo>
                  <a:lnTo>
                    <a:pt x="20655" y="21600"/>
                  </a:lnTo>
                  <a:lnTo>
                    <a:pt x="19710" y="16200"/>
                  </a:lnTo>
                  <a:lnTo>
                    <a:pt x="20168" y="16200"/>
                  </a:lnTo>
                  <a:lnTo>
                    <a:pt x="20168" y="9450"/>
                  </a:lnTo>
                  <a:cubicBezTo>
                    <a:pt x="20168" y="7213"/>
                    <a:pt x="19841" y="5400"/>
                    <a:pt x="19438" y="5400"/>
                  </a:cubicBezTo>
                  <a:lnTo>
                    <a:pt x="1704" y="5400"/>
                  </a:lnTo>
                  <a:cubicBezTo>
                    <a:pt x="1301" y="5400"/>
                    <a:pt x="974" y="7213"/>
                    <a:pt x="974" y="9450"/>
                  </a:cubicBezTo>
                  <a:lnTo>
                    <a:pt x="974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/>
              </a:pPr>
              <a:endParaRPr/>
            </a:p>
          </p:txBody>
        </p:sp>
      </p:grpSp>
      <p:sp>
        <p:nvSpPr>
          <p:cNvPr id="126" name="U-Turn Arrow 18"/>
          <p:cNvSpPr/>
          <p:nvPr/>
        </p:nvSpPr>
        <p:spPr>
          <a:xfrm rot="16200000" flipV="1">
            <a:off x="6312024" y="4869160"/>
            <a:ext cx="1296145" cy="576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2977"/>
                </a:lnTo>
                <a:cubicBezTo>
                  <a:pt x="0" y="5810"/>
                  <a:pt x="2582" y="0"/>
                  <a:pt x="5768" y="0"/>
                </a:cubicBezTo>
                <a:lnTo>
                  <a:pt x="14894" y="0"/>
                </a:lnTo>
                <a:cubicBezTo>
                  <a:pt x="18079" y="0"/>
                  <a:pt x="20661" y="5810"/>
                  <a:pt x="20661" y="12977"/>
                </a:cubicBezTo>
                <a:lnTo>
                  <a:pt x="20661" y="15080"/>
                </a:lnTo>
                <a:lnTo>
                  <a:pt x="21600" y="15080"/>
                </a:lnTo>
                <a:lnTo>
                  <a:pt x="19200" y="21600"/>
                </a:lnTo>
                <a:lnTo>
                  <a:pt x="16800" y="15080"/>
                </a:lnTo>
                <a:lnTo>
                  <a:pt x="17739" y="15080"/>
                </a:lnTo>
                <a:lnTo>
                  <a:pt x="17739" y="12977"/>
                </a:lnTo>
                <a:cubicBezTo>
                  <a:pt x="17739" y="9442"/>
                  <a:pt x="16465" y="6576"/>
                  <a:pt x="14894" y="6576"/>
                </a:cubicBezTo>
                <a:lnTo>
                  <a:pt x="5768" y="6576"/>
                </a:lnTo>
                <a:cubicBezTo>
                  <a:pt x="4196" y="6576"/>
                  <a:pt x="2923" y="9442"/>
                  <a:pt x="2923" y="12977"/>
                </a:cubicBezTo>
                <a:lnTo>
                  <a:pt x="2923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BFBFBF"/>
            </a:solidFill>
            <a:miter/>
          </a:ln>
        </p:spPr>
        <p:txBody>
          <a:bodyPr lIns="45719" rIns="45719" anchor="ctr"/>
          <a:lstStyle/>
          <a:p>
            <a:pPr algn="ctr">
              <a:defRPr sz="2800"/>
            </a:pPr>
            <a:endParaRPr/>
          </a:p>
        </p:txBody>
      </p:sp>
      <p:pic>
        <p:nvPicPr>
          <p:cNvPr id="127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727702" y="4149080"/>
            <a:ext cx="2386137" cy="238613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132420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539540A-92A1-2A03-BD46-B7691B2A8E68}"/>
              </a:ext>
            </a:extLst>
          </p:cNvPr>
          <p:cNvSpPr txBox="1"/>
          <p:nvPr/>
        </p:nvSpPr>
        <p:spPr>
          <a:xfrm>
            <a:off x="2294626" y="3666226"/>
            <a:ext cx="793582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talk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about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testing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directory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works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have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tests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in a different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folder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have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installed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code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kumimoji="0" lang="de-DE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package</a:t>
            </a:r>
            <a:endParaRPr kumimoji="0" lang="de-DE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AC9DB-1D15-31E6-E660-FD36D452005D}"/>
              </a:ext>
            </a:extLst>
          </p:cNvPr>
          <p:cNvSpPr txBox="1"/>
          <p:nvPr/>
        </p:nvSpPr>
        <p:spPr>
          <a:xfrm>
            <a:off x="4084319" y="6400413"/>
            <a:ext cx="40233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Debugging, v3</a:t>
            </a:r>
            <a:r>
              <a:rPr dirty="0"/>
              <a:t>.0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EFC98EC5-7F12-F835-8303-5DF2B8B18C4E}"/>
              </a:ext>
            </a:extLst>
          </p:cNvPr>
          <p:cNvSpPr txBox="1"/>
          <p:nvPr/>
        </p:nvSpPr>
        <p:spPr>
          <a:xfrm>
            <a:off x="883919" y="6400413"/>
            <a:ext cx="26517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lang="en-US" dirty="0"/>
              <a:t>July 2026</a:t>
            </a:r>
            <a:r>
              <a:rPr dirty="0"/>
              <a:t>, CC BY-SA 4.0</a:t>
            </a:r>
          </a:p>
        </p:txBody>
      </p:sp>
    </p:spTree>
    <p:extLst>
      <p:ext uri="{BB962C8B-B14F-4D97-AF65-F5344CB8AC3E}">
        <p14:creationId xmlns:p14="http://schemas.microsoft.com/office/powerpoint/2010/main" val="141523240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oter Placeholder 2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sp>
        <p:nvSpPr>
          <p:cNvPr id="166" name="Rectangl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Entering the debugger from Jupyter</a:t>
            </a:r>
          </a:p>
        </p:txBody>
      </p:sp>
      <p:sp>
        <p:nvSpPr>
          <p:cNvPr id="167" name="Rectangle 3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%pdb 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– preventive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%debug 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– post-mortem</a:t>
            </a:r>
          </a:p>
        </p:txBody>
      </p:sp>
      <p:sp>
        <p:nvSpPr>
          <p:cNvPr id="168" name="Date Placeholder 1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16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pic>
        <p:nvPicPr>
          <p:cNvPr id="17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439" y="3610624"/>
            <a:ext cx="2743201" cy="2743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sp>
        <p:nvSpPr>
          <p:cNvPr id="18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Hands-on!</a:t>
            </a:r>
          </a:p>
        </p:txBody>
      </p:sp>
      <p:sp>
        <p:nvSpPr>
          <p:cNvPr id="18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9" y="1358454"/>
            <a:ext cx="8138122" cy="4818509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rPr dirty="0"/>
              <a:t>Go to </a:t>
            </a:r>
            <a:r>
              <a:rPr sz="2376" dirty="0" err="1">
                <a:latin typeface="Consolas"/>
                <a:ea typeface="Consolas"/>
                <a:cs typeface="Consolas"/>
                <a:sym typeface="Consolas"/>
              </a:rPr>
              <a:t>bug_hunt</a:t>
            </a:r>
            <a:r>
              <a:rPr sz="2376" dirty="0"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sz="2376" dirty="0" err="1">
                <a:latin typeface="Consolas"/>
                <a:ea typeface="Consolas"/>
                <a:cs typeface="Consolas"/>
                <a:sym typeface="Consolas"/>
              </a:rPr>
              <a:t>file_datastore.py</a:t>
            </a:r>
            <a:r>
              <a:rPr sz="2376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dirty="0"/>
              <a:t>and execute it</a:t>
            </a: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 marL="226313" indent="-226313" defTabSz="905255">
              <a:spcBef>
                <a:spcPts val="900"/>
              </a:spcBef>
              <a:defRPr sz="2772"/>
            </a:pPr>
            <a:endParaRPr dirty="0"/>
          </a:p>
          <a:p>
            <a:pPr marL="226313" indent="-226313" defTabSz="905255">
              <a:spcBef>
                <a:spcPts val="900"/>
              </a:spcBef>
              <a:defRPr sz="2772"/>
            </a:pPr>
            <a:endParaRPr dirty="0"/>
          </a:p>
          <a:p>
            <a:pPr marL="0" indent="0" defTabSz="905255">
              <a:spcBef>
                <a:spcPts val="900"/>
              </a:spcBef>
              <a:buSzTx/>
              <a:buNone/>
              <a:defRPr sz="2772"/>
            </a:pPr>
            <a:br>
              <a:rPr dirty="0"/>
            </a:br>
            <a:endParaRPr lang="de-DE" dirty="0"/>
          </a:p>
          <a:p>
            <a:pPr marL="226313" indent="-226313" defTabSz="905255">
              <a:spcBef>
                <a:spcPts val="900"/>
              </a:spcBef>
              <a:defRPr sz="2772"/>
            </a:pP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fails</a:t>
            </a:r>
            <a:r>
              <a:rPr lang="de-DE" dirty="0"/>
              <a:t>! But…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base_path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an absolute </a:t>
            </a:r>
            <a:r>
              <a:rPr lang="de-DE" dirty="0" err="1"/>
              <a:t>path</a:t>
            </a:r>
            <a:r>
              <a:rPr lang="de-DE" dirty="0"/>
              <a:t> :-(</a:t>
            </a:r>
          </a:p>
        </p:txBody>
      </p:sp>
      <p:sp>
        <p:nvSpPr>
          <p:cNvPr id="182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18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184" name="Rectangle 6"/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ln w="165100">
            <a:solidFill>
              <a:srgbClr val="00B05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304" y="3589166"/>
            <a:ext cx="2677490" cy="2677491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Box 8"/>
          <p:cNvSpPr txBox="1"/>
          <p:nvPr/>
        </p:nvSpPr>
        <p:spPr>
          <a:xfrm>
            <a:off x="1124754" y="2274836"/>
            <a:ext cx="7565012" cy="23266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080808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 dirty="0"/>
          </a:p>
          <a:p>
            <a:pPr>
              <a:defRPr>
                <a:solidFill>
                  <a:srgbClr val="08080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    data = </a:t>
            </a:r>
            <a:r>
              <a:rPr dirty="0" err="1">
                <a:solidFill>
                  <a:srgbClr val="8A822D"/>
                </a:solidFill>
              </a:rPr>
              <a:t>b'A</a:t>
            </a:r>
            <a:r>
              <a:rPr dirty="0">
                <a:solidFill>
                  <a:srgbClr val="8A822D"/>
                </a:solidFill>
              </a:rPr>
              <a:t> test! 012'</a:t>
            </a:r>
            <a:br>
              <a:rPr dirty="0">
                <a:solidFill>
                  <a:srgbClr val="8A822D"/>
                </a:solidFill>
              </a:rPr>
            </a:br>
            <a:r>
              <a:rPr dirty="0">
                <a:solidFill>
                  <a:srgbClr val="8A822D"/>
                </a:solidFill>
              </a:rPr>
              <a:t>    </a:t>
            </a:r>
            <a:r>
              <a:rPr dirty="0"/>
              <a:t>datastore = </a:t>
            </a:r>
            <a:r>
              <a:rPr dirty="0" err="1"/>
              <a:t>FileDatastore</a:t>
            </a:r>
            <a:r>
              <a:rPr dirty="0"/>
              <a:t>(</a:t>
            </a:r>
            <a:r>
              <a:rPr dirty="0" err="1">
                <a:solidFill>
                  <a:srgbClr val="660099"/>
                </a:solidFill>
              </a:rPr>
              <a:t>base_path</a:t>
            </a:r>
            <a:r>
              <a:rPr dirty="0"/>
              <a:t>=</a:t>
            </a:r>
            <a:r>
              <a:rPr dirty="0">
                <a:solidFill>
                  <a:srgbClr val="067D17"/>
                </a:solidFill>
              </a:rPr>
              <a:t>'./datastore'</a:t>
            </a:r>
            <a:r>
              <a:rPr dirty="0"/>
              <a:t>)</a:t>
            </a:r>
            <a:br>
              <a:rPr dirty="0"/>
            </a:br>
            <a:r>
              <a:rPr dirty="0"/>
              <a:t>    </a:t>
            </a:r>
            <a:r>
              <a:rPr dirty="0" err="1"/>
              <a:t>datastore.write</a:t>
            </a:r>
            <a:r>
              <a:rPr dirty="0"/>
              <a:t>(</a:t>
            </a:r>
            <a:r>
              <a:rPr dirty="0">
                <a:solidFill>
                  <a:srgbClr val="067D17"/>
                </a:solidFill>
              </a:rPr>
              <a:t>'a/</a:t>
            </a:r>
            <a:r>
              <a:rPr dirty="0" err="1">
                <a:solidFill>
                  <a:srgbClr val="067D17"/>
                </a:solidFill>
              </a:rPr>
              <a:t>mydata.bin</a:t>
            </a:r>
            <a:r>
              <a:rPr dirty="0">
                <a:solidFill>
                  <a:srgbClr val="067D17"/>
                </a:solidFill>
              </a:rPr>
              <a:t>'</a:t>
            </a:r>
            <a:r>
              <a:rPr dirty="0"/>
              <a:t>, data)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i="1" dirty="0">
                <a:solidFill>
                  <a:srgbClr val="8C8C8C"/>
                </a:solidFill>
              </a:rPr>
              <a:t># This should pass!</a:t>
            </a:r>
            <a:br>
              <a:rPr i="1" dirty="0">
                <a:solidFill>
                  <a:srgbClr val="8C8C8C"/>
                </a:solidFill>
              </a:rPr>
            </a:br>
            <a:r>
              <a:rPr i="1" dirty="0">
                <a:solidFill>
                  <a:srgbClr val="8C8C8C"/>
                </a:solidFill>
              </a:rPr>
              <a:t>    </a:t>
            </a:r>
            <a:r>
              <a:rPr dirty="0">
                <a:solidFill>
                  <a:srgbClr val="0033B3"/>
                </a:solidFill>
              </a:rPr>
              <a:t>assert </a:t>
            </a:r>
            <a:r>
              <a:rPr dirty="0" err="1"/>
              <a:t>os.path.exists</a:t>
            </a:r>
            <a:r>
              <a:rPr dirty="0"/>
              <a:t>(</a:t>
            </a:r>
            <a:r>
              <a:rPr dirty="0">
                <a:solidFill>
                  <a:srgbClr val="067D17"/>
                </a:solidFill>
              </a:rPr>
              <a:t>'./datastore/a/</a:t>
            </a:r>
            <a:r>
              <a:rPr dirty="0" err="1">
                <a:solidFill>
                  <a:srgbClr val="067D17"/>
                </a:solidFill>
              </a:rPr>
              <a:t>mydata.bin</a:t>
            </a:r>
            <a:r>
              <a:rPr dirty="0">
                <a:solidFill>
                  <a:srgbClr val="067D17"/>
                </a:solidFill>
              </a:rPr>
              <a:t>’</a:t>
            </a:r>
            <a:r>
              <a:rPr dirty="0"/>
              <a:t>)</a:t>
            </a:r>
          </a:p>
        </p:txBody>
      </p:sp>
      <p:sp>
        <p:nvSpPr>
          <p:cNvPr id="187" name="Change this exercise!!!!…"/>
          <p:cNvSpPr/>
          <p:nvPr/>
        </p:nvSpPr>
        <p:spPr>
          <a:xfrm>
            <a:off x="9095209" y="181942"/>
            <a:ext cx="2764279" cy="3569541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C26249"/>
              </a:gs>
              <a:gs pos="50000">
                <a:srgbClr val="BF4611"/>
              </a:gs>
              <a:gs pos="100000">
                <a:srgbClr val="B03B08"/>
              </a:gs>
            </a:gsLst>
            <a:lin ang="5400000"/>
          </a:gradFill>
          <a:ln w="6350">
            <a:solidFill>
              <a:srgbClr val="B74919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pPr defTabSz="457200">
              <a:defRPr>
                <a:solidFill>
                  <a:srgbClr val="FFFFFF"/>
                </a:solidFill>
              </a:defRPr>
            </a:pPr>
            <a:r>
              <a:t>Change this exercise!!!!</a:t>
            </a:r>
          </a:p>
          <a:p>
            <a:pPr defTabSz="457200">
              <a:defRPr>
                <a:solidFill>
                  <a:srgbClr val="FFFFFF"/>
                </a:solidFill>
              </a:defRPr>
            </a:pPr>
            <a:endParaRPr/>
          </a:p>
          <a:p>
            <a:pPr defTabSz="457200">
              <a:defRPr>
                <a:solidFill>
                  <a:srgbClr val="FFFFFF"/>
                </a:solidFill>
              </a:defRPr>
            </a:pPr>
            <a:r>
              <a:t>Maybe debug a script or maybe even better - a test?</a:t>
            </a:r>
          </a:p>
        </p:txBody>
      </p:sp>
    </p:spTree>
    <p:extLst>
      <p:ext uri="{BB962C8B-B14F-4D97-AF65-F5344CB8AC3E}">
        <p14:creationId xmlns:p14="http://schemas.microsoft.com/office/powerpoint/2010/main" val="415823346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Footer Placeholder 6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pic>
        <p:nvPicPr>
          <p:cNvPr id="200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556" y="3813931"/>
            <a:ext cx="2678944" cy="2678944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Title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Static checking and linting</a:t>
            </a:r>
          </a:p>
        </p:txBody>
      </p:sp>
      <p:sp>
        <p:nvSpPr>
          <p:cNvPr id="202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 dirty="0"/>
              <a:t>One of the problems with debugging in Python is that most bugs only appear when the code executes.</a:t>
            </a:r>
          </a:p>
          <a:p>
            <a:pPr marL="0" indent="0">
              <a:buSzTx/>
              <a:buNone/>
            </a:pPr>
            <a:r>
              <a:rPr dirty="0"/>
              <a:t>“Static checking” tools analyze the code without executing it.</a:t>
            </a:r>
          </a:p>
          <a:p>
            <a:pPr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pep8</a:t>
            </a:r>
            <a:r>
              <a:rPr dirty="0">
                <a:latin typeface="Calibri"/>
                <a:ea typeface="Calibri"/>
                <a:cs typeface="Calibri"/>
                <a:sym typeface="Calibri"/>
              </a:rPr>
              <a:t>: check that the style of the files is compatible with PEP8</a:t>
            </a:r>
          </a:p>
          <a:p>
            <a:pPr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rPr dirty="0" err="1"/>
              <a:t>pyflakes</a:t>
            </a:r>
            <a:r>
              <a:rPr dirty="0">
                <a:latin typeface="Calibri"/>
                <a:ea typeface="Calibri"/>
                <a:cs typeface="Calibri"/>
                <a:sym typeface="Calibri"/>
              </a:rPr>
              <a:t>: look for errors like defined but unused variables, undefined names, etc.</a:t>
            </a:r>
          </a:p>
          <a:p>
            <a:pPr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flake8</a:t>
            </a:r>
            <a:r>
              <a:rPr dirty="0">
                <a:latin typeface="Calibri"/>
                <a:ea typeface="Calibri"/>
                <a:cs typeface="Calibri"/>
                <a:sym typeface="Calibri"/>
              </a:rPr>
              <a:t>: pep8 and </a:t>
            </a:r>
            <a:r>
              <a:rPr dirty="0" err="1">
                <a:latin typeface="Calibri"/>
                <a:ea typeface="Calibri"/>
                <a:cs typeface="Calibri"/>
                <a:sym typeface="Calibri"/>
              </a:rPr>
              <a:t>pyflakes</a:t>
            </a:r>
            <a:r>
              <a:rPr dirty="0">
                <a:latin typeface="Calibri"/>
                <a:ea typeface="Calibri"/>
                <a:cs typeface="Calibri"/>
                <a:sym typeface="Calibri"/>
              </a:rPr>
              <a:t> in a single, handy command</a:t>
            </a:r>
          </a:p>
          <a:p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dirty="0"/>
              <a:t>and also: </a:t>
            </a:r>
            <a:r>
              <a:rPr dirty="0" err="1">
                <a:latin typeface="Consolas"/>
                <a:ea typeface="Consolas"/>
                <a:cs typeface="Consolas"/>
                <a:sym typeface="Consolas"/>
              </a:rPr>
              <a:t>yapf</a:t>
            </a:r>
            <a:r>
              <a:rPr dirty="0">
                <a:latin typeface="Consolas"/>
                <a:ea typeface="Consolas"/>
                <a:cs typeface="Consolas"/>
                <a:sym typeface="Consolas"/>
              </a:rPr>
              <a:t>, black, …</a:t>
            </a:r>
          </a:p>
        </p:txBody>
      </p:sp>
      <p:sp>
        <p:nvSpPr>
          <p:cNvPr id="203" name="Date Placeholder 5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204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205" name="Modify this and adapt to not have overlap with organising lecture"/>
          <p:cNvSpPr/>
          <p:nvPr/>
        </p:nvSpPr>
        <p:spPr>
          <a:xfrm>
            <a:off x="9095209" y="181942"/>
            <a:ext cx="2764279" cy="3569541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C26249"/>
              </a:gs>
              <a:gs pos="50000">
                <a:srgbClr val="BF4611"/>
              </a:gs>
              <a:gs pos="100000">
                <a:srgbClr val="B03B08"/>
              </a:gs>
            </a:gsLst>
            <a:lin ang="5400000"/>
          </a:gradFill>
          <a:ln w="6350">
            <a:solidFill>
              <a:srgbClr val="B74919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defTabSz="457200">
              <a:defRPr>
                <a:solidFill>
                  <a:srgbClr val="FFFFFF"/>
                </a:solidFill>
              </a:defRPr>
            </a:lvl1pPr>
          </a:lstStyle>
          <a:p>
            <a:r>
              <a:t>Modify this and adapt to not have overlap with organising lecture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sp>
        <p:nvSpPr>
          <p:cNvPr id="19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Hands-on!</a:t>
            </a:r>
          </a:p>
        </p:txBody>
      </p:sp>
      <p:sp>
        <p:nvSpPr>
          <p:cNvPr id="19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358454"/>
            <a:ext cx="10515600" cy="4818509"/>
          </a:xfrm>
          <a:prstGeom prst="rect">
            <a:avLst/>
          </a:prstGeom>
        </p:spPr>
        <p:txBody>
          <a:bodyPr/>
          <a:lstStyle/>
          <a:p>
            <a:r>
              <a:t>Fix the bug in </a:t>
            </a:r>
            <a:r>
              <a:rPr sz="2400">
                <a:latin typeface="Consolas"/>
                <a:ea typeface="Consolas"/>
                <a:cs typeface="Consolas"/>
                <a:sym typeface="Consolas"/>
              </a:rPr>
              <a:t>file_datastore.py</a:t>
            </a:r>
            <a:r>
              <a:t>, using the debugger</a:t>
            </a:r>
          </a:p>
          <a:p>
            <a:r>
              <a:t>Submit a PR for issue #1 in the repository</a:t>
            </a:r>
          </a:p>
        </p:txBody>
      </p:sp>
      <p:sp>
        <p:nvSpPr>
          <p:cNvPr id="192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19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194" name="Rectangle 6"/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ln w="165100">
            <a:solidFill>
              <a:srgbClr val="00B05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926052"/>
            <a:ext cx="6438111" cy="33406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304" y="3589166"/>
            <a:ext cx="2677490" cy="2677491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Box 11"/>
          <p:cNvSpPr txBox="1"/>
          <p:nvPr/>
        </p:nvSpPr>
        <p:spPr>
          <a:xfrm>
            <a:off x="1026161" y="2556721"/>
            <a:ext cx="187236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rPr dirty="0" err="1"/>
              <a:t>pdb</a:t>
            </a:r>
            <a:r>
              <a:rPr dirty="0"/>
              <a:t> </a:t>
            </a:r>
            <a:r>
              <a:rPr dirty="0" err="1"/>
              <a:t>cheatsheet</a:t>
            </a:r>
            <a:endParaRPr dirty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Footer Placeholder 3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pic>
        <p:nvPicPr>
          <p:cNvPr id="13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076" y="3933054"/>
            <a:ext cx="2560188" cy="2560188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Rectangl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Tools for Debugging</a:t>
            </a:r>
            <a:endParaRPr dirty="0"/>
          </a:p>
        </p:txBody>
      </p:sp>
      <p:sp>
        <p:nvSpPr>
          <p:cNvPr id="134" name="Rectangle 3"/>
          <p:cNvSpPr txBox="1">
            <a:spLocks noGrp="1"/>
          </p:cNvSpPr>
          <p:nvPr>
            <p:ph type="body" idx="1"/>
          </p:nvPr>
        </p:nvSpPr>
        <p:spPr>
          <a:xfrm>
            <a:off x="983431" y="1484783"/>
            <a:ext cx="9169860" cy="46921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Text editor + terminal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pdb</a:t>
            </a:r>
            <a:r>
              <a:rPr lang="en-US" dirty="0">
                <a:sym typeface="Wingdings" pitchFamily="2" charset="2"/>
              </a:rPr>
              <a:t> (Python’s built-in debugger)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VSCode</a:t>
            </a:r>
            <a:r>
              <a:rPr lang="en-US" dirty="0">
                <a:sym typeface="Wingdings" pitchFamily="2" charset="2"/>
              </a:rPr>
              <a:t> (IDE)  </a:t>
            </a:r>
            <a:r>
              <a:rPr lang="en-US" dirty="0" err="1">
                <a:sym typeface="Wingdings" pitchFamily="2" charset="2"/>
              </a:rPr>
              <a:t>VSCode</a:t>
            </a:r>
            <a:r>
              <a:rPr lang="en-US" dirty="0">
                <a:sym typeface="Wingdings" pitchFamily="2" charset="2"/>
              </a:rPr>
              <a:t> built-in debugger</a:t>
            </a:r>
          </a:p>
          <a:p>
            <a:r>
              <a:rPr lang="en-US" dirty="0">
                <a:sym typeface="Wingdings" pitchFamily="2" charset="2"/>
              </a:rPr>
              <a:t>PyCharm (IDE)  PyCharm built-in debugger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Jupyter</a:t>
            </a:r>
            <a:r>
              <a:rPr lang="en-US" dirty="0">
                <a:sym typeface="Wingdings" pitchFamily="2" charset="2"/>
              </a:rPr>
              <a:t>  (?) built-in debugger</a:t>
            </a:r>
          </a:p>
          <a:p>
            <a:endParaRPr lang="en-US" dirty="0"/>
          </a:p>
        </p:txBody>
      </p:sp>
      <p:sp>
        <p:nvSpPr>
          <p:cNvPr id="135" name="Date Placeholder 2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13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10092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Footer Placeholder 6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Debugging, v2.0</a:t>
            </a:r>
          </a:p>
        </p:txBody>
      </p:sp>
      <p:sp>
        <p:nvSpPr>
          <p:cNvPr id="21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4"/>
          </a:xfrm>
          <a:prstGeom prst="rect">
            <a:avLst/>
          </a:prstGeom>
        </p:spPr>
        <p:txBody>
          <a:bodyPr/>
          <a:lstStyle/>
          <a:p>
            <a:r>
              <a:t>Hands-on!</a:t>
            </a:r>
          </a:p>
        </p:txBody>
      </p:sp>
      <p:sp>
        <p:nvSpPr>
          <p:cNvPr id="21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484783"/>
            <a:ext cx="10515600" cy="4692181"/>
          </a:xfrm>
          <a:prstGeom prst="rect">
            <a:avLst/>
          </a:prstGeom>
        </p:spPr>
        <p:txBody>
          <a:bodyPr/>
          <a:lstStyle/>
          <a:p>
            <a:r>
              <a:t>Run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flake8</a:t>
            </a:r>
            <a:r>
              <a:t> on one the files you edited today</a:t>
            </a:r>
          </a:p>
        </p:txBody>
      </p:sp>
      <p:sp>
        <p:nvSpPr>
          <p:cNvPr id="212" name="Date Placeholder 5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August 2023, CC BY-SA 4.0</a:t>
            </a:r>
          </a:p>
        </p:txBody>
      </p:sp>
      <p:sp>
        <p:nvSpPr>
          <p:cNvPr id="21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pic>
        <p:nvPicPr>
          <p:cNvPr id="21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634" y="3562424"/>
            <a:ext cx="2614540" cy="2614540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Rectangle 8"/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ln w="165100">
            <a:solidFill>
              <a:srgbClr val="00B05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2374</Words>
  <Application>Microsoft Macintosh PowerPoint</Application>
  <PresentationFormat>Widescreen</PresentationFormat>
  <Paragraphs>332</Paragraphs>
  <Slides>22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PowerPoint Presentation</vt:lpstr>
      <vt:lpstr>The very first computer bug</vt:lpstr>
      <vt:lpstr>Debugging and the agile development cycle</vt:lpstr>
      <vt:lpstr>Debugging and the agile development cycle</vt:lpstr>
      <vt:lpstr>Debugging and the agile development cycle</vt:lpstr>
      <vt:lpstr>pdb, the Python debugger</vt:lpstr>
      <vt:lpstr>Entering the debugger</vt:lpstr>
      <vt:lpstr>Demonstration!</vt:lpstr>
      <vt:lpstr>Hands-on! – Issue #2</vt:lpstr>
      <vt:lpstr>Demonstration!</vt:lpstr>
      <vt:lpstr>Entering the debugger from VSCode</vt:lpstr>
      <vt:lpstr>Test, debug, then commit and create a PR</vt:lpstr>
      <vt:lpstr>The End</vt:lpstr>
      <vt:lpstr>PowerPoint Presentation</vt:lpstr>
      <vt:lpstr>The agile development cycle</vt:lpstr>
      <vt:lpstr>PowerPoint Presentation</vt:lpstr>
      <vt:lpstr>Entering the debugger from Jupyter</vt:lpstr>
      <vt:lpstr>Hands-on!</vt:lpstr>
      <vt:lpstr>Static checking and linting</vt:lpstr>
      <vt:lpstr>Hands-on!</vt:lpstr>
      <vt:lpstr>Tools for Debugging</vt:lpstr>
      <vt:lpstr>Hands-on!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Pietro Berkes</cp:lastModifiedBy>
  <cp:revision>51</cp:revision>
  <dcterms:modified xsi:type="dcterms:W3CDTF">2026-07-28T15:54:58Z</dcterms:modified>
</cp:coreProperties>
</file>