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91"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90" r:id="rId33"/>
    <p:sldId id="263" r:id="rId34"/>
    <p:sldId id="269" r:id="rId35"/>
    <p:sldId id="288" r:id="rId36"/>
    <p:sldId id="289" r:id="rId3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DD5"/>
          </a:solidFill>
        </a:fill>
      </a:tcStyle>
    </a:wholeTbl>
    <a:band2H>
      <a:tcTxStyle/>
      <a:tcStyle>
        <a:tcBdr/>
        <a:fill>
          <a:solidFill>
            <a:srgbClr val="E7EFEB"/>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E3ED"/>
          </a:solidFill>
        </a:fill>
      </a:tcStyle>
    </a:wholeTbl>
    <a:band2H>
      <a:tcTxStyle/>
      <a:tcStyle>
        <a:tcBdr/>
        <a:fill>
          <a:solidFill>
            <a:srgbClr val="E7F2F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ADECB"/>
          </a:solidFill>
        </a:fill>
      </a:tcStyle>
    </a:wholeTbl>
    <a:band2H>
      <a:tcTxStyle/>
      <a:tcStyle>
        <a:tcBdr/>
        <a:fill>
          <a:solidFill>
            <a:srgbClr val="FCEF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732"/>
    <p:restoredTop sz="50693"/>
  </p:normalViewPr>
  <p:slideViewPr>
    <p:cSldViewPr snapToGrid="0">
      <p:cViewPr varScale="1">
        <p:scale>
          <a:sx n="60" d="100"/>
          <a:sy n="60" d="100"/>
        </p:scale>
        <p:origin x="168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8" name="Shape 98"/>
          <p:cNvSpPr>
            <a:spLocks noGrp="1" noRot="1" noChangeAspect="1"/>
          </p:cNvSpPr>
          <p:nvPr>
            <p:ph type="sldImg"/>
          </p:nvPr>
        </p:nvSpPr>
        <p:spPr>
          <a:xfrm>
            <a:off x="1143000" y="685800"/>
            <a:ext cx="4572000" cy="3429000"/>
          </a:xfrm>
          <a:prstGeom prst="rect">
            <a:avLst/>
          </a:prstGeom>
        </p:spPr>
        <p:txBody>
          <a:bodyPr/>
          <a:lstStyle/>
          <a:p>
            <a:endParaRPr/>
          </a:p>
        </p:txBody>
      </p:sp>
      <p:sp>
        <p:nvSpPr>
          <p:cNvPr id="99" name="Shape 9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b="1" dirty="0" err="1"/>
              <a:t>materials</a:t>
            </a:r>
            <a:r>
              <a:rPr lang="de-DE" b="1" dirty="0"/>
              <a:t> </a:t>
            </a:r>
            <a:r>
              <a:rPr lang="de-DE" b="1" dirty="0" err="1"/>
              <a:t>by</a:t>
            </a:r>
            <a:r>
              <a:rPr lang="de-DE" b="1" dirty="0"/>
              <a:t> Pietro </a:t>
            </a:r>
          </a:p>
          <a:p>
            <a:endParaRPr lang="de-DE" dirty="0"/>
          </a:p>
          <a:p>
            <a:r>
              <a:rPr lang="en-GB" b="0" dirty="0">
                <a:solidFill>
                  <a:srgbClr val="ABB2BF"/>
                </a:solidFill>
                <a:effectLst/>
                <a:latin typeface="Menlo" panose="020B0609030804020204" pitchFamily="49" charset="0"/>
              </a:rPr>
              <a:t>Testing is about confidence in scientific code, especially when results may look plausible but be wrong.</a:t>
            </a:r>
          </a:p>
          <a:p>
            <a:endParaRPr lang="en-GB" b="0" dirty="0">
              <a:solidFill>
                <a:srgbClr val="ABB2BF"/>
              </a:solidFill>
              <a:effectLst/>
              <a:latin typeface="Menlo" panose="020B0609030804020204" pitchFamily="49" charset="0"/>
            </a:endParaRPr>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Today is about making scientific code safer to change. Many of us have code that once worked in a notebook or script, but later became hard to modify because we were afraid of breaking the result. Testing gives us a way to turn assumptions into executable checks.</a:t>
            </a:r>
            <a:endParaRPr lang="en-GB" b="0" dirty="0">
              <a:solidFill>
                <a:srgbClr val="ABB2BF"/>
              </a:solidFill>
              <a:effectLst/>
              <a:latin typeface="Menlo" panose="020B0609030804020204" pitchFamily="49" charset="0"/>
            </a:endParaRPr>
          </a:p>
          <a:p>
            <a:endParaRPr lang="de-DE" dirty="0"/>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We are going to use `</a:t>
            </a:r>
            <a:r>
              <a:rPr lang="en-GB" b="0" i="1" dirty="0" err="1">
                <a:solidFill>
                  <a:srgbClr val="5C6370"/>
                </a:solidFill>
                <a:effectLst/>
                <a:latin typeface="Menlo" panose="020B0609030804020204" pitchFamily="49" charset="0"/>
              </a:rPr>
              <a:t>pytest</a:t>
            </a:r>
            <a:r>
              <a:rPr lang="en-GB" b="0" i="1" dirty="0">
                <a:solidFill>
                  <a:srgbClr val="5C6370"/>
                </a:solidFill>
                <a:effectLst/>
                <a:latin typeface="Menlo" panose="020B0609030804020204" pitchFamily="49" charset="0"/>
              </a:rPr>
              <a:t>`, but the main idea is not </a:t>
            </a:r>
            <a:r>
              <a:rPr lang="en-GB" b="0" i="1" dirty="0" err="1">
                <a:solidFill>
                  <a:srgbClr val="5C6370"/>
                </a:solidFill>
                <a:effectLst/>
                <a:latin typeface="Menlo" panose="020B0609030804020204" pitchFamily="49" charset="0"/>
              </a:rPr>
              <a:t>pytest</a:t>
            </a:r>
            <a:r>
              <a:rPr lang="en-GB" b="0" i="1" dirty="0">
                <a:solidFill>
                  <a:srgbClr val="5C6370"/>
                </a:solidFill>
                <a:effectLst/>
                <a:latin typeface="Menlo" panose="020B0609030804020204" pitchFamily="49" charset="0"/>
              </a:rPr>
              <a:t> syntax. The main idea is the workflow: define expected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run it automatically, read failures, and use tests as protection while improving code.</a:t>
            </a:r>
            <a:endParaRPr lang="en-GB" b="0" dirty="0">
              <a:solidFill>
                <a:srgbClr val="ABB2BF"/>
              </a:solidFill>
              <a:effectLst/>
              <a:latin typeface="Menlo" panose="020B0609030804020204" pitchFamily="49" charset="0"/>
            </a:endParaRPr>
          </a:p>
          <a:p>
            <a:endParaRPr lang="de-DE" dirty="0"/>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Before we talk about testing tools, let’s start with a small function where the expected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looks obvious — until we hit edge cases.</a:t>
            </a:r>
            <a:endParaRPr lang="en-GB" b="0" dirty="0">
              <a:solidFill>
                <a:srgbClr val="ABB2BF"/>
              </a:solidFill>
              <a:effectLst/>
              <a:latin typeface="Menlo" panose="020B0609030804020204" pitchFamily="49" charset="0"/>
            </a:endParaRPr>
          </a:p>
          <a:p>
            <a:endParaRPr lang="de-DE" dirty="0"/>
          </a:p>
        </p:txBody>
      </p:sp>
    </p:spTree>
    <p:extLst>
      <p:ext uri="{BB962C8B-B14F-4D97-AF65-F5344CB8AC3E}">
        <p14:creationId xmlns:p14="http://schemas.microsoft.com/office/powerpoint/2010/main" val="3357164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dirty="0">
                <a:solidFill>
                  <a:srgbClr val="ABB2BF"/>
                </a:solidFill>
                <a:effectLst/>
                <a:latin typeface="Menlo" panose="020B0609030804020204" pitchFamily="49" charset="0"/>
              </a:rPr>
              <a:t>The ideal research workflow is: prototype quickly, decide whether the idea is useful, reorganize, optimize, scale, and trust the result.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 problem is that without tests, refactoring and scaling become risky.</a:t>
            </a:r>
          </a:p>
          <a:p>
            <a:endParaRPr lang="en-GB" b="0" dirty="0">
              <a:solidFill>
                <a:srgbClr val="ABB2BF"/>
              </a:solidFill>
              <a:effectLst/>
              <a:latin typeface="Menlo" panose="020B0609030804020204" pitchFamily="49" charset="0"/>
            </a:endParaRPr>
          </a:p>
          <a:p>
            <a:r>
              <a:rPr lang="en-GB" b="0" i="1" dirty="0">
                <a:solidFill>
                  <a:srgbClr val="5C6370"/>
                </a:solidFill>
                <a:effectLst/>
                <a:latin typeface="Menlo" panose="020B0609030804020204" pitchFamily="49" charset="0"/>
              </a:rPr>
              <a:t>&gt; This slide describes the workflow we all want: prototype quickly, decide whether the idea is useful, then reorganize, optimize, and scale it. The problem is that after the prototype phase, many scientific codebases become fragile. You want to clean them up, but you are not sure whether a change silently changed the result.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Ask:</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What usually prevents you from refactoring old research code?</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 I am afraid of changing the results.</a:t>
            </a:r>
          </a:p>
          <a:p>
            <a:r>
              <a:rPr lang="en-GB" b="0" dirty="0">
                <a:solidFill>
                  <a:srgbClr val="ABB2BF"/>
                </a:solidFill>
                <a:effectLst/>
                <a:latin typeface="Menlo" panose="020B0609030804020204" pitchFamily="49" charset="0"/>
              </a:rPr>
              <a:t>- There is no reference output.</a:t>
            </a:r>
          </a:p>
          <a:p>
            <a:r>
              <a:rPr lang="en-GB" b="0" dirty="0">
                <a:solidFill>
                  <a:srgbClr val="ABB2BF"/>
                </a:solidFill>
                <a:effectLst/>
                <a:latin typeface="Menlo" panose="020B0609030804020204" pitchFamily="49" charset="0"/>
              </a:rPr>
              <a:t>- It only works in one notebook.</a:t>
            </a:r>
          </a:p>
          <a:p>
            <a:r>
              <a:rPr lang="en-GB" b="0" dirty="0">
                <a:solidFill>
                  <a:srgbClr val="ABB2BF"/>
                </a:solidFill>
                <a:effectLst/>
                <a:latin typeface="Menlo" panose="020B0609030804020204" pitchFamily="49" charset="0"/>
              </a:rPr>
              <a:t>- I do not know which scripts still matter.</a:t>
            </a:r>
          </a:p>
          <a:p>
            <a:r>
              <a:rPr lang="en-GB" b="0" dirty="0">
                <a:solidFill>
                  <a:srgbClr val="ABB2BF"/>
                </a:solidFill>
                <a:effectLst/>
                <a:latin typeface="Menlo" panose="020B0609030804020204" pitchFamily="49" charset="0"/>
              </a:rPr>
              <a:t>- The original environment changed.</a:t>
            </a:r>
          </a:p>
          <a:p>
            <a:endParaRPr lang="en-DE" dirty="0"/>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Tests are how we preserve scientific intent while changing implementation.</a:t>
            </a:r>
            <a:endParaRPr lang="en-GB" b="0" dirty="0">
              <a:solidFill>
                <a:srgbClr val="ABB2BF"/>
              </a:solidFill>
              <a:effectLst/>
              <a:latin typeface="Menlo" panose="020B0609030804020204" pitchFamily="49" charset="0"/>
            </a:endParaRPr>
          </a:p>
          <a:p>
            <a:endParaRPr lang="en-DE" dirty="0"/>
          </a:p>
        </p:txBody>
      </p:sp>
    </p:spTree>
    <p:extLst>
      <p:ext uri="{BB962C8B-B14F-4D97-AF65-F5344CB8AC3E}">
        <p14:creationId xmlns:p14="http://schemas.microsoft.com/office/powerpoint/2010/main" val="2520280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381000" y="685800"/>
            <a:ext cx="6096000" cy="3429000"/>
          </a:xfrm>
          <a:prstGeom prst="rect">
            <a:avLst/>
          </a:prstGeom>
        </p:spPr>
        <p:txBody>
          <a:bodyPr/>
          <a:lstStyle/>
          <a:p>
            <a:endParaRPr/>
          </a:p>
        </p:txBody>
      </p:sp>
      <p:sp>
        <p:nvSpPr>
          <p:cNvPr id="120" name="Shape 120"/>
          <p:cNvSpPr>
            <a:spLocks noGrp="1"/>
          </p:cNvSpPr>
          <p:nvPr>
            <p:ph type="body" sz="quarter" idx="1"/>
          </p:nvPr>
        </p:nvSpPr>
        <p:spPr>
          <a:prstGeom prst="rect">
            <a:avLst/>
          </a:prstGeom>
        </p:spPr>
        <p:txBody>
          <a:bodyPr/>
          <a:lstStyle/>
          <a:p>
            <a:r>
              <a:rPr lang="en-US" dirty="0"/>
              <a:t>How do we reach this dream state where we are so efficient to just write code and re-use it without problem, and we are confident that it gives the correct result. </a:t>
            </a:r>
          </a:p>
          <a:p>
            <a:endParaRPr lang="en-US" dirty="0"/>
          </a:p>
          <a:p>
            <a:endParaRPr lang="en-US" dirty="0"/>
          </a:p>
          <a:p>
            <a:r>
              <a:rPr lang="en-US" dirty="0"/>
              <a:t>Being good at Python is one thing, but there are also general programming </a:t>
            </a:r>
            <a:r>
              <a:rPr lang="en-US" dirty="0" err="1"/>
              <a:t>behaviours</a:t>
            </a:r>
            <a:r>
              <a:rPr lang="en-US" dirty="0"/>
              <a:t> that can help you and in this lecture we will go over a few of them. </a:t>
            </a:r>
          </a:p>
          <a:p>
            <a:endParaRPr lang="en-US" dirty="0"/>
          </a:p>
          <a:p>
            <a:r>
              <a:rPr lang="en-GB" b="0" i="1" dirty="0">
                <a:solidFill>
                  <a:srgbClr val="5C6370"/>
                </a:solidFill>
                <a:effectLst/>
                <a:latin typeface="Menlo" panose="020B0609030804020204" pitchFamily="49" charset="0"/>
              </a:rPr>
              <a:t>&gt; Python knowledge is necessary, but not sufficient. The bigger issue is engineering workflow: version control, testing, debugging, profiling, and automation. Today we start with testing, because it supports all the others.</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Then:</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Debugging without tests often means fixing the same bug repeatedly. Profiling without tests can make wrong code faster. CI without tests has nothing meaningful to run.</a:t>
            </a:r>
            <a:endParaRPr lang="en-GB" b="0" dirty="0">
              <a:solidFill>
                <a:srgbClr val="ABB2BF"/>
              </a:solidFill>
              <a:effectLst/>
              <a:latin typeface="Menlo" panose="020B0609030804020204" pitchFamily="49" charset="0"/>
            </a:endParaRPr>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The full course covers the agile programming cycle, testing basics, scientific testing patterns, debugging, and continuous integration. This first part focuses on the basics: how to write and run tests, how to interpret failures, and how to handle numerical and NumPy-specific comparisons.</a:t>
            </a:r>
            <a:endParaRPr lang="en-GB" b="0" dirty="0">
              <a:solidFill>
                <a:srgbClr val="ABB2BF"/>
              </a:solidFill>
              <a:effectLst/>
              <a:latin typeface="Menlo" panose="020B0609030804020204" pitchFamily="49" charset="0"/>
            </a:endParaRPr>
          </a:p>
          <a:p>
            <a:endParaRPr lang="en-DE" dirty="0"/>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We will go back and forth between slides and terminal. I will not only show the correct code; I want us to intentionally create failures and read them.</a:t>
            </a:r>
            <a:endParaRPr lang="en-GB" b="0" dirty="0">
              <a:solidFill>
                <a:srgbClr val="ABB2BF"/>
              </a:solidFill>
              <a:effectLst/>
              <a:latin typeface="Menlo" panose="020B0609030804020204" pitchFamily="49" charset="0"/>
            </a:endParaRPr>
          </a:p>
          <a:p>
            <a:endParaRPr lang="en-DE" dirty="0"/>
          </a:p>
          <a:p>
            <a:r>
              <a:rPr lang="en-GB" b="0" i="1" dirty="0">
                <a:solidFill>
                  <a:srgbClr val="5C6370"/>
                </a:solidFill>
                <a:effectLst/>
                <a:latin typeface="Menlo" panose="020B0609030804020204" pitchFamily="49" charset="0"/>
              </a:rPr>
              <a:t>&gt; Let’s begin with a small function: find the local maxima in a list.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endParaRPr lang="en-GB" b="0" dirty="0">
              <a:solidFill>
                <a:srgbClr val="ABB2BF"/>
              </a:solidFill>
              <a:effectLst/>
              <a:latin typeface="Menlo" panose="020B0609030804020204" pitchFamily="49" charset="0"/>
            </a:endParaRPr>
          </a:p>
          <a:p>
            <a:endParaRPr lang="en-DE" dirty="0"/>
          </a:p>
        </p:txBody>
      </p:sp>
    </p:spTree>
    <p:extLst>
      <p:ext uri="{BB962C8B-B14F-4D97-AF65-F5344CB8AC3E}">
        <p14:creationId xmlns:p14="http://schemas.microsoft.com/office/powerpoint/2010/main" val="2848013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Shape 138"/>
          <p:cNvSpPr>
            <a:spLocks noGrp="1" noRot="1" noChangeAspect="1"/>
          </p:cNvSpPr>
          <p:nvPr>
            <p:ph type="sldImg"/>
          </p:nvPr>
        </p:nvSpPr>
        <p:spPr>
          <a:xfrm>
            <a:off x="381000" y="685800"/>
            <a:ext cx="6096000" cy="3429000"/>
          </a:xfrm>
          <a:prstGeom prst="rect">
            <a:avLst/>
          </a:prstGeom>
        </p:spPr>
        <p:txBody>
          <a:bodyPr/>
          <a:lstStyle/>
          <a:p>
            <a:endParaRPr/>
          </a:p>
        </p:txBody>
      </p:sp>
      <p:sp>
        <p:nvSpPr>
          <p:cNvPr id="139" name="Shape 139"/>
          <p:cNvSpPr>
            <a:spLocks noGrp="1"/>
          </p:cNvSpPr>
          <p:nvPr>
            <p:ph type="body" sz="quarter" idx="1"/>
          </p:nvPr>
        </p:nvSpPr>
        <p:spPr>
          <a:prstGeom prst="rect">
            <a:avLst/>
          </a:prstGeom>
        </p:spPr>
        <p:txBody>
          <a:bodyPr/>
          <a:lstStyle/>
          <a:p>
            <a:endParaRPr lang="de-DE" dirty="0"/>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This function is currently a stub. It has a docstring saying what it should do, but the implementation always returns an empty list.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explain the example: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0</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Expected: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4</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Inside Python:</a:t>
            </a:r>
          </a:p>
          <a:p>
            <a:r>
              <a:rPr lang="en-GB" b="0" dirty="0">
                <a:solidFill>
                  <a:srgbClr val="C678DD"/>
                </a:solidFill>
                <a:effectLst/>
                <a:latin typeface="Menlo" panose="020B0609030804020204" pitchFamily="49" charset="0"/>
              </a:rPr>
              <a:t>from</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local_maxima</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find_maxima</a:t>
            </a:r>
            <a:endParaRPr lang="en-GB" b="0" dirty="0">
              <a:solidFill>
                <a:srgbClr val="ABB2BF"/>
              </a:solidFill>
              <a:effectLst/>
              <a:latin typeface="Menlo" panose="020B0609030804020204" pitchFamily="49" charset="0"/>
            </a:endParaRPr>
          </a:p>
          <a:p>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0</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-&gt;[ ]</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The current result is `[]` because the function is not implemented yet. That is fine. We now have our first expected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this input should produce `[1, 4]`.</a:t>
            </a:r>
          </a:p>
          <a:p>
            <a:endParaRPr lang="en-GB" b="0" i="1" dirty="0">
              <a:solidFill>
                <a:srgbClr val="5C6370"/>
              </a:solidFill>
              <a:effectLst/>
              <a:latin typeface="Menlo" panose="020B0609030804020204" pitchFamily="49" charset="0"/>
            </a:endParaRPr>
          </a:p>
          <a:p>
            <a:r>
              <a:rPr lang="en-GB" b="0" i="1" dirty="0">
                <a:solidFill>
                  <a:srgbClr val="5C6370"/>
                </a:solidFill>
                <a:effectLst/>
                <a:latin typeface="Menlo" panose="020B0609030804020204" pitchFamily="49" charset="0"/>
              </a:rPr>
              <a:t>&gt; A local maximum happens when we came from below and then go down. For plateaus, we keep the left-most index of the plateau.</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Just use python</a:t>
            </a:r>
          </a:p>
          <a:p>
            <a:r>
              <a:rPr lang="en-GB" b="0" dirty="0">
                <a:solidFill>
                  <a:srgbClr val="ABB2BF"/>
                </a:solidFill>
                <a:effectLst/>
                <a:latin typeface="Menlo" panose="020B0609030804020204" pitchFamily="49" charset="0"/>
              </a:rPr>
              <a:t>Loops</a:t>
            </a:r>
          </a:p>
          <a:p>
            <a:r>
              <a:rPr lang="en-GB" b="0" dirty="0">
                <a:solidFill>
                  <a:srgbClr val="ABB2BF"/>
                </a:solidFill>
                <a:effectLst/>
                <a:latin typeface="Menlo" panose="020B0609030804020204" pitchFamily="49" charset="0"/>
              </a:rPr>
              <a:t>Do not use </a:t>
            </a:r>
            <a:r>
              <a:rPr lang="en-GB" b="0" dirty="0" err="1">
                <a:solidFill>
                  <a:srgbClr val="ABB2BF"/>
                </a:solidFill>
                <a:effectLst/>
                <a:latin typeface="Menlo" panose="020B0609030804020204" pitchFamily="49" charset="0"/>
              </a:rPr>
              <a:t>numpy</a:t>
            </a:r>
            <a:endParaRPr lang="en-GB" b="0" dirty="0">
              <a:solidFill>
                <a:srgbClr val="ABB2BF"/>
              </a:solidFill>
              <a:effectLst/>
              <a:latin typeface="Menlo" panose="020B0609030804020204" pitchFamily="49" charset="0"/>
            </a:endParaRPr>
          </a:p>
          <a:p>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dirty="0"/>
              <a:t>At end of exercise:</a:t>
            </a:r>
            <a:br>
              <a:rPr dirty="0"/>
            </a:br>
            <a:r>
              <a:rPr dirty="0"/>
              <a:t>Show of hands, who is confident in their solution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dirty="0">
                <a:solidFill>
                  <a:srgbClr val="ABB2BF"/>
                </a:solidFill>
                <a:effectLst/>
                <a:latin typeface="Menlo" panose="020B0609030804020204" pitchFamily="49" charset="0"/>
              </a:rPr>
              <a:t>The real challenge is not only writing code. It is deciding what the function should mean in boundary and ambiguous cases.</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The first example was straightforward. But a function is not specified by one example. We need to decide what happens at boundaries, for empty input, and for equal </a:t>
            </a:r>
            <a:r>
              <a:rPr lang="en-GB" b="0" i="1" dirty="0" err="1">
                <a:solidFill>
                  <a:srgbClr val="5C6370"/>
                </a:solidFill>
                <a:effectLst/>
                <a:latin typeface="Menlo" panose="020B0609030804020204" pitchFamily="49" charset="0"/>
              </a:rPr>
              <a:t>neighboring</a:t>
            </a:r>
            <a:r>
              <a:rPr lang="en-GB" b="0" i="1" dirty="0">
                <a:solidFill>
                  <a:srgbClr val="5C6370"/>
                </a:solidFill>
                <a:effectLst/>
                <a:latin typeface="Menlo" panose="020B0609030804020204" pitchFamily="49" charset="0"/>
              </a:rPr>
              <a:t> values.</a:t>
            </a:r>
            <a:endParaRPr lang="en-GB" b="0" dirty="0">
              <a:solidFill>
                <a:srgbClr val="ABB2BF"/>
              </a:solidFill>
              <a:effectLst/>
              <a:latin typeface="Menlo" panose="020B0609030804020204" pitchFamily="49" charset="0"/>
            </a:endParaRPr>
          </a:p>
          <a:p>
            <a:endParaRPr lang="en-DE" dirty="0"/>
          </a:p>
          <a:p>
            <a:pPr marL="0" marR="0" lvl="0" indent="0" defTabSz="914400" eaLnBrk="1" fontAlgn="auto" latinLnBrk="0" hangingPunct="1">
              <a:lnSpc>
                <a:spcPct val="100000"/>
              </a:lnSpc>
              <a:spcBef>
                <a:spcPts val="400"/>
              </a:spcBef>
              <a:spcAft>
                <a:spcPts val="0"/>
              </a:spcAft>
              <a:buClrTx/>
              <a:buSzTx/>
              <a:buFontTx/>
              <a:buNone/>
              <a:tabLst/>
              <a:defRPr/>
            </a:pPr>
            <a:r>
              <a:rPr lang="en-GB" b="0" dirty="0">
                <a:solidFill>
                  <a:srgbClr val="ABB2BF"/>
                </a:solidFill>
                <a:effectLst/>
                <a:latin typeface="Menlo" panose="020B0609030804020204" pitchFamily="49" charset="0"/>
              </a:rPr>
              <a:t>Walk through examples.</a:t>
            </a:r>
          </a:p>
          <a:p>
            <a:pPr marL="0" marR="0" lvl="0" indent="0" defTabSz="914400" eaLnBrk="1" fontAlgn="auto" latinLnBrk="0" hangingPunct="1">
              <a:lnSpc>
                <a:spcPct val="100000"/>
              </a:lnSpc>
              <a:spcBef>
                <a:spcPts val="400"/>
              </a:spcBef>
              <a:spcAft>
                <a:spcPts val="0"/>
              </a:spcAft>
              <a:buClrTx/>
              <a:buSzTx/>
              <a:buFontTx/>
              <a:buNone/>
              <a:tabLst/>
              <a:defRPr/>
            </a:pP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Ask: </a:t>
            </a:r>
            <a:r>
              <a:rPr lang="en-GB" b="0" i="1" dirty="0">
                <a:solidFill>
                  <a:srgbClr val="5C6370"/>
                </a:solidFill>
                <a:effectLst/>
                <a:latin typeface="Menlo" panose="020B0609030804020204" pitchFamily="49" charset="0"/>
              </a:rPr>
              <a:t>For `[1, 2, 2, 1]`, should the answer be `[1]`, `[2]`, `[1, 2]`, or something else?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For a flat maximum plateau, return the left-most index of the plateau.</a:t>
            </a:r>
          </a:p>
          <a:p>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endParaRPr lang="en-DE" dirty="0"/>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These examples are not just checks. They are the specification of the function. The next step is to stop checking them manually and turn them into automated tests.</a:t>
            </a:r>
            <a:endParaRPr lang="en-GB" b="0" dirty="0">
              <a:solidFill>
                <a:srgbClr val="ABB2BF"/>
              </a:solidFill>
              <a:effectLst/>
              <a:latin typeface="Menlo" panose="020B0609030804020204" pitchFamily="49" charset="0"/>
            </a:endParaRPr>
          </a:p>
          <a:p>
            <a:endParaRPr lang="en-DE" dirty="0"/>
          </a:p>
        </p:txBody>
      </p:sp>
    </p:spTree>
    <p:extLst>
      <p:ext uri="{BB962C8B-B14F-4D97-AF65-F5344CB8AC3E}">
        <p14:creationId xmlns:p14="http://schemas.microsoft.com/office/powerpoint/2010/main" val="3198099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Shape 153"/>
          <p:cNvSpPr>
            <a:spLocks noGrp="1" noRot="1" noChangeAspect="1"/>
          </p:cNvSpPr>
          <p:nvPr>
            <p:ph type="sldImg"/>
          </p:nvPr>
        </p:nvSpPr>
        <p:spPr>
          <a:xfrm>
            <a:off x="381000" y="685800"/>
            <a:ext cx="6096000" cy="3429000"/>
          </a:xfrm>
          <a:prstGeom prst="rect">
            <a:avLst/>
          </a:prstGeom>
        </p:spPr>
        <p:txBody>
          <a:bodyPr/>
          <a:lstStyle/>
          <a:p>
            <a:endParaRPr/>
          </a:p>
        </p:txBody>
      </p:sp>
      <p:sp>
        <p:nvSpPr>
          <p:cNvPr id="154" name="Shape 154"/>
          <p:cNvSpPr>
            <a:spLocks noGrp="1"/>
          </p:cNvSpPr>
          <p:nvPr>
            <p:ph type="body" sz="quarter" idx="1"/>
          </p:nvPr>
        </p:nvSpPr>
        <p:spPr>
          <a:prstGeom prst="rect">
            <a:avLst/>
          </a:prstGeom>
        </p:spPr>
        <p:txBody>
          <a:bodyPr/>
          <a:lstStyle/>
          <a:p>
            <a:r>
              <a:rPr lang="en-US" dirty="0"/>
              <a:t>This was interesting, right? Your solution worked for some cases but not in others. </a:t>
            </a:r>
          </a:p>
          <a:p>
            <a:endParaRPr lang="en-US" dirty="0"/>
          </a:p>
          <a:p>
            <a:r>
              <a:rPr lang="en-US" dirty="0"/>
              <a:t>Scientists are not the only ones who have to check that their code is working correctly or as expected. This is a main component of software engineering.</a:t>
            </a:r>
          </a:p>
          <a:p>
            <a:endParaRPr lang="en-US" dirty="0"/>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We just implemented `</a:t>
            </a:r>
            <a:r>
              <a:rPr lang="en-GB" b="0" i="1" dirty="0" err="1">
                <a:solidFill>
                  <a:srgbClr val="5C6370"/>
                </a:solidFill>
                <a:effectLst/>
                <a:latin typeface="Menlo" panose="020B0609030804020204" pitchFamily="49" charset="0"/>
              </a:rPr>
              <a:t>find_maxima</a:t>
            </a:r>
            <a:r>
              <a:rPr lang="en-GB" b="0" i="1" dirty="0">
                <a:solidFill>
                  <a:srgbClr val="5C6370"/>
                </a:solidFill>
                <a:effectLst/>
                <a:latin typeface="Menlo" panose="020B0609030804020204" pitchFamily="49" charset="0"/>
              </a:rPr>
              <a:t>` manually. That worked for a small exercise, but in real scientific code this approach does not scale. We need a repeatable cycle.</a:t>
            </a:r>
            <a:endParaRPr lang="en-GB" b="0" dirty="0">
              <a:solidFill>
                <a:srgbClr val="ABB2BF"/>
              </a:solidFill>
              <a:effectLst/>
              <a:latin typeface="Menlo" panose="020B0609030804020204" pitchFamily="49" charset="0"/>
            </a:endParaRPr>
          </a:p>
          <a:p>
            <a:endParaRPr lang="en-US" dirty="0"/>
          </a:p>
          <a:p>
            <a:endParaRPr lang="en-US" dirty="0"/>
          </a:p>
          <a:p>
            <a:r>
              <a:rPr dirty="0"/>
              <a:t>Let’s talk about how we </a:t>
            </a:r>
            <a:r>
              <a:rPr dirty="0" err="1"/>
              <a:t>programme</a:t>
            </a:r>
            <a:r>
              <a:rPr dirty="0"/>
              <a:t> in a software development environment and why adopting some of these practices can be really beneficial for scientific research. </a:t>
            </a:r>
            <a:endParaRPr lang="de-DE" dirty="0"/>
          </a:p>
          <a:p>
            <a:endParaRPr lang="en-DE" dirty="0"/>
          </a:p>
          <a:p>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1. Pick a small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 or feature.</a:t>
            </a:r>
          </a:p>
          <a:p>
            <a:r>
              <a:rPr lang="en-GB" b="0" dirty="0">
                <a:solidFill>
                  <a:srgbClr val="ABB2BF"/>
                </a:solidFill>
                <a:effectLst/>
                <a:latin typeface="Menlo" panose="020B0609030804020204" pitchFamily="49" charset="0"/>
              </a:rPr>
              <a:t>2. State what correct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 means.</a:t>
            </a:r>
          </a:p>
          <a:p>
            <a:r>
              <a:rPr lang="en-GB" b="0" dirty="0">
                <a:solidFill>
                  <a:srgbClr val="ABB2BF"/>
                </a:solidFill>
                <a:effectLst/>
                <a:latin typeface="Menlo" panose="020B0609030804020204" pitchFamily="49" charset="0"/>
              </a:rPr>
              <a:t>3. Implement the simplest version.</a:t>
            </a:r>
          </a:p>
          <a:p>
            <a:r>
              <a:rPr lang="en-GB" b="0" dirty="0">
                <a:solidFill>
                  <a:srgbClr val="ABB2BF"/>
                </a:solidFill>
                <a:effectLst/>
                <a:latin typeface="Menlo" panose="020B0609030804020204" pitchFamily="49" charset="0"/>
              </a:rPr>
              <a:t>4. Check whether it behaves correctly.</a:t>
            </a:r>
          </a:p>
          <a:p>
            <a:r>
              <a:rPr lang="en-GB" b="0" dirty="0">
                <a:solidFill>
                  <a:srgbClr val="ABB2BF"/>
                </a:solidFill>
                <a:effectLst/>
                <a:latin typeface="Menlo" panose="020B0609030804020204" pitchFamily="49" charset="0"/>
              </a:rPr>
              <a:t>5. If it fails, inspect and fix.</a:t>
            </a:r>
          </a:p>
          <a:p>
            <a:r>
              <a:rPr lang="en-GB" b="0" dirty="0">
                <a:solidFill>
                  <a:srgbClr val="ABB2BF"/>
                </a:solidFill>
                <a:effectLst/>
                <a:latin typeface="Menlo" panose="020B0609030804020204" pitchFamily="49" charset="0"/>
              </a:rPr>
              <a:t>6. Once it works, clean up or optimize only if needed.</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Connect to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For `</a:t>
            </a:r>
            <a:r>
              <a:rPr lang="en-GB" b="0" i="1" dirty="0" err="1">
                <a:solidFill>
                  <a:srgbClr val="5C6370"/>
                </a:solidFill>
                <a:effectLst/>
                <a:latin typeface="Menlo" panose="020B0609030804020204" pitchFamily="49" charset="0"/>
              </a:rPr>
              <a:t>find_maxima</a:t>
            </a:r>
            <a:r>
              <a:rPr lang="en-GB" b="0" i="1" dirty="0">
                <a:solidFill>
                  <a:srgbClr val="5C6370"/>
                </a:solidFill>
                <a:effectLst/>
                <a:latin typeface="Menlo" panose="020B0609030804020204" pitchFamily="49" charset="0"/>
              </a:rPr>
              <a:t>`, the first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was: for `[1, 3, -2, 0, 2, 1]`, return `[1, 4]`. Then we added more </a:t>
            </a:r>
            <a:r>
              <a:rPr lang="en-GB" b="0" i="1" dirty="0" err="1">
                <a:solidFill>
                  <a:srgbClr val="5C6370"/>
                </a:solidFill>
                <a:effectLst/>
                <a:latin typeface="Menlo" panose="020B0609030804020204" pitchFamily="49" charset="0"/>
              </a:rPr>
              <a:t>behaviors</a:t>
            </a:r>
            <a:r>
              <a:rPr lang="en-GB" b="0" i="1" dirty="0">
                <a:solidFill>
                  <a:srgbClr val="5C6370"/>
                </a:solidFill>
                <a:effectLst/>
                <a:latin typeface="Menlo" panose="020B0609030804020204" pitchFamily="49" charset="0"/>
              </a:rPr>
              <a:t>: boundaries, empty input, and plateaus. That is exactly this cycle, but so far we checked it manually.</a:t>
            </a:r>
            <a:endParaRPr lang="en-GB" b="0" dirty="0">
              <a:solidFill>
                <a:srgbClr val="ABB2BF"/>
              </a:solidFill>
              <a:effectLst/>
              <a:latin typeface="Menlo" panose="020B0609030804020204" pitchFamily="49" charset="0"/>
            </a:endParaRPr>
          </a:p>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Shape 184"/>
          <p:cNvSpPr>
            <a:spLocks noGrp="1" noRot="1" noChangeAspect="1"/>
          </p:cNvSpPr>
          <p:nvPr>
            <p:ph type="sldImg"/>
          </p:nvPr>
        </p:nvSpPr>
        <p:spPr>
          <a:xfrm>
            <a:off x="381000" y="685800"/>
            <a:ext cx="6096000" cy="3429000"/>
          </a:xfrm>
          <a:prstGeom prst="rect">
            <a:avLst/>
          </a:prstGeom>
        </p:spPr>
        <p:txBody>
          <a:bodyPr/>
          <a:lstStyle/>
          <a:p>
            <a:endParaRPr/>
          </a:p>
        </p:txBody>
      </p:sp>
      <p:sp>
        <p:nvSpPr>
          <p:cNvPr id="185" name="Shape 185"/>
          <p:cNvSpPr>
            <a:spLocks noGrp="1"/>
          </p:cNvSpPr>
          <p:nvPr>
            <p:ph type="body" sz="quarter" idx="1"/>
          </p:nvPr>
        </p:nvSpPr>
        <p:spPr>
          <a:prstGeom prst="rect">
            <a:avLst/>
          </a:prstGeom>
        </p:spPr>
        <p:txBody>
          <a:bodyPr/>
          <a:lstStyle/>
          <a:p>
            <a:r>
              <a:rPr lang="de-DE" dirty="0"/>
              <a:t>As </a:t>
            </a:r>
            <a:r>
              <a:rPr lang="de-DE" dirty="0" err="1"/>
              <a:t>opposed</a:t>
            </a:r>
            <a:r>
              <a:rPr lang="de-DE" dirty="0"/>
              <a:t> </a:t>
            </a:r>
            <a:r>
              <a:rPr lang="de-DE" dirty="0" err="1"/>
              <a:t>to</a:t>
            </a:r>
            <a:r>
              <a:rPr lang="de-DE" dirty="0"/>
              <a:t> </a:t>
            </a:r>
            <a:r>
              <a:rPr lang="de-DE" dirty="0" err="1"/>
              <a:t>waterfall</a:t>
            </a:r>
            <a:r>
              <a:rPr lang="de-DE" dirty="0"/>
              <a:t> </a:t>
            </a:r>
            <a:r>
              <a:rPr lang="de-DE" dirty="0" err="1"/>
              <a:t>model</a:t>
            </a:r>
            <a:endParaRPr lang="de-DE" dirty="0"/>
          </a:p>
          <a:p>
            <a:endParaRPr lang="de-DE" dirty="0"/>
          </a:p>
          <a:p>
            <a:r>
              <a:rPr lang="de-DE" dirty="0" err="1"/>
              <a:t>Reminder</a:t>
            </a:r>
            <a:endParaRPr lang="de-DE" dirty="0"/>
          </a:p>
          <a:p>
            <a:r>
              <a:rPr lang="de-DE" dirty="0"/>
              <a:t> 1) </a:t>
            </a:r>
            <a:r>
              <a:rPr lang="de-DE" dirty="0" err="1"/>
              <a:t>describe</a:t>
            </a:r>
            <a:r>
              <a:rPr lang="de-DE" dirty="0"/>
              <a:t> </a:t>
            </a:r>
            <a:r>
              <a:rPr lang="de-DE" dirty="0" err="1"/>
              <a:t>cycle</a:t>
            </a:r>
            <a:endParaRPr lang="de-DE" dirty="0"/>
          </a:p>
          <a:p>
            <a:endParaRPr lang="de-DE" dirty="0"/>
          </a:p>
          <a:p>
            <a:r>
              <a:rPr lang="en-GB" dirty="0"/>
              <a:t>Agile programming is a repeated cycle of planning, building, testing, reviewing, and improving.</a:t>
            </a:r>
          </a:p>
          <a:p>
            <a:r>
              <a:rPr lang="en-GB" dirty="0"/>
              <a:t>We begin by identifying a small, high-priority scientific or technical question. The team then develops a simple working version, tests it with real data, and reviews the results with users or collaborators. Based on that feedback, we update the requirements and begin the next cycle.</a:t>
            </a:r>
          </a:p>
          <a:p>
            <a:r>
              <a:rPr lang="en-GB" dirty="0"/>
              <a:t>The key idea is to work in short iterations rather than trying to design the entire solution perfectly at the start. Each cycle produces something usable, reduces uncertainty, and allows the software to adapt as the scientific understanding evolves.</a:t>
            </a:r>
          </a:p>
          <a:p>
            <a:endParaRPr lang="de-DE" dirty="0"/>
          </a:p>
          <a:p>
            <a:endParaRPr lang="de-DE" dirty="0"/>
          </a:p>
          <a:p>
            <a:r>
              <a:rPr lang="de-DE" dirty="0"/>
              <a:t> 2) </a:t>
            </a:r>
            <a:r>
              <a:rPr lang="de-DE" dirty="0" err="1"/>
              <a:t>short</a:t>
            </a:r>
            <a:r>
              <a:rPr lang="de-DE" dirty="0"/>
              <a:t> </a:t>
            </a:r>
            <a:r>
              <a:rPr lang="de-DE" dirty="0" err="1"/>
              <a:t>development</a:t>
            </a:r>
            <a:r>
              <a:rPr lang="de-DE" dirty="0"/>
              <a:t> </a:t>
            </a:r>
            <a:r>
              <a:rPr lang="de-DE" dirty="0" err="1"/>
              <a:t>cycles</a:t>
            </a:r>
            <a:r>
              <a:rPr lang="de-DE" dirty="0"/>
              <a:t>: </a:t>
            </a:r>
            <a:r>
              <a:rPr lang="de-DE" dirty="0" err="1"/>
              <a:t>granularity</a:t>
            </a:r>
            <a:r>
              <a:rPr lang="de-DE" dirty="0"/>
              <a:t> </a:t>
            </a:r>
            <a:r>
              <a:rPr lang="de-DE" dirty="0" err="1"/>
              <a:t>of</a:t>
            </a:r>
            <a:r>
              <a:rPr lang="de-DE" dirty="0"/>
              <a:t> </a:t>
            </a:r>
            <a:r>
              <a:rPr lang="de-DE" dirty="0" err="1"/>
              <a:t>chosen</a:t>
            </a:r>
            <a:r>
              <a:rPr lang="de-DE" dirty="0"/>
              <a:t> feature </a:t>
            </a:r>
            <a:r>
              <a:rPr lang="de-DE" dirty="0" err="1"/>
              <a:t>is</a:t>
            </a:r>
            <a:r>
              <a:rPr lang="de-DE" dirty="0"/>
              <a:t> </a:t>
            </a:r>
            <a:r>
              <a:rPr lang="de-DE" dirty="0" err="1"/>
              <a:t>important</a:t>
            </a:r>
            <a:endParaRPr lang="de-DE" dirty="0"/>
          </a:p>
          <a:p>
            <a:r>
              <a:rPr lang="de-DE" dirty="0"/>
              <a:t> 3) </a:t>
            </a:r>
            <a:r>
              <a:rPr lang="de-DE" dirty="0" err="1"/>
              <a:t>for</a:t>
            </a:r>
            <a:r>
              <a:rPr lang="de-DE" dirty="0"/>
              <a:t> all </a:t>
            </a:r>
            <a:r>
              <a:rPr lang="de-DE" dirty="0" err="1"/>
              <a:t>of</a:t>
            </a:r>
            <a:r>
              <a:rPr lang="de-DE" dirty="0"/>
              <a:t> </a:t>
            </a:r>
            <a:r>
              <a:rPr lang="de-DE" dirty="0" err="1"/>
              <a:t>these</a:t>
            </a:r>
            <a:r>
              <a:rPr lang="de-DE" dirty="0"/>
              <a:t> </a:t>
            </a:r>
            <a:r>
              <a:rPr lang="de-DE" dirty="0" err="1"/>
              <a:t>steps</a:t>
            </a:r>
            <a:r>
              <a:rPr lang="de-DE" dirty="0"/>
              <a:t> </a:t>
            </a:r>
            <a:r>
              <a:rPr lang="de-DE" dirty="0" err="1"/>
              <a:t>there</a:t>
            </a:r>
            <a:r>
              <a:rPr lang="de-DE" dirty="0"/>
              <a:t> </a:t>
            </a:r>
            <a:r>
              <a:rPr lang="de-DE" dirty="0" err="1"/>
              <a:t>are</a:t>
            </a:r>
            <a:r>
              <a:rPr lang="de-DE" dirty="0"/>
              <a:t> </a:t>
            </a:r>
            <a:r>
              <a:rPr lang="de-DE" dirty="0" err="1"/>
              <a:t>python</a:t>
            </a:r>
            <a:r>
              <a:rPr lang="de-DE" dirty="0"/>
              <a:t> </a:t>
            </a:r>
            <a:r>
              <a:rPr lang="de-DE" dirty="0" err="1"/>
              <a:t>tools</a:t>
            </a:r>
            <a:r>
              <a:rPr lang="de-DE" dirty="0"/>
              <a:t> </a:t>
            </a:r>
            <a:r>
              <a:rPr lang="de-DE" dirty="0" err="1"/>
              <a:t>to</a:t>
            </a:r>
            <a:r>
              <a:rPr lang="de-DE" dirty="0"/>
              <a:t> </a:t>
            </a:r>
            <a:r>
              <a:rPr lang="de-DE" dirty="0" err="1"/>
              <a:t>help</a:t>
            </a:r>
            <a:r>
              <a:rPr lang="de-DE" dirty="0"/>
              <a:t> </a:t>
            </a:r>
            <a:r>
              <a:rPr lang="de-DE" dirty="0" err="1"/>
              <a:t>you</a:t>
            </a:r>
            <a:endParaRPr lang="de-DE" dirty="0"/>
          </a:p>
          <a:p>
            <a:endParaRPr lang="de-DE" dirty="0"/>
          </a:p>
          <a:p>
            <a:pPr marL="171450" indent="-171450">
              <a:buFont typeface="Wingdings" pitchFamily="2" charset="2"/>
              <a:buChar char="Ø"/>
            </a:pPr>
            <a:r>
              <a:rPr lang="en-GB" b="0" i="1" dirty="0">
                <a:solidFill>
                  <a:srgbClr val="5C6370"/>
                </a:solidFill>
                <a:effectLst/>
                <a:latin typeface="Menlo" panose="020B0609030804020204" pitchFamily="49" charset="0"/>
              </a:rPr>
              <a:t>Change one thing, check one thing, then continue.</a:t>
            </a:r>
          </a:p>
          <a:p>
            <a:pPr marL="171450" indent="-171450">
              <a:buFont typeface="Wingdings" pitchFamily="2" charset="2"/>
              <a:buChar char="Ø"/>
            </a:pPr>
            <a:endParaRPr lang="en-GB" b="0" i="1" dirty="0">
              <a:solidFill>
                <a:srgbClr val="5C6370"/>
              </a:solidFill>
              <a:effectLst/>
              <a:latin typeface="Menlo" panose="020B0609030804020204" pitchFamily="49" charset="0"/>
            </a:endParaRPr>
          </a:p>
          <a:p>
            <a:r>
              <a:rPr lang="en-GB" b="0" i="1" dirty="0">
                <a:solidFill>
                  <a:srgbClr val="5C6370"/>
                </a:solidFill>
                <a:effectLst/>
                <a:latin typeface="Menlo" panose="020B0609030804020204" pitchFamily="49" charset="0"/>
              </a:rPr>
              <a:t>&gt; This slide shows the same idea, but now we name the activities. First, we decide what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matters. Then we check that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If something is wrong, we debug. Only after the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is correct do we refactor or optimize.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Anti-patterns: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1. Refactoring before checking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2. Optimizing code whose correctness is unknown.</a:t>
            </a:r>
          </a:p>
          <a:p>
            <a:r>
              <a:rPr lang="en-GB" b="0" dirty="0">
                <a:solidFill>
                  <a:srgbClr val="ABB2BF"/>
                </a:solidFill>
                <a:effectLst/>
                <a:latin typeface="Menlo" panose="020B0609030804020204" pitchFamily="49" charset="0"/>
              </a:rPr>
              <a:t>3. Debugging from intuition instead of from a reproducible failure.</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Connect to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If we had optimized `</a:t>
            </a:r>
            <a:r>
              <a:rPr lang="en-GB" b="0" i="1" dirty="0" err="1">
                <a:solidFill>
                  <a:srgbClr val="5C6370"/>
                </a:solidFill>
                <a:effectLst/>
                <a:latin typeface="Menlo" panose="020B0609030804020204" pitchFamily="49" charset="0"/>
              </a:rPr>
              <a:t>find_maxima</a:t>
            </a:r>
            <a:r>
              <a:rPr lang="en-GB" b="0" i="1" dirty="0">
                <a:solidFill>
                  <a:srgbClr val="5C6370"/>
                </a:solidFill>
                <a:effectLst/>
                <a:latin typeface="Menlo" panose="020B0609030804020204" pitchFamily="49" charset="0"/>
              </a:rPr>
              <a:t>` before deciding the plateau rule, we would be making fast code for an undefined problem. If we refactor it later, we need checks to ensure the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stays the same.</a:t>
            </a:r>
            <a:endParaRPr lang="en-GB" b="0" i="1" dirty="0">
              <a:solidFill>
                <a:srgbClr val="ABB2BF"/>
              </a:solidFill>
              <a:effectLst/>
              <a:latin typeface="Menlo" panose="020B0609030804020204" pitchFamily="49" charset="0"/>
            </a:endParaRPr>
          </a:p>
          <a:p>
            <a:endParaRPr lang="en-GB" b="0" i="1" dirty="0">
              <a:solidFill>
                <a:srgbClr val="ABB2BF"/>
              </a:solidFill>
              <a:effectLst/>
              <a:latin typeface="Menlo" panose="020B0609030804020204" pitchFamily="49" charset="0"/>
            </a:endParaRPr>
          </a:p>
          <a:p>
            <a:pPr marL="0" marR="0" lvl="0" indent="0" defTabSz="914400" eaLnBrk="1" fontAlgn="auto" latinLnBrk="0" hangingPunct="1">
              <a:lnSpc>
                <a:spcPct val="100000"/>
              </a:lnSpc>
              <a:spcBef>
                <a:spcPts val="400"/>
              </a:spcBef>
              <a:spcAft>
                <a:spcPts val="0"/>
              </a:spcAft>
              <a:buClrTx/>
              <a:buSzTx/>
              <a:buFontTx/>
              <a:buNone/>
              <a:tabLst/>
              <a:defRPr/>
            </a:pPr>
            <a:r>
              <a:rPr lang="en-GB" b="0" i="1" dirty="0">
                <a:solidFill>
                  <a:srgbClr val="5C6370"/>
                </a:solidFill>
                <a:effectLst/>
                <a:latin typeface="Menlo" panose="020B0609030804020204" pitchFamily="49" charset="0"/>
              </a:rPr>
              <a:t>&gt; Correctness comes before elegance, and correctness comes before speed.</a:t>
            </a:r>
            <a:endParaRPr lang="en-GB" b="0" dirty="0">
              <a:solidFill>
                <a:srgbClr val="ABB2BF"/>
              </a:solidFill>
              <a:effectLst/>
              <a:latin typeface="Menlo" panose="020B0609030804020204" pitchFamily="49" charset="0"/>
            </a:endParaRPr>
          </a:p>
          <a:p>
            <a:endParaRPr lang="en-GB" b="0" dirty="0">
              <a:solidFill>
                <a:srgbClr val="ABB2BF"/>
              </a:solidFill>
              <a:effectLst/>
              <a:latin typeface="Menlo" panose="020B0609030804020204" pitchFamily="49" charset="0"/>
            </a:endParaRPr>
          </a:p>
        </p:txBody>
      </p:sp>
    </p:spTree>
    <p:extLst>
      <p:ext uri="{BB962C8B-B14F-4D97-AF65-F5344CB8AC3E}">
        <p14:creationId xmlns:p14="http://schemas.microsoft.com/office/powerpoint/2010/main" val="3152711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a:spLocks noGrp="1" noRot="1" noChangeAspect="1"/>
          </p:cNvSpPr>
          <p:nvPr>
            <p:ph type="sldImg"/>
          </p:nvPr>
        </p:nvSpPr>
        <p:spPr>
          <a:xfrm>
            <a:off x="381000" y="685800"/>
            <a:ext cx="6096000" cy="3429000"/>
          </a:xfrm>
          <a:prstGeom prst="rect">
            <a:avLst/>
          </a:prstGeom>
        </p:spPr>
        <p:txBody>
          <a:bodyPr/>
          <a:lstStyle/>
          <a:p>
            <a:endParaRPr/>
          </a:p>
        </p:txBody>
      </p:sp>
      <p:sp>
        <p:nvSpPr>
          <p:cNvPr id="219" name="Shape 219"/>
          <p:cNvSpPr>
            <a:spLocks noGrp="1"/>
          </p:cNvSpPr>
          <p:nvPr>
            <p:ph type="body" sz="quarter" idx="1"/>
          </p:nvPr>
        </p:nvSpPr>
        <p:spPr>
          <a:prstGeom prst="rect">
            <a:avLst/>
          </a:prstGeom>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de-DE" dirty="0"/>
              <a:t> 3) </a:t>
            </a:r>
            <a:r>
              <a:rPr lang="de-DE" dirty="0" err="1"/>
              <a:t>for</a:t>
            </a:r>
            <a:r>
              <a:rPr lang="de-DE" dirty="0"/>
              <a:t> all </a:t>
            </a:r>
            <a:r>
              <a:rPr lang="de-DE" dirty="0" err="1"/>
              <a:t>of</a:t>
            </a:r>
            <a:r>
              <a:rPr lang="de-DE" dirty="0"/>
              <a:t> </a:t>
            </a:r>
            <a:r>
              <a:rPr lang="de-DE" dirty="0" err="1"/>
              <a:t>these</a:t>
            </a:r>
            <a:r>
              <a:rPr lang="de-DE" dirty="0"/>
              <a:t> </a:t>
            </a:r>
            <a:r>
              <a:rPr lang="de-DE" dirty="0" err="1"/>
              <a:t>steps</a:t>
            </a:r>
            <a:r>
              <a:rPr lang="de-DE" dirty="0"/>
              <a:t> </a:t>
            </a:r>
            <a:r>
              <a:rPr lang="de-DE" dirty="0" err="1"/>
              <a:t>there</a:t>
            </a:r>
            <a:r>
              <a:rPr lang="de-DE" dirty="0"/>
              <a:t> </a:t>
            </a:r>
            <a:r>
              <a:rPr lang="de-DE" dirty="0" err="1"/>
              <a:t>are</a:t>
            </a:r>
            <a:r>
              <a:rPr lang="de-DE" dirty="0"/>
              <a:t> </a:t>
            </a:r>
            <a:r>
              <a:rPr lang="de-DE" dirty="0" err="1"/>
              <a:t>python</a:t>
            </a:r>
            <a:r>
              <a:rPr lang="de-DE" dirty="0"/>
              <a:t> </a:t>
            </a:r>
            <a:r>
              <a:rPr lang="de-DE" dirty="0" err="1"/>
              <a:t>tools</a:t>
            </a:r>
            <a:r>
              <a:rPr lang="de-DE" dirty="0"/>
              <a:t> </a:t>
            </a:r>
            <a:r>
              <a:rPr lang="de-DE" dirty="0" err="1"/>
              <a:t>to</a:t>
            </a:r>
            <a:r>
              <a:rPr lang="de-DE" dirty="0"/>
              <a:t> </a:t>
            </a:r>
            <a:r>
              <a:rPr lang="de-DE" dirty="0" err="1"/>
              <a:t>help</a:t>
            </a:r>
            <a:r>
              <a:rPr lang="de-DE" dirty="0"/>
              <a:t> </a:t>
            </a:r>
            <a:r>
              <a:rPr lang="de-DE" dirty="0" err="1"/>
              <a:t>you</a:t>
            </a:r>
            <a:endParaRPr lang="de-DE" dirty="0"/>
          </a:p>
          <a:p>
            <a:endParaRPr lang="de-DE" dirty="0"/>
          </a:p>
          <a:p>
            <a:endParaRPr lang="en-DE" dirty="0"/>
          </a:p>
          <a:p>
            <a:r>
              <a:rPr lang="en-GB" b="0" i="1" dirty="0">
                <a:solidFill>
                  <a:srgbClr val="5C6370"/>
                </a:solidFill>
                <a:effectLst/>
                <a:latin typeface="Menlo" panose="020B0609030804020204" pitchFamily="49" charset="0"/>
              </a:rPr>
              <a:t>&gt; Now that we have the cycle, we can attach concrete Python tools to each step. The important thing is not to memorize tool names. The important thing is knowing which tool answers which question.</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Tool mapping:</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Expected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pytest</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Wrong internal state? </a:t>
            </a:r>
            <a:r>
              <a:rPr lang="en-GB" b="0" dirty="0" err="1">
                <a:solidFill>
                  <a:srgbClr val="ABB2BF"/>
                </a:solidFill>
                <a:effectLst/>
                <a:latin typeface="Menlo" panose="020B0609030804020204" pitchFamily="49" charset="0"/>
              </a:rPr>
              <a:t>pdb</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Small timing question? </a:t>
            </a:r>
            <a:r>
              <a:rPr lang="en-GB" b="0" dirty="0" err="1">
                <a:solidFill>
                  <a:srgbClr val="ABB2BF"/>
                </a:solidFill>
                <a:effectLst/>
                <a:latin typeface="Menlo" panose="020B0609030804020204" pitchFamily="49" charset="0"/>
              </a:rPr>
              <a:t>timeit</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Whole-program bottleneck? </a:t>
            </a:r>
            <a:r>
              <a:rPr lang="en-GB" b="0" dirty="0" err="1">
                <a:solidFill>
                  <a:srgbClr val="ABB2BF"/>
                </a:solidFill>
                <a:effectLst/>
                <a:latin typeface="Menlo" panose="020B0609030804020204" pitchFamily="49" charset="0"/>
              </a:rPr>
              <a:t>cProfile</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Line-level bottleneck? </a:t>
            </a:r>
            <a:r>
              <a:rPr lang="en-GB" b="0" dirty="0" err="1">
                <a:solidFill>
                  <a:srgbClr val="ABB2BF"/>
                </a:solidFill>
                <a:effectLst/>
                <a:latin typeface="Menlo" panose="020B0609030804020204" pitchFamily="49" charset="0"/>
              </a:rPr>
              <a:t>line_profiler</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endParaRPr lang="en-DE" dirty="0"/>
          </a:p>
          <a:p>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pytest</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For automated tests, we will use `</a:t>
            </a:r>
            <a:r>
              <a:rPr lang="en-GB" b="0" i="1" dirty="0" err="1">
                <a:solidFill>
                  <a:srgbClr val="5C6370"/>
                </a:solidFill>
                <a:effectLst/>
                <a:latin typeface="Menlo" panose="020B0609030804020204" pitchFamily="49" charset="0"/>
              </a:rPr>
              <a:t>pytest</a:t>
            </a:r>
            <a:r>
              <a:rPr lang="en-GB" b="0" i="1" dirty="0">
                <a:solidFill>
                  <a:srgbClr val="5C6370"/>
                </a:solidFill>
                <a:effectLst/>
                <a:latin typeface="Menlo" panose="020B0609030804020204" pitchFamily="49" charset="0"/>
              </a:rPr>
              <a:t>`. It lets us write small functions that check whether our code behaves as expected, and then run all of those checks automatically.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pdb</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When a test fails, the next question is why. Python has an interactive debugger called `</a:t>
            </a:r>
            <a:r>
              <a:rPr lang="en-GB" b="0" i="1" dirty="0" err="1">
                <a:solidFill>
                  <a:srgbClr val="5C6370"/>
                </a:solidFill>
                <a:effectLst/>
                <a:latin typeface="Menlo" panose="020B0609030804020204" pitchFamily="49" charset="0"/>
              </a:rPr>
              <a:t>pdb</a:t>
            </a:r>
            <a:r>
              <a:rPr lang="en-GB" b="0" i="1" dirty="0">
                <a:solidFill>
                  <a:srgbClr val="5C6370"/>
                </a:solidFill>
                <a:effectLst/>
                <a:latin typeface="Menlo" panose="020B0609030804020204" pitchFamily="49" charset="0"/>
              </a:rPr>
              <a:t>` that lets us pause execution, inspect variables, and step through code.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timeit</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For small timing experiments, Python has `</a:t>
            </a:r>
            <a:r>
              <a:rPr lang="en-GB" b="0" i="1" dirty="0" err="1">
                <a:solidFill>
                  <a:srgbClr val="5C6370"/>
                </a:solidFill>
                <a:effectLst/>
                <a:latin typeface="Menlo" panose="020B0609030804020204" pitchFamily="49" charset="0"/>
              </a:rPr>
              <a:t>timeit</a:t>
            </a:r>
            <a:r>
              <a:rPr lang="en-GB" b="0" i="1" dirty="0">
                <a:solidFill>
                  <a:srgbClr val="5C6370"/>
                </a:solidFill>
                <a:effectLst/>
                <a:latin typeface="Menlo" panose="020B0609030804020204" pitchFamily="49" charset="0"/>
              </a:rPr>
              <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cProfile</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For whole-program profiling, Python has `</a:t>
            </a:r>
            <a:r>
              <a:rPr lang="en-GB" b="0" i="1" dirty="0" err="1">
                <a:solidFill>
                  <a:srgbClr val="5C6370"/>
                </a:solidFill>
                <a:effectLst/>
                <a:latin typeface="Menlo" panose="020B0609030804020204" pitchFamily="49" charset="0"/>
              </a:rPr>
              <a:t>cProfile</a:t>
            </a:r>
            <a:r>
              <a:rPr lang="en-GB" b="0" i="1" dirty="0">
                <a:solidFill>
                  <a:srgbClr val="5C6370"/>
                </a:solidFill>
                <a:effectLst/>
                <a:latin typeface="Menlo" panose="020B0609030804020204" pitchFamily="49" charset="0"/>
              </a:rPr>
              <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line_profiler</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Once we know which function is slow, `</a:t>
            </a:r>
            <a:r>
              <a:rPr lang="en-GB" b="0" i="1" dirty="0" err="1">
                <a:solidFill>
                  <a:srgbClr val="5C6370"/>
                </a:solidFill>
                <a:effectLst/>
                <a:latin typeface="Menlo" panose="020B0609030804020204" pitchFamily="49" charset="0"/>
              </a:rPr>
              <a:t>line_profiler</a:t>
            </a:r>
            <a:r>
              <a:rPr lang="en-GB" b="0" i="1" dirty="0">
                <a:solidFill>
                  <a:srgbClr val="5C6370"/>
                </a:solidFill>
                <a:effectLst/>
                <a:latin typeface="Menlo" panose="020B0609030804020204" pitchFamily="49" charset="0"/>
              </a:rPr>
              <a:t>` can measure time line by line.</a:t>
            </a:r>
            <a:endParaRPr lang="en-GB" b="0" dirty="0">
              <a:solidFill>
                <a:srgbClr val="ABB2BF"/>
              </a:solidFill>
              <a:effectLst/>
              <a:latin typeface="Menlo" panose="020B0609030804020204" pitchFamily="49" charset="0"/>
            </a:endParaRPr>
          </a:p>
          <a:p>
            <a:endParaRPr lang="en-DE" dirty="0"/>
          </a:p>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Show </a:t>
            </a:r>
            <a:r>
              <a:rPr lang="de-DE" dirty="0" err="1"/>
              <a:t>of</a:t>
            </a:r>
            <a:r>
              <a:rPr lang="de-DE" dirty="0"/>
              <a:t> </a:t>
            </a:r>
            <a:r>
              <a:rPr lang="de-DE" dirty="0" err="1"/>
              <a:t>hands</a:t>
            </a:r>
            <a:r>
              <a:rPr lang="de-DE" dirty="0"/>
              <a:t>, </a:t>
            </a:r>
            <a:r>
              <a:rPr lang="de-DE" dirty="0" err="1"/>
              <a:t>who</a:t>
            </a:r>
            <a:r>
              <a:rPr lang="de-DE" dirty="0"/>
              <a:t> </a:t>
            </a:r>
            <a:r>
              <a:rPr lang="de-DE" dirty="0" err="1"/>
              <a:t>is</a:t>
            </a:r>
            <a:r>
              <a:rPr lang="de-DE" dirty="0"/>
              <a:t> </a:t>
            </a:r>
            <a:r>
              <a:rPr lang="de-DE" dirty="0" err="1"/>
              <a:t>absolutely</a:t>
            </a:r>
            <a:r>
              <a:rPr lang="de-DE" dirty="0"/>
              <a:t> </a:t>
            </a:r>
            <a:r>
              <a:rPr lang="de-DE" dirty="0" err="1"/>
              <a:t>confident</a:t>
            </a:r>
            <a:r>
              <a:rPr lang="de-DE" dirty="0"/>
              <a:t> </a:t>
            </a:r>
            <a:r>
              <a:rPr lang="de-DE" dirty="0" err="1"/>
              <a:t>that</a:t>
            </a:r>
            <a:r>
              <a:rPr lang="de-DE" dirty="0"/>
              <a:t> </a:t>
            </a:r>
            <a:r>
              <a:rPr lang="de-DE" dirty="0" err="1"/>
              <a:t>the</a:t>
            </a:r>
            <a:r>
              <a:rPr lang="de-DE" dirty="0"/>
              <a:t> code </a:t>
            </a:r>
            <a:r>
              <a:rPr lang="de-DE" dirty="0" err="1"/>
              <a:t>they</a:t>
            </a:r>
            <a:r>
              <a:rPr lang="de-DE" dirty="0"/>
              <a:t> </a:t>
            </a:r>
            <a:r>
              <a:rPr lang="de-DE" dirty="0" err="1"/>
              <a:t>have</a:t>
            </a:r>
            <a:r>
              <a:rPr lang="de-DE" dirty="0"/>
              <a:t> </a:t>
            </a:r>
            <a:r>
              <a:rPr lang="de-DE" dirty="0" err="1"/>
              <a:t>written</a:t>
            </a:r>
            <a:r>
              <a:rPr lang="de-DE" dirty="0"/>
              <a:t> </a:t>
            </a:r>
            <a:r>
              <a:rPr lang="de-DE" dirty="0" err="1"/>
              <a:t>for</a:t>
            </a:r>
            <a:r>
              <a:rPr lang="de-DE" dirty="0"/>
              <a:t> </a:t>
            </a:r>
            <a:r>
              <a:rPr lang="de-DE" dirty="0" err="1"/>
              <a:t>their</a:t>
            </a:r>
            <a:r>
              <a:rPr lang="de-DE" dirty="0"/>
              <a:t> </a:t>
            </a:r>
            <a:r>
              <a:rPr lang="de-DE" dirty="0" err="1"/>
              <a:t>research</a:t>
            </a:r>
            <a:r>
              <a:rPr lang="de-DE" dirty="0"/>
              <a:t> </a:t>
            </a:r>
            <a:r>
              <a:rPr lang="de-DE" dirty="0" err="1"/>
              <a:t>is</a:t>
            </a:r>
            <a:r>
              <a:rPr lang="de-DE" dirty="0"/>
              <a:t> </a:t>
            </a:r>
            <a:r>
              <a:rPr lang="de-DE" dirty="0" err="1"/>
              <a:t>completely</a:t>
            </a:r>
            <a:r>
              <a:rPr lang="de-DE" dirty="0"/>
              <a:t> </a:t>
            </a:r>
            <a:r>
              <a:rPr lang="de-DE" dirty="0" err="1"/>
              <a:t>correct</a:t>
            </a:r>
            <a:r>
              <a:rPr lang="de-DE" dirty="0"/>
              <a:t> and </a:t>
            </a:r>
            <a:r>
              <a:rPr lang="de-DE" dirty="0" err="1"/>
              <a:t>has</a:t>
            </a:r>
            <a:r>
              <a:rPr lang="de-DE" dirty="0"/>
              <a:t> </a:t>
            </a:r>
            <a:r>
              <a:rPr lang="de-DE" dirty="0" err="1"/>
              <a:t>no</a:t>
            </a:r>
            <a:r>
              <a:rPr lang="de-DE" dirty="0"/>
              <a:t> </a:t>
            </a:r>
            <a:r>
              <a:rPr lang="de-DE" dirty="0" err="1"/>
              <a:t>bugs</a:t>
            </a:r>
            <a:r>
              <a:rPr lang="de-DE" dirty="0"/>
              <a:t>. </a:t>
            </a:r>
          </a:p>
          <a:p>
            <a:endParaRPr lang="de-DE" dirty="0"/>
          </a:p>
          <a:p>
            <a:r>
              <a:rPr lang="en-GB" b="0" i="1" dirty="0">
                <a:solidFill>
                  <a:srgbClr val="5C6370"/>
                </a:solidFill>
                <a:effectLst/>
                <a:latin typeface="Menlo" panose="020B0609030804020204" pitchFamily="49" charset="0"/>
              </a:rPr>
              <a:t>&gt; One reason we test is confidence when reusing code. Today `</a:t>
            </a:r>
            <a:r>
              <a:rPr lang="en-GB" b="0" i="1" dirty="0" err="1">
                <a:solidFill>
                  <a:srgbClr val="5C6370"/>
                </a:solidFill>
                <a:effectLst/>
                <a:latin typeface="Menlo" panose="020B0609030804020204" pitchFamily="49" charset="0"/>
              </a:rPr>
              <a:t>find_maxima</a:t>
            </a:r>
            <a:r>
              <a:rPr lang="en-GB" b="0" i="1" dirty="0">
                <a:solidFill>
                  <a:srgbClr val="5C6370"/>
                </a:solidFill>
                <a:effectLst/>
                <a:latin typeface="Menlo" panose="020B0609030804020204" pitchFamily="49" charset="0"/>
              </a:rPr>
              <a:t>` is a small function in an exercise. But in real scientific work, a function like this might later become part of a data-processing pipeline. Once that happens, you do not want to manually inspect every output after every change.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Connect: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We already manually checked cases like empty input, boundary maxima, and plateaus. If we reuse this function later, we do not want to manually type those examples again. We want them saved as executable checks.</a:t>
            </a:r>
            <a:endParaRPr lang="en-GB" b="0" dirty="0">
              <a:solidFill>
                <a:srgbClr val="ABB2BF"/>
              </a:solidFill>
              <a:effectLst/>
              <a:latin typeface="Menlo" panose="020B0609030804020204" pitchFamily="49" charset="0"/>
            </a:endParaRPr>
          </a:p>
          <a:p>
            <a:endParaRPr lang="de-DE" dirty="0"/>
          </a:p>
        </p:txBody>
      </p:sp>
    </p:spTree>
    <p:extLst>
      <p:ext uri="{BB962C8B-B14F-4D97-AF65-F5344CB8AC3E}">
        <p14:creationId xmlns:p14="http://schemas.microsoft.com/office/powerpoint/2010/main" val="3964139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hape 233"/>
          <p:cNvSpPr>
            <a:spLocks noGrp="1" noRot="1" noChangeAspect="1"/>
          </p:cNvSpPr>
          <p:nvPr>
            <p:ph type="sldImg"/>
          </p:nvPr>
        </p:nvSpPr>
        <p:spPr>
          <a:xfrm>
            <a:off x="381000" y="685800"/>
            <a:ext cx="6096000" cy="3429000"/>
          </a:xfrm>
          <a:prstGeom prst="rect">
            <a:avLst/>
          </a:prstGeom>
        </p:spPr>
        <p:txBody>
          <a:bodyPr/>
          <a:lstStyle/>
          <a:p>
            <a:endParaRPr/>
          </a:p>
        </p:txBody>
      </p:sp>
      <p:sp>
        <p:nvSpPr>
          <p:cNvPr id="234" name="Shape 234"/>
          <p:cNvSpPr>
            <a:spLocks noGrp="1"/>
          </p:cNvSpPr>
          <p:nvPr>
            <p:ph type="body" sz="quarter" idx="1"/>
          </p:nvPr>
        </p:nvSpPr>
        <p:spPr>
          <a:prstGeom prst="rect">
            <a:avLst/>
          </a:prstGeom>
        </p:spPr>
        <p:txBody>
          <a:bodyPr/>
          <a:lstStyle/>
          <a:p>
            <a:r>
              <a:rPr lang="de-DE" dirty="0"/>
              <a:t>2) </a:t>
            </a:r>
            <a:r>
              <a:rPr lang="de-DE" dirty="0" err="1"/>
              <a:t>insert</a:t>
            </a:r>
            <a:r>
              <a:rPr lang="de-DE" dirty="0"/>
              <a:t> </a:t>
            </a:r>
            <a:r>
              <a:rPr lang="de-DE" dirty="0" err="1"/>
              <a:t>example</a:t>
            </a:r>
            <a:r>
              <a:rPr lang="de-DE" dirty="0"/>
              <a:t> </a:t>
            </a:r>
            <a:r>
              <a:rPr lang="de-DE" dirty="0" err="1"/>
              <a:t>from</a:t>
            </a:r>
            <a:r>
              <a:rPr lang="de-DE" dirty="0"/>
              <a:t> </a:t>
            </a:r>
            <a:r>
              <a:rPr lang="de-DE" dirty="0" err="1"/>
              <a:t>yesterday</a:t>
            </a:r>
            <a:r>
              <a:rPr lang="de-DE" dirty="0"/>
              <a:t> / </a:t>
            </a:r>
            <a:r>
              <a:rPr lang="de-DE" dirty="0" err="1"/>
              <a:t>today</a:t>
            </a:r>
            <a:r>
              <a:rPr lang="de-DE" dirty="0"/>
              <a:t> </a:t>
            </a:r>
            <a:r>
              <a:rPr lang="de-DE" dirty="0" err="1"/>
              <a:t>morning</a:t>
            </a:r>
            <a:endParaRPr lang="de-DE" dirty="0"/>
          </a:p>
          <a:p>
            <a:endParaRPr lang="de-DE" dirty="0"/>
          </a:p>
          <a:p>
            <a:endParaRPr lang="de-DE" dirty="0"/>
          </a:p>
          <a:p>
            <a:r>
              <a:rPr lang="de-DE" dirty="0"/>
              <a:t>3) Even </a:t>
            </a:r>
            <a:r>
              <a:rPr lang="de-DE" dirty="0" err="1"/>
              <a:t>if</a:t>
            </a:r>
            <a:r>
              <a:rPr lang="de-DE" dirty="0"/>
              <a:t> </a:t>
            </a:r>
            <a:r>
              <a:rPr lang="de-DE" dirty="0" err="1"/>
              <a:t>you</a:t>
            </a:r>
            <a:r>
              <a:rPr lang="de-DE" dirty="0"/>
              <a:t> </a:t>
            </a:r>
            <a:r>
              <a:rPr lang="de-DE" dirty="0" err="1"/>
              <a:t>never</a:t>
            </a:r>
            <a:r>
              <a:rPr lang="de-DE" dirty="0"/>
              <a:t> </a:t>
            </a:r>
            <a:r>
              <a:rPr lang="de-DE" dirty="0" err="1"/>
              <a:t>work</a:t>
            </a:r>
            <a:r>
              <a:rPr lang="de-DE" dirty="0"/>
              <a:t> </a:t>
            </a:r>
            <a:r>
              <a:rPr lang="de-DE" dirty="0" err="1"/>
              <a:t>with</a:t>
            </a:r>
            <a:r>
              <a:rPr lang="de-DE" dirty="0"/>
              <a:t> </a:t>
            </a:r>
            <a:r>
              <a:rPr lang="de-DE" dirty="0" err="1"/>
              <a:t>anyone</a:t>
            </a:r>
            <a:r>
              <a:rPr lang="de-DE" dirty="0"/>
              <a:t> </a:t>
            </a:r>
            <a:r>
              <a:rPr lang="de-DE" dirty="0" err="1"/>
              <a:t>else</a:t>
            </a:r>
            <a:r>
              <a:rPr lang="de-DE" dirty="0"/>
              <a:t>, </a:t>
            </a:r>
            <a:r>
              <a:rPr lang="de-DE" dirty="0" err="1"/>
              <a:t>write</a:t>
            </a:r>
            <a:r>
              <a:rPr lang="de-DE" dirty="0"/>
              <a:t> all </a:t>
            </a:r>
            <a:r>
              <a:rPr lang="de-DE" dirty="0" err="1"/>
              <a:t>your</a:t>
            </a:r>
            <a:r>
              <a:rPr lang="de-DE" dirty="0"/>
              <a:t> code </a:t>
            </a:r>
            <a:r>
              <a:rPr lang="de-DE" dirty="0" err="1"/>
              <a:t>into</a:t>
            </a:r>
            <a:r>
              <a:rPr lang="de-DE" dirty="0"/>
              <a:t> </a:t>
            </a:r>
            <a:r>
              <a:rPr lang="de-DE" dirty="0" err="1"/>
              <a:t>one</a:t>
            </a:r>
            <a:r>
              <a:rPr lang="de-DE" dirty="0"/>
              <a:t> </a:t>
            </a:r>
            <a:r>
              <a:rPr lang="de-DE" dirty="0" err="1"/>
              <a:t>jupyter</a:t>
            </a:r>
            <a:r>
              <a:rPr lang="de-DE" dirty="0"/>
              <a:t> </a:t>
            </a:r>
            <a:r>
              <a:rPr lang="de-DE" dirty="0" err="1"/>
              <a:t>notebook</a:t>
            </a:r>
            <a:r>
              <a:rPr lang="de-DE" dirty="0"/>
              <a:t> </a:t>
            </a:r>
            <a:r>
              <a:rPr lang="de-DE" dirty="0" err="1"/>
              <a:t>that</a:t>
            </a:r>
            <a:r>
              <a:rPr lang="de-DE" dirty="0"/>
              <a:t> </a:t>
            </a:r>
            <a:r>
              <a:rPr lang="de-DE" dirty="0" err="1"/>
              <a:t>noone</a:t>
            </a:r>
            <a:r>
              <a:rPr lang="de-DE" dirty="0"/>
              <a:t> </a:t>
            </a:r>
            <a:r>
              <a:rPr lang="de-DE" dirty="0" err="1"/>
              <a:t>ever</a:t>
            </a:r>
            <a:r>
              <a:rPr lang="de-DE" dirty="0"/>
              <a:t> </a:t>
            </a:r>
            <a:r>
              <a:rPr lang="de-DE" dirty="0" err="1"/>
              <a:t>edits</a:t>
            </a:r>
            <a:r>
              <a:rPr lang="de-DE" dirty="0"/>
              <a:t>, </a:t>
            </a:r>
            <a:r>
              <a:rPr lang="de-DE" dirty="0" err="1"/>
              <a:t>then</a:t>
            </a:r>
            <a:r>
              <a:rPr lang="de-DE" dirty="0"/>
              <a:t> </a:t>
            </a:r>
            <a:r>
              <a:rPr lang="de-DE" dirty="0" err="1"/>
              <a:t>you</a:t>
            </a:r>
            <a:r>
              <a:rPr lang="de-DE" dirty="0"/>
              <a:t> still </a:t>
            </a:r>
            <a:r>
              <a:rPr lang="de-DE" dirty="0" err="1"/>
              <a:t>would</a:t>
            </a:r>
            <a:r>
              <a:rPr lang="de-DE" dirty="0"/>
              <a:t> like </a:t>
            </a:r>
            <a:r>
              <a:rPr lang="de-DE" dirty="0" err="1"/>
              <a:t>to</a:t>
            </a:r>
            <a:r>
              <a:rPr lang="de-DE" dirty="0"/>
              <a:t> </a:t>
            </a:r>
            <a:r>
              <a:rPr lang="de-DE" dirty="0" err="1"/>
              <a:t>be</a:t>
            </a:r>
            <a:r>
              <a:rPr lang="de-DE" dirty="0"/>
              <a:t> </a:t>
            </a:r>
            <a:r>
              <a:rPr lang="de-DE" dirty="0" err="1"/>
              <a:t>sure</a:t>
            </a:r>
            <a:r>
              <a:rPr lang="de-DE" dirty="0"/>
              <a:t> </a:t>
            </a:r>
            <a:r>
              <a:rPr lang="de-DE" dirty="0" err="1"/>
              <a:t>that</a:t>
            </a:r>
            <a:r>
              <a:rPr lang="de-DE" dirty="0"/>
              <a:t> </a:t>
            </a:r>
            <a:r>
              <a:rPr lang="de-DE" dirty="0" err="1"/>
              <a:t>it</a:t>
            </a:r>
            <a:r>
              <a:rPr lang="de-DE" dirty="0"/>
              <a:t> </a:t>
            </a:r>
            <a:r>
              <a:rPr lang="de-DE" dirty="0" err="1"/>
              <a:t>actually</a:t>
            </a:r>
            <a:r>
              <a:rPr lang="de-DE" dirty="0"/>
              <a:t> </a:t>
            </a:r>
            <a:r>
              <a:rPr lang="de-DE" dirty="0" err="1"/>
              <a:t>does</a:t>
            </a:r>
            <a:r>
              <a:rPr lang="de-DE" dirty="0"/>
              <a:t> </a:t>
            </a:r>
            <a:r>
              <a:rPr lang="de-DE" dirty="0" err="1"/>
              <a:t>what</a:t>
            </a:r>
            <a:r>
              <a:rPr lang="de-DE" dirty="0"/>
              <a:t> </a:t>
            </a:r>
            <a:r>
              <a:rPr lang="de-DE" dirty="0" err="1"/>
              <a:t>it</a:t>
            </a:r>
            <a:r>
              <a:rPr lang="de-DE" dirty="0"/>
              <a:t> </a:t>
            </a:r>
            <a:r>
              <a:rPr lang="de-DE" dirty="0" err="1"/>
              <a:t>does</a:t>
            </a:r>
            <a:endParaRPr lang="de-DE" dirty="0"/>
          </a:p>
          <a:p>
            <a:endParaRPr lang="de-DE" dirty="0"/>
          </a:p>
          <a:p>
            <a:endParaRPr lang="de-DE" dirty="0"/>
          </a:p>
          <a:p>
            <a:endParaRPr lang="de-DE" dirty="0"/>
          </a:p>
          <a:p>
            <a:r>
              <a:rPr lang="en-GB" b="0" i="1" dirty="0">
                <a:solidFill>
                  <a:srgbClr val="5C6370"/>
                </a:solidFill>
                <a:effectLst/>
                <a:latin typeface="Menlo" panose="020B0609030804020204" pitchFamily="49" charset="0"/>
              </a:rPr>
              <a:t>&gt; Most code is not written perfectly the first time. We often need to rename variables, split functions, optimize loops, remove duplication, or make code easier to read. But if we do that without tests, every </a:t>
            </a:r>
            <a:r>
              <a:rPr lang="en-GB" b="0" i="1" dirty="0" err="1">
                <a:solidFill>
                  <a:srgbClr val="5C6370"/>
                </a:solidFill>
                <a:effectLst/>
                <a:latin typeface="Menlo" panose="020B0609030804020204" pitchFamily="49" charset="0"/>
              </a:rPr>
              <a:t>cleanup</a:t>
            </a:r>
            <a:r>
              <a:rPr lang="en-GB" b="0" i="1" dirty="0">
                <a:solidFill>
                  <a:srgbClr val="5C6370"/>
                </a:solidFill>
                <a:effectLst/>
                <a:latin typeface="Menlo" panose="020B0609030804020204" pitchFamily="49" charset="0"/>
              </a:rPr>
              <a:t> is dangerous.</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Refactoring principle: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Refactoring should change structure, not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Tests are how we verify that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 did not change.</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Connect to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Suppose we rewrite the function and accidentally make endpoints no longer count as maxima. That might not show up in the first simple example, but it should be caught by a boundary test.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Example: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4</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5</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0</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5</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a:r>
          </a:p>
          <a:p>
            <a:endParaRPr lang="de-DE" dirty="0"/>
          </a:p>
          <a:p>
            <a:r>
              <a:rPr lang="de-DE" dirty="0"/>
              <a:t>[… </a:t>
            </a:r>
            <a:r>
              <a:rPr lang="de-DE" dirty="0" err="1"/>
              <a:t>slide</a:t>
            </a:r>
            <a:r>
              <a:rPr lang="de-DE" dirty="0"/>
              <a:t> …]</a:t>
            </a:r>
          </a:p>
          <a:p>
            <a:pPr marL="0" marR="0" lvl="0" indent="0" defTabSz="914400" eaLnBrk="1" fontAlgn="auto" latinLnBrk="0" hangingPunct="1">
              <a:lnSpc>
                <a:spcPct val="100000"/>
              </a:lnSpc>
              <a:spcBef>
                <a:spcPts val="400"/>
              </a:spcBef>
              <a:spcAft>
                <a:spcPts val="0"/>
              </a:spcAft>
              <a:buClrTx/>
              <a:buSzTx/>
              <a:buFontTx/>
              <a:buNone/>
              <a:tabLst/>
              <a:defRPr/>
            </a:pPr>
            <a:r>
              <a:rPr lang="de-DE" dirty="0" err="1"/>
              <a:t>If</a:t>
            </a:r>
            <a:r>
              <a:rPr lang="de-DE" dirty="0"/>
              <a:t> </a:t>
            </a:r>
            <a:r>
              <a:rPr lang="de-DE" dirty="0" err="1"/>
              <a:t>we</a:t>
            </a:r>
            <a:r>
              <a:rPr lang="de-DE" dirty="0"/>
              <a:t> </a:t>
            </a:r>
            <a:r>
              <a:rPr lang="de-DE" dirty="0" err="1"/>
              <a:t>think</a:t>
            </a:r>
            <a:r>
              <a:rPr lang="de-DE" dirty="0"/>
              <a:t> </a:t>
            </a:r>
            <a:r>
              <a:rPr lang="de-DE" dirty="0" err="1"/>
              <a:t>about</a:t>
            </a:r>
            <a:r>
              <a:rPr lang="de-DE" dirty="0"/>
              <a:t> </a:t>
            </a:r>
            <a:r>
              <a:rPr lang="de-DE" dirty="0" err="1"/>
              <a:t>correctness</a:t>
            </a:r>
            <a:r>
              <a:rPr lang="de-DE" dirty="0"/>
              <a:t> in </a:t>
            </a:r>
            <a:r>
              <a:rPr lang="de-DE" dirty="0" err="1"/>
              <a:t>computational</a:t>
            </a:r>
            <a:r>
              <a:rPr lang="de-DE" dirty="0"/>
              <a:t> </a:t>
            </a:r>
            <a:r>
              <a:rPr lang="de-DE" dirty="0" err="1"/>
              <a:t>science</a:t>
            </a:r>
            <a:r>
              <a:rPr lang="de-DE" dirty="0"/>
              <a:t> - </a:t>
            </a:r>
            <a:r>
              <a:rPr lang="de-DE" dirty="0" err="1"/>
              <a:t>there</a:t>
            </a:r>
            <a:r>
              <a:rPr lang="de-DE" dirty="0"/>
              <a:t> </a:t>
            </a:r>
            <a:r>
              <a:rPr lang="de-DE" dirty="0" err="1"/>
              <a:t>is</a:t>
            </a:r>
            <a:r>
              <a:rPr lang="de-DE" dirty="0"/>
              <a:t> </a:t>
            </a:r>
            <a:r>
              <a:rPr lang="de-DE" dirty="0" err="1"/>
              <a:t>incorrect</a:t>
            </a:r>
            <a:r>
              <a:rPr lang="de-DE" dirty="0"/>
              <a:t> and </a:t>
            </a:r>
            <a:r>
              <a:rPr lang="de-DE" dirty="0" err="1"/>
              <a:t>there</a:t>
            </a:r>
            <a:r>
              <a:rPr lang="de-DE" dirty="0"/>
              <a:t> </a:t>
            </a:r>
            <a:r>
              <a:rPr lang="de-DE" dirty="0" err="1"/>
              <a:t>is</a:t>
            </a:r>
            <a:r>
              <a:rPr lang="de-DE" dirty="0"/>
              <a:t> INCORRECT</a:t>
            </a:r>
          </a:p>
          <a:p>
            <a:endParaRPr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Shape 256"/>
          <p:cNvSpPr>
            <a:spLocks noGrp="1" noRot="1" noChangeAspect="1"/>
          </p:cNvSpPr>
          <p:nvPr>
            <p:ph type="sldImg"/>
          </p:nvPr>
        </p:nvSpPr>
        <p:spPr>
          <a:xfrm>
            <a:off x="381000" y="685800"/>
            <a:ext cx="6096000" cy="3429000"/>
          </a:xfrm>
          <a:prstGeom prst="rect">
            <a:avLst/>
          </a:prstGeom>
        </p:spPr>
        <p:txBody>
          <a:bodyPr/>
          <a:lstStyle/>
          <a:p>
            <a:endParaRPr/>
          </a:p>
        </p:txBody>
      </p:sp>
      <p:sp>
        <p:nvSpPr>
          <p:cNvPr id="257" name="Shape 257"/>
          <p:cNvSpPr>
            <a:spLocks noGrp="1"/>
          </p:cNvSpPr>
          <p:nvPr>
            <p:ph type="body" sz="quarter" idx="1"/>
          </p:nvPr>
        </p:nvSpPr>
        <p:spPr>
          <a:prstGeom prst="rect">
            <a:avLst/>
          </a:prstGeom>
        </p:spPr>
        <p:txBody>
          <a:bodyPr/>
          <a:lstStyle/>
          <a:p>
            <a:r>
              <a:rPr dirty="0"/>
              <a:t>Made up plot, not backed by any data; and no error bars!</a:t>
            </a:r>
          </a:p>
          <a:p>
            <a:r>
              <a:rPr dirty="0"/>
              <a:t>This slide is supposed to scare you into listening to the rest</a:t>
            </a:r>
          </a:p>
          <a:p>
            <a:endParaRPr lang="de-DE" dirty="0"/>
          </a:p>
          <a:p>
            <a:endParaRPr lang="en-DE" dirty="0"/>
          </a:p>
          <a:p>
            <a:r>
              <a:rPr lang="en-GB" b="0" dirty="0" err="1">
                <a:solidFill>
                  <a:srgbClr val="ABB2BF"/>
                </a:solidFill>
                <a:effectLst/>
                <a:latin typeface="Menlo" panose="020B0609030804020204" pitchFamily="49" charset="0"/>
              </a:rPr>
              <a:t>cientific</a:t>
            </a:r>
            <a:r>
              <a:rPr lang="en-GB" b="0" dirty="0">
                <a:solidFill>
                  <a:srgbClr val="ABB2BF"/>
                </a:solidFill>
                <a:effectLst/>
                <a:latin typeface="Menlo" panose="020B0609030804020204" pitchFamily="49" charset="0"/>
              </a:rPr>
              <a:t> code can produce wrong results without crashing.</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In scientific code, the program often does not crash when it is wrong. It just gives a number, an array, a figure, or a fitted parameter. The output may look reasonable even when the implementation is wrong.</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Then:</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That means we need explicit checks against things we already know: simple examples, analytical solutions, conservation laws, boundary cases, symmetries, or previously validated results.</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Scientific examples: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 A numerical solver should reproduce a known analytical solution.</a:t>
            </a:r>
          </a:p>
          <a:p>
            <a:r>
              <a:rPr lang="en-GB" b="0" dirty="0">
                <a:solidFill>
                  <a:srgbClr val="ABB2BF"/>
                </a:solidFill>
                <a:effectLst/>
                <a:latin typeface="Menlo" panose="020B0609030804020204" pitchFamily="49" charset="0"/>
              </a:rPr>
              <a:t>- A fitting routine should recover known parameters from synthetic data.</a:t>
            </a:r>
          </a:p>
          <a:p>
            <a:r>
              <a:rPr lang="en-GB" b="0" dirty="0">
                <a:solidFill>
                  <a:srgbClr val="ABB2BF"/>
                </a:solidFill>
                <a:effectLst/>
                <a:latin typeface="Menlo" panose="020B0609030804020204" pitchFamily="49" charset="0"/>
              </a:rPr>
              <a:t>- A simulation should conserve mass, energy, or probability if the model says it should.</a:t>
            </a:r>
          </a:p>
          <a:p>
            <a:r>
              <a:rPr lang="en-GB" b="0" dirty="0">
                <a:solidFill>
                  <a:srgbClr val="ABB2BF"/>
                </a:solidFill>
                <a:effectLst/>
                <a:latin typeface="Menlo" panose="020B0609030804020204" pitchFamily="49" charset="0"/>
              </a:rPr>
              <a:t>- A data-cleaning function should preserve row counts except where filtering is intended.</a:t>
            </a:r>
          </a:p>
          <a:p>
            <a:r>
              <a:rPr lang="en-GB" b="0" dirty="0">
                <a:solidFill>
                  <a:srgbClr val="ABB2BF"/>
                </a:solidFill>
                <a:effectLst/>
                <a:latin typeface="Menlo" panose="020B0609030804020204" pitchFamily="49" charset="0"/>
              </a:rPr>
              <a:t>- A random process should be reproducible when the seed is fixed.</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Key phrase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A test is an executable scientific claim.</a:t>
            </a:r>
            <a:endParaRPr lang="en-GB" b="0" dirty="0">
              <a:solidFill>
                <a:srgbClr val="ABB2BF"/>
              </a:solidFill>
              <a:effectLst/>
              <a:latin typeface="Menlo" panose="020B0609030804020204" pitchFamily="49" charset="0"/>
            </a:endParaRPr>
          </a:p>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hape 266"/>
          <p:cNvSpPr>
            <a:spLocks noGrp="1" noRot="1" noChangeAspect="1"/>
          </p:cNvSpPr>
          <p:nvPr>
            <p:ph type="sldImg"/>
          </p:nvPr>
        </p:nvSpPr>
        <p:spPr>
          <a:xfrm>
            <a:off x="381000" y="685800"/>
            <a:ext cx="6096000" cy="3429000"/>
          </a:xfrm>
          <a:prstGeom prst="rect">
            <a:avLst/>
          </a:prstGeom>
        </p:spPr>
        <p:txBody>
          <a:bodyPr/>
          <a:lstStyle/>
          <a:p>
            <a:endParaRPr/>
          </a:p>
        </p:txBody>
      </p:sp>
      <p:sp>
        <p:nvSpPr>
          <p:cNvPr id="267" name="Shape 267"/>
          <p:cNvSpPr>
            <a:spLocks noGrp="1"/>
          </p:cNvSpPr>
          <p:nvPr>
            <p:ph type="body" sz="quarter" idx="1"/>
          </p:nvPr>
        </p:nvSpPr>
        <p:spPr>
          <a:prstGeom prst="rect">
            <a:avLst/>
          </a:prstGeom>
        </p:spPr>
        <p:txBody>
          <a:bodyPr/>
          <a:lstStyle/>
          <a:p>
            <a:r>
              <a:rPr dirty="0"/>
              <a:t>When you get a crappy result, you triple check your code for bugs. If the results come out just the way you want them to, how much effort are you going to put into double-checking?</a:t>
            </a:r>
          </a:p>
          <a:p>
            <a:endParaRPr dirty="0"/>
          </a:p>
          <a:p>
            <a:r>
              <a:rPr dirty="0"/>
              <a:t>For two errors reported and retraced, many more undetected or not reported.</a:t>
            </a:r>
            <a:endParaRPr lang="de-DE" dirty="0"/>
          </a:p>
          <a:p>
            <a:endParaRPr lang="en-DE" dirty="0"/>
          </a:p>
          <a:p>
            <a:r>
              <a:rPr lang="en-GB" b="0" dirty="0">
                <a:solidFill>
                  <a:srgbClr val="ABB2BF"/>
                </a:solidFill>
                <a:effectLst/>
                <a:latin typeface="Menlo" panose="020B0609030804020204" pitchFamily="49" charset="0"/>
              </a:rPr>
              <a:t>Software mistakes can affect scientific conclusions and may be discovered late.</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This kind of failure is especially painful in research because the output can look authoritative. It may be plotted, published, reused, and cited before anyone notices the bug.</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Then:</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Tests cannot guarantee that a scientific result is true. But they reduce the chance that the result is wrong because of a simple implementation mistake.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Important distinction: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No tests: unknown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Some tests: checked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 for specific claims.</a:t>
            </a:r>
          </a:p>
          <a:p>
            <a:r>
              <a:rPr lang="en-GB" b="0" dirty="0">
                <a:solidFill>
                  <a:srgbClr val="ABB2BF"/>
                </a:solidFill>
                <a:effectLst/>
                <a:latin typeface="Menlo" panose="020B0609030804020204" pitchFamily="49" charset="0"/>
              </a:rPr>
              <a:t>Good tests: many important claims checked automatically.</a:t>
            </a:r>
          </a:p>
          <a:p>
            <a:r>
              <a:rPr lang="en-GB" b="0" dirty="0">
                <a:solidFill>
                  <a:srgbClr val="ABB2BF"/>
                </a:solidFill>
                <a:effectLst/>
                <a:latin typeface="Menlo" panose="020B0609030804020204" pitchFamily="49" charset="0"/>
              </a:rPr>
              <a:t>```</a:t>
            </a:r>
          </a:p>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Shape 291"/>
          <p:cNvSpPr>
            <a:spLocks noGrp="1" noRot="1" noChangeAspect="1"/>
          </p:cNvSpPr>
          <p:nvPr>
            <p:ph type="sldImg"/>
          </p:nvPr>
        </p:nvSpPr>
        <p:spPr>
          <a:xfrm>
            <a:off x="381000" y="685800"/>
            <a:ext cx="6096000" cy="3429000"/>
          </a:xfrm>
          <a:prstGeom prst="rect">
            <a:avLst/>
          </a:prstGeom>
        </p:spPr>
        <p:txBody>
          <a:bodyPr/>
          <a:lstStyle/>
          <a:p>
            <a:endParaRPr/>
          </a:p>
        </p:txBody>
      </p:sp>
      <p:sp>
        <p:nvSpPr>
          <p:cNvPr id="292" name="Shape 292"/>
          <p:cNvSpPr>
            <a:spLocks noGrp="1"/>
          </p:cNvSpPr>
          <p:nvPr>
            <p:ph type="body" sz="quarter" idx="1"/>
          </p:nvPr>
        </p:nvSpPr>
        <p:spPr>
          <a:prstGeom prst="rect">
            <a:avLst/>
          </a:prstGeom>
        </p:spPr>
        <p:txBody>
          <a:bodyPr/>
          <a:lstStyle/>
          <a:p>
            <a:r>
              <a:rPr dirty="0"/>
              <a:t>tests were a bit like you only using the obvious array to test your </a:t>
            </a:r>
            <a:r>
              <a:rPr dirty="0" err="1"/>
              <a:t>find_maxima</a:t>
            </a:r>
            <a:r>
              <a:rPr dirty="0"/>
              <a:t> function, but not testing on an empty list or maxima at the ends etc.</a:t>
            </a:r>
            <a:endParaRPr lang="de-DE" dirty="0"/>
          </a:p>
          <a:p>
            <a:endParaRPr lang="en-DE" dirty="0"/>
          </a:p>
          <a:p>
            <a:r>
              <a:rPr lang="en-GB" b="0" i="1" dirty="0">
                <a:solidFill>
                  <a:srgbClr val="5C6370"/>
                </a:solidFill>
                <a:effectLst/>
                <a:latin typeface="Menlo" panose="020B0609030804020204" pitchFamily="49" charset="0"/>
              </a:rPr>
              <a:t>&gt; A common testing failure is testing only the happy path: the normal input, the clean dataset, the example from the tutorial. But many serious failures happen on malformed input, boundary cases, unexpected shapes, empty data, missing values, or rare combinations.</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Connect to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Happy path: [1, 3, -2, 0, 2, 1]</a:t>
            </a:r>
          </a:p>
          <a:p>
            <a:r>
              <a:rPr lang="en-GB" b="0" dirty="0">
                <a:solidFill>
                  <a:srgbClr val="ABB2BF"/>
                </a:solidFill>
                <a:effectLst/>
                <a:latin typeface="Menlo" panose="020B0609030804020204" pitchFamily="49" charset="0"/>
              </a:rPr>
              <a:t>Boundary case: []</a:t>
            </a:r>
          </a:p>
          <a:p>
            <a:r>
              <a:rPr lang="en-GB" b="0" dirty="0">
                <a:solidFill>
                  <a:srgbClr val="ABB2BF"/>
                </a:solidFill>
                <a:effectLst/>
                <a:latin typeface="Menlo" panose="020B0609030804020204" pitchFamily="49" charset="0"/>
              </a:rPr>
              <a:t>Endpoint </a:t>
            </a:r>
            <a:r>
              <a:rPr lang="en-GB" b="0" dirty="0" err="1">
                <a:solidFill>
                  <a:srgbClr val="ABB2BF"/>
                </a:solidFill>
                <a:effectLst/>
                <a:latin typeface="Menlo" panose="020B0609030804020204" pitchFamily="49" charset="0"/>
              </a:rPr>
              <a:t>behavior</a:t>
            </a:r>
            <a:r>
              <a:rPr lang="en-GB" b="0" dirty="0">
                <a:solidFill>
                  <a:srgbClr val="ABB2BF"/>
                </a:solidFill>
                <a:effectLst/>
                <a:latin typeface="Menlo" panose="020B0609030804020204" pitchFamily="49" charset="0"/>
              </a:rPr>
              <a:t>: [4, 2, 1, 3, 1, 5]</a:t>
            </a:r>
          </a:p>
          <a:p>
            <a:r>
              <a:rPr lang="en-GB" b="0" dirty="0">
                <a:solidFill>
                  <a:srgbClr val="ABB2BF"/>
                </a:solidFill>
                <a:effectLst/>
                <a:latin typeface="Menlo" panose="020B0609030804020204" pitchFamily="49" charset="0"/>
              </a:rPr>
              <a:t>Ambiguous case: [1, 2, 2, 1]</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Classroom question</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What is the equivalent of an empty list or plateau in your own data?</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 examples: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 empty CSV file</a:t>
            </a:r>
          </a:p>
          <a:p>
            <a:r>
              <a:rPr lang="en-GB" b="0" dirty="0">
                <a:solidFill>
                  <a:srgbClr val="ABB2BF"/>
                </a:solidFill>
                <a:effectLst/>
                <a:latin typeface="Menlo" panose="020B0609030804020204" pitchFamily="49" charset="0"/>
              </a:rPr>
              <a:t>- missing column</a:t>
            </a:r>
          </a:p>
          <a:p>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NaN</a:t>
            </a:r>
            <a:r>
              <a:rPr lang="en-GB" b="0" dirty="0">
                <a:solidFill>
                  <a:srgbClr val="ABB2BF"/>
                </a:solidFill>
                <a:effectLst/>
                <a:latin typeface="Menlo" panose="020B0609030804020204" pitchFamily="49" charset="0"/>
              </a:rPr>
              <a:t> values</a:t>
            </a:r>
          </a:p>
          <a:p>
            <a:r>
              <a:rPr lang="en-GB" b="0" dirty="0">
                <a:solidFill>
                  <a:srgbClr val="ABB2BF"/>
                </a:solidFill>
                <a:effectLst/>
                <a:latin typeface="Menlo" panose="020B0609030804020204" pitchFamily="49" charset="0"/>
              </a:rPr>
              <a:t>- duplicate timestamps</a:t>
            </a:r>
          </a:p>
          <a:p>
            <a:r>
              <a:rPr lang="en-GB" b="0" dirty="0">
                <a:solidFill>
                  <a:srgbClr val="ABB2BF"/>
                </a:solidFill>
                <a:effectLst/>
                <a:latin typeface="Menlo" panose="020B0609030804020204" pitchFamily="49" charset="0"/>
              </a:rPr>
              <a:t>- all-zero measurements</a:t>
            </a:r>
          </a:p>
          <a:p>
            <a:r>
              <a:rPr lang="en-GB" b="0" dirty="0">
                <a:solidFill>
                  <a:srgbClr val="ABB2BF"/>
                </a:solidFill>
                <a:effectLst/>
                <a:latin typeface="Menlo" panose="020B0609030804020204" pitchFamily="49" charset="0"/>
              </a:rPr>
              <a:t>- one-row dataset</a:t>
            </a:r>
          </a:p>
          <a:p>
            <a:r>
              <a:rPr lang="en-GB" b="0" dirty="0">
                <a:solidFill>
                  <a:srgbClr val="ABB2BF"/>
                </a:solidFill>
                <a:effectLst/>
                <a:latin typeface="Menlo" panose="020B0609030804020204" pitchFamily="49" charset="0"/>
              </a:rPr>
              <a:t>- non-monotonic time axis</a:t>
            </a:r>
          </a:p>
          <a:p>
            <a:r>
              <a:rPr lang="en-GB" b="0" dirty="0">
                <a:solidFill>
                  <a:srgbClr val="ABB2BF"/>
                </a:solidFill>
                <a:effectLst/>
                <a:latin typeface="Menlo" panose="020B0609030804020204" pitchFamily="49" charset="0"/>
              </a:rPr>
              <a:t>- unexpected units</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Transition</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Now that we have the motivation, we can start writing actual automated tests.</a:t>
            </a:r>
            <a:endParaRPr lang="en-GB" b="0" dirty="0">
              <a:solidFill>
                <a:srgbClr val="ABB2BF"/>
              </a:solidFill>
              <a:effectLst/>
              <a:latin typeface="Menlo" panose="020B0609030804020204" pitchFamily="49" charset="0"/>
            </a:endParaRPr>
          </a:p>
          <a:p>
            <a:r>
              <a:rPr dirty="0"/>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I </a:t>
            </a:r>
            <a:r>
              <a:rPr lang="de-DE" dirty="0" err="1"/>
              <a:t>hope</a:t>
            </a:r>
            <a:r>
              <a:rPr lang="de-DE" dirty="0"/>
              <a:t> I </a:t>
            </a:r>
            <a:r>
              <a:rPr lang="de-DE" dirty="0" err="1"/>
              <a:t>have</a:t>
            </a:r>
            <a:r>
              <a:rPr lang="de-DE" dirty="0"/>
              <a:t> </a:t>
            </a:r>
            <a:r>
              <a:rPr lang="de-DE" dirty="0" err="1"/>
              <a:t>given</a:t>
            </a:r>
            <a:r>
              <a:rPr lang="de-DE" dirty="0"/>
              <a:t> </a:t>
            </a:r>
            <a:r>
              <a:rPr lang="de-DE" dirty="0" err="1"/>
              <a:t>you</a:t>
            </a:r>
            <a:r>
              <a:rPr lang="de-DE" dirty="0"/>
              <a:t> </a:t>
            </a:r>
            <a:r>
              <a:rPr lang="de-DE" dirty="0" err="1"/>
              <a:t>enough</a:t>
            </a:r>
            <a:r>
              <a:rPr lang="de-DE" dirty="0"/>
              <a:t> </a:t>
            </a:r>
            <a:r>
              <a:rPr lang="de-DE" dirty="0" err="1"/>
              <a:t>motivation</a:t>
            </a:r>
            <a:r>
              <a:rPr lang="de-DE" dirty="0"/>
              <a:t>. So </a:t>
            </a:r>
            <a:r>
              <a:rPr lang="de-DE" dirty="0" err="1"/>
              <a:t>let‘s</a:t>
            </a:r>
            <a:r>
              <a:rPr lang="de-DE" dirty="0"/>
              <a:t> </a:t>
            </a:r>
            <a:r>
              <a:rPr lang="de-DE" dirty="0" err="1"/>
              <a:t>get</a:t>
            </a:r>
            <a:r>
              <a:rPr lang="de-DE" dirty="0"/>
              <a:t> </a:t>
            </a:r>
            <a:r>
              <a:rPr lang="de-DE" dirty="0" err="1"/>
              <a:t>into</a:t>
            </a:r>
            <a:r>
              <a:rPr lang="de-DE" dirty="0"/>
              <a:t> </a:t>
            </a:r>
            <a:r>
              <a:rPr lang="de-DE" dirty="0" err="1"/>
              <a:t>testing</a:t>
            </a:r>
            <a:r>
              <a:rPr lang="de-DE" dirty="0"/>
              <a:t>. </a:t>
            </a:r>
          </a:p>
          <a:p>
            <a:endParaRPr lang="de-DE" dirty="0"/>
          </a:p>
          <a:p>
            <a:r>
              <a:rPr lang="en-GB" b="0" dirty="0">
                <a:solidFill>
                  <a:srgbClr val="ABB2BF"/>
                </a:solidFill>
                <a:effectLst/>
                <a:latin typeface="Menlo" panose="020B0609030804020204" pitchFamily="49" charset="0"/>
              </a:rPr>
              <a:t>A test is just code that calls other code and checks the result.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Terminal</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From `</a:t>
            </a:r>
            <a:r>
              <a:rPr lang="en-GB" b="0" dirty="0" err="1">
                <a:solidFill>
                  <a:srgbClr val="ABB2BF"/>
                </a:solidFill>
                <a:effectLst/>
                <a:latin typeface="Menlo" panose="020B0609030804020204" pitchFamily="49" charset="0"/>
              </a:rPr>
              <a:t>hands_on</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local_maxima</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56B6C2"/>
                </a:solidFill>
                <a:effectLst/>
                <a:latin typeface="Menlo" panose="020B0609030804020204" pitchFamily="49" charset="0"/>
              </a:rPr>
              <a:t>cd</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../first</a:t>
            </a:r>
            <a:endParaRPr lang="en-GB" b="0" dirty="0">
              <a:solidFill>
                <a:srgbClr val="ABB2BF"/>
              </a:solidFill>
              <a:effectLst/>
              <a:latin typeface="Menlo" panose="020B0609030804020204" pitchFamily="49" charset="0"/>
            </a:endParaRPr>
          </a:p>
          <a:p>
            <a:r>
              <a:rPr lang="en-GB" b="0" dirty="0" err="1">
                <a:solidFill>
                  <a:srgbClr val="61AFEF"/>
                </a:solidFill>
                <a:effectLst/>
                <a:latin typeface="Menlo" panose="020B0609030804020204" pitchFamily="49" charset="0"/>
              </a:rPr>
              <a:t>sed</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-n</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'1,120p'</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first.py</a:t>
            </a:r>
            <a:endParaRPr lang="en-GB" b="0" dirty="0">
              <a:solidFill>
                <a:srgbClr val="ABB2BF"/>
              </a:solidFill>
              <a:effectLst/>
              <a:latin typeface="Menlo" panose="020B0609030804020204" pitchFamily="49" charset="0"/>
            </a:endParaRPr>
          </a:p>
          <a:p>
            <a:r>
              <a:rPr lang="en-GB" b="0" dirty="0" err="1">
                <a:solidFill>
                  <a:srgbClr val="61AFEF"/>
                </a:solidFill>
                <a:effectLst/>
                <a:latin typeface="Menlo" panose="020B0609030804020204" pitchFamily="49" charset="0"/>
              </a:rPr>
              <a:t>sed</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-n</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'1,160p'</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test_first.py</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 `</a:t>
            </a:r>
            <a:r>
              <a:rPr lang="en-GB" b="0" dirty="0" err="1">
                <a:solidFill>
                  <a:srgbClr val="ABB2BF"/>
                </a:solidFill>
                <a:effectLst/>
                <a:latin typeface="Menlo" panose="020B0609030804020204" pitchFamily="49" charset="0"/>
              </a:rPr>
              <a:t>first.py</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a:solidFill>
                  <a:srgbClr val="61AFEF"/>
                </a:solidFill>
                <a:effectLst/>
                <a:latin typeface="Menlo" panose="020B0609030804020204" pitchFamily="49" charset="0"/>
              </a:rPr>
              <a:t>times_3</a:t>
            </a:r>
            <a:r>
              <a:rPr lang="en-GB" b="0" dirty="0">
                <a:solidFill>
                  <a:srgbClr val="ABB2BF"/>
                </a:solidFill>
                <a:effectLst/>
                <a:latin typeface="Menlo" panose="020B0609030804020204" pitchFamily="49" charset="0"/>
              </a:rPr>
              <a:t>(x):</a:t>
            </a:r>
          </a:p>
          <a:p>
            <a:r>
              <a:rPr lang="en-GB" b="0" dirty="0">
                <a:solidFill>
                  <a:srgbClr val="C678DD"/>
                </a:solidFill>
                <a:effectLst/>
                <a:latin typeface="Menlo" panose="020B0609030804020204" pitchFamily="49" charset="0"/>
              </a:rPr>
              <a:t>return</a:t>
            </a:r>
            <a:r>
              <a:rPr lang="en-GB" b="0" dirty="0">
                <a:solidFill>
                  <a:srgbClr val="ABB2BF"/>
                </a:solidFill>
                <a:effectLst/>
                <a:latin typeface="Menlo" panose="020B0609030804020204" pitchFamily="49" charset="0"/>
              </a:rPr>
              <a:t> 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This is intentionally simple. The goal is not to learn multiplication. The goal is to learn the shape of a test.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Explain the test pattern: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ABB2BF"/>
                </a:solidFill>
                <a:effectLst/>
                <a:latin typeface="Menlo" panose="020B0609030804020204" pitchFamily="49" charset="0"/>
              </a:rPr>
              <a:t>value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7</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expected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21</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result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times_3(value)</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result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expected</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Say:</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This is the basic pattern: prepare input, compute result, compare result to expectation.</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Optional term:</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Arrange → Act → Assert</a:t>
            </a:r>
          </a:p>
          <a:p>
            <a:r>
              <a:rPr lang="en-GB" b="0" dirty="0">
                <a:solidFill>
                  <a:srgbClr val="ABB2BF"/>
                </a:solidFill>
                <a:effectLst/>
                <a:latin typeface="Menlo" panose="020B0609030804020204" pitchFamily="49" charset="0"/>
              </a:rPr>
              <a:t>```</a:t>
            </a:r>
          </a:p>
          <a:p>
            <a:endParaRPr lang="de-DE" dirty="0"/>
          </a:p>
        </p:txBody>
      </p:sp>
    </p:spTree>
    <p:extLst>
      <p:ext uri="{BB962C8B-B14F-4D97-AF65-F5344CB8AC3E}">
        <p14:creationId xmlns:p14="http://schemas.microsoft.com/office/powerpoint/2010/main" val="1152047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Shape 309"/>
          <p:cNvSpPr>
            <a:spLocks noGrp="1" noRot="1" noChangeAspect="1"/>
          </p:cNvSpPr>
          <p:nvPr>
            <p:ph type="sldImg"/>
          </p:nvPr>
        </p:nvSpPr>
        <p:spPr>
          <a:xfrm>
            <a:off x="381000" y="685800"/>
            <a:ext cx="6096000" cy="3429000"/>
          </a:xfrm>
          <a:prstGeom prst="rect">
            <a:avLst/>
          </a:prstGeom>
        </p:spPr>
        <p:txBody>
          <a:bodyPr/>
          <a:lstStyle/>
          <a:p>
            <a:endParaRPr/>
          </a:p>
        </p:txBody>
      </p:sp>
      <p:sp>
        <p:nvSpPr>
          <p:cNvPr id="310" name="Shape 310"/>
          <p:cNvSpPr>
            <a:spLocks noGrp="1"/>
          </p:cNvSpPr>
          <p:nvPr>
            <p:ph type="body" sz="quarter" idx="1"/>
          </p:nvPr>
        </p:nvSpPr>
        <p:spPr>
          <a:prstGeom prst="rect">
            <a:avLst/>
          </a:prstGeom>
        </p:spPr>
        <p:txBody>
          <a:bodyPr/>
          <a:lstStyle/>
          <a:p>
            <a:r>
              <a:rPr lang="en-US" dirty="0"/>
              <a:t>DEMO</a:t>
            </a:r>
            <a:endParaRPr dirty="0"/>
          </a:p>
          <a:p>
            <a:r>
              <a:rPr dirty="0"/>
              <a:t>1. test manually: </a:t>
            </a:r>
            <a:r>
              <a:rPr lang="en-US" dirty="0"/>
              <a:t>write result = times_3(2) into file and run it </a:t>
            </a:r>
            <a:r>
              <a:rPr lang="en-US" dirty="0">
                <a:sym typeface="Wingdings" pitchFamily="2" charset="2"/>
              </a:rPr>
              <a:t> correct result.</a:t>
            </a: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    - </a:t>
            </a:r>
            <a:r>
              <a:rPr lang="en-US" dirty="0"/>
              <a:t>write result = times_3(2) into file and run it </a:t>
            </a:r>
            <a:r>
              <a:rPr lang="en-US" dirty="0">
                <a:sym typeface="Wingdings" pitchFamily="2" charset="2"/>
              </a:rPr>
              <a:t> correct result.</a:t>
            </a: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    - change 2  “a” and run again</a:t>
            </a:r>
          </a:p>
          <a:p>
            <a:pPr marL="0" marR="0" lvl="0" indent="0" defTabSz="914400" eaLnBrk="1" fontAlgn="auto" latinLnBrk="0" hangingPunct="1">
              <a:lnSpc>
                <a:spcPct val="100000"/>
              </a:lnSpc>
              <a:spcBef>
                <a:spcPts val="400"/>
              </a:spcBef>
              <a:spcAft>
                <a:spcPts val="0"/>
              </a:spcAft>
              <a:buClrTx/>
              <a:buSzTx/>
              <a:buFontTx/>
              <a:buNone/>
              <a:tabLst/>
              <a:defRPr/>
            </a:pPr>
            <a:endParaRPr lang="en-US" dirty="0">
              <a:sym typeface="Wingdings" pitchFamily="2" charset="2"/>
            </a:endParaRP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I just tested my function. Cool. </a:t>
            </a: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How can I improve this? NO CODING</a:t>
            </a:r>
          </a:p>
          <a:p>
            <a:endParaRPr lang="en-US" dirty="0">
              <a:sym typeface="Wingdings" pitchFamily="2" charset="2"/>
            </a:endParaRPr>
          </a:p>
          <a:p>
            <a:pPr marL="171450" indent="-171450">
              <a:buFont typeface="Wingdings" pitchFamily="2" charset="2"/>
              <a:buChar char="à"/>
            </a:pPr>
            <a:r>
              <a:rPr lang="en-US" dirty="0">
                <a:sym typeface="Wingdings" pitchFamily="2" charset="2"/>
              </a:rPr>
              <a:t>keep both tests in file</a:t>
            </a:r>
          </a:p>
          <a:p>
            <a:pPr marL="171450" indent="-171450">
              <a:buFont typeface="Wingdings" pitchFamily="2" charset="2"/>
              <a:buChar char="à"/>
            </a:pPr>
            <a:r>
              <a:rPr lang="en-US" dirty="0">
                <a:sym typeface="Wingdings" pitchFamily="2" charset="2"/>
              </a:rPr>
              <a:t>write what the expected value is</a:t>
            </a:r>
          </a:p>
          <a:p>
            <a:pPr marL="171450" indent="-171450">
              <a:buFont typeface="Wingdings" pitchFamily="2" charset="2"/>
              <a:buChar char="à"/>
            </a:pPr>
            <a:r>
              <a:rPr lang="en-US" dirty="0">
                <a:sym typeface="Wingdings" pitchFamily="2" charset="2"/>
              </a:rPr>
              <a:t>if name == main</a:t>
            </a:r>
          </a:p>
          <a:p>
            <a:pPr marL="171450" indent="-171450">
              <a:buFont typeface="Wingdings" pitchFamily="2" charset="2"/>
              <a:buChar char="à"/>
            </a:pPr>
            <a:r>
              <a:rPr lang="en-US" dirty="0">
                <a:sym typeface="Wingdings" pitchFamily="2" charset="2"/>
              </a:rPr>
              <a:t>what if you write many more functions</a:t>
            </a:r>
          </a:p>
          <a:p>
            <a:endParaRPr lang="en-US" dirty="0"/>
          </a:p>
          <a:p>
            <a:r>
              <a:rPr lang="en-US" dirty="0"/>
              <a:t>You know what would be really cool?</a:t>
            </a:r>
          </a:p>
          <a:p>
            <a:r>
              <a:rPr lang="en-US" dirty="0"/>
              <a:t>If I could move all of this code somewhere else, into a different directory and be able to collect all of the test cases and be able to run them any time I want.  </a:t>
            </a:r>
          </a:p>
          <a:p>
            <a:r>
              <a:rPr lang="en-US" dirty="0" err="1"/>
              <a:t>Tadaaa</a:t>
            </a:r>
            <a:r>
              <a:rPr lang="en-US" dirty="0"/>
              <a:t> – this is where we get to </a:t>
            </a:r>
            <a:r>
              <a:rPr lang="en-US" dirty="0" err="1"/>
              <a:t>Pytest</a:t>
            </a:r>
            <a:r>
              <a:rPr lang="en-US" dirty="0"/>
              <a:t>, which enables us to do all of that. </a:t>
            </a:r>
          </a:p>
          <a:p>
            <a:endParaRPr lang="en-US" dirty="0"/>
          </a:p>
          <a:p>
            <a:r>
              <a:rPr lang="en-US" dirty="0"/>
              <a:t>DEMO</a:t>
            </a:r>
          </a:p>
          <a:p>
            <a:endParaRPr lang="en-US" dirty="0"/>
          </a:p>
          <a:p>
            <a:r>
              <a:rPr lang="en-US" b="0" dirty="0">
                <a:solidFill>
                  <a:srgbClr val="E06C75"/>
                </a:solidFill>
                <a:effectLst/>
                <a:latin typeface="Menlo" panose="020B0609030804020204" pitchFamily="49" charset="0"/>
              </a:rPr>
              <a:t>### Terminal</a:t>
            </a:r>
            <a:endParaRPr lang="en-US" b="0" dirty="0">
              <a:solidFill>
                <a:srgbClr val="ABB2BF"/>
              </a:solidFill>
              <a:effectLst/>
              <a:latin typeface="Menlo" panose="020B0609030804020204" pitchFamily="49" charset="0"/>
            </a:endParaRPr>
          </a:p>
          <a:p>
            <a:br>
              <a:rPr lang="en-US" b="0" dirty="0">
                <a:solidFill>
                  <a:srgbClr val="ABB2BF"/>
                </a:solidFill>
                <a:effectLst/>
                <a:latin typeface="Menlo" panose="020B0609030804020204" pitchFamily="49" charset="0"/>
              </a:rPr>
            </a:br>
            <a:r>
              <a:rPr lang="en-US" b="0" dirty="0">
                <a:solidFill>
                  <a:srgbClr val="ABB2BF"/>
                </a:solidFill>
                <a:effectLst/>
                <a:latin typeface="Menlo" panose="020B0609030804020204" pitchFamily="49" charset="0"/>
              </a:rPr>
              <a:t>`</a:t>
            </a:r>
            <a:r>
              <a:rPr lang="en-US" b="0" dirty="0" err="1">
                <a:solidFill>
                  <a:srgbClr val="ABB2BF"/>
                </a:solidFill>
                <a:effectLst/>
                <a:latin typeface="Menlo" panose="020B0609030804020204" pitchFamily="49" charset="0"/>
              </a:rPr>
              <a:t>first.py</a:t>
            </a:r>
            <a:r>
              <a:rPr lang="en-US" b="0" dirty="0">
                <a:solidFill>
                  <a:srgbClr val="ABB2BF"/>
                </a:solidFill>
                <a:effectLst/>
                <a:latin typeface="Menlo" panose="020B0609030804020204" pitchFamily="49" charset="0"/>
              </a:rPr>
              <a:t>`:</a:t>
            </a:r>
          </a:p>
          <a:p>
            <a:br>
              <a:rPr lang="en-US" b="0" dirty="0">
                <a:solidFill>
                  <a:srgbClr val="ABB2BF"/>
                </a:solidFill>
                <a:effectLst/>
                <a:latin typeface="Menlo" panose="020B0609030804020204" pitchFamily="49" charset="0"/>
              </a:rPr>
            </a:br>
            <a:r>
              <a:rPr lang="en-US" b="0" dirty="0">
                <a:solidFill>
                  <a:srgbClr val="ABB2BF"/>
                </a:solidFill>
                <a:effectLst/>
                <a:latin typeface="Menlo" panose="020B0609030804020204" pitchFamily="49" charset="0"/>
              </a:rPr>
              <a:t>```python</a:t>
            </a:r>
          </a:p>
          <a:p>
            <a:r>
              <a:rPr lang="en-US" b="0" dirty="0">
                <a:solidFill>
                  <a:srgbClr val="C678DD"/>
                </a:solidFill>
                <a:effectLst/>
                <a:latin typeface="Menlo" panose="020B0609030804020204" pitchFamily="49" charset="0"/>
              </a:rPr>
              <a:t>def</a:t>
            </a:r>
            <a:r>
              <a:rPr lang="en-US" b="0" dirty="0">
                <a:solidFill>
                  <a:srgbClr val="ABB2BF"/>
                </a:solidFill>
                <a:effectLst/>
                <a:latin typeface="Menlo" panose="020B0609030804020204" pitchFamily="49" charset="0"/>
              </a:rPr>
              <a:t> </a:t>
            </a:r>
            <a:r>
              <a:rPr lang="en-US" b="0" dirty="0">
                <a:solidFill>
                  <a:srgbClr val="61AFEF"/>
                </a:solidFill>
                <a:effectLst/>
                <a:latin typeface="Menlo" panose="020B0609030804020204" pitchFamily="49" charset="0"/>
              </a:rPr>
              <a:t>times_3</a:t>
            </a:r>
            <a:r>
              <a:rPr lang="en-US" b="0" dirty="0">
                <a:solidFill>
                  <a:srgbClr val="ABB2BF"/>
                </a:solidFill>
                <a:effectLst/>
                <a:latin typeface="Menlo" panose="020B0609030804020204" pitchFamily="49" charset="0"/>
              </a:rPr>
              <a:t>(x):</a:t>
            </a:r>
          </a:p>
          <a:p>
            <a:r>
              <a:rPr lang="en-US" b="0" dirty="0">
                <a:solidFill>
                  <a:srgbClr val="C678DD"/>
                </a:solidFill>
                <a:effectLst/>
                <a:latin typeface="Menlo" panose="020B0609030804020204" pitchFamily="49" charset="0"/>
              </a:rPr>
              <a:t>return</a:t>
            </a:r>
            <a:r>
              <a:rPr lang="en-US" b="0" dirty="0">
                <a:solidFill>
                  <a:srgbClr val="ABB2BF"/>
                </a:solidFill>
                <a:effectLst/>
                <a:latin typeface="Menlo" panose="020B0609030804020204" pitchFamily="49" charset="0"/>
              </a:rPr>
              <a:t> x </a:t>
            </a:r>
            <a:r>
              <a:rPr lang="en-US" b="0" dirty="0">
                <a:solidFill>
                  <a:srgbClr val="C678DD"/>
                </a:solidFill>
                <a:effectLst/>
                <a:latin typeface="Menlo" panose="020B0609030804020204" pitchFamily="49" charset="0"/>
              </a:rPr>
              <a:t>*</a:t>
            </a:r>
            <a:r>
              <a:rPr lang="en-US" b="0" dirty="0">
                <a:solidFill>
                  <a:srgbClr val="ABB2BF"/>
                </a:solidFill>
                <a:effectLst/>
                <a:latin typeface="Menlo" panose="020B0609030804020204" pitchFamily="49" charset="0"/>
              </a:rPr>
              <a:t> </a:t>
            </a:r>
            <a:r>
              <a:rPr lang="en-US" b="0" dirty="0">
                <a:solidFill>
                  <a:srgbClr val="D19A66"/>
                </a:solidFill>
                <a:effectLst/>
                <a:latin typeface="Menlo" panose="020B0609030804020204" pitchFamily="49" charset="0"/>
              </a:rPr>
              <a:t>3</a:t>
            </a:r>
            <a:endParaRPr lang="en-US" b="0" dirty="0">
              <a:solidFill>
                <a:srgbClr val="ABB2BF"/>
              </a:solidFill>
              <a:effectLst/>
              <a:latin typeface="Menlo" panose="020B0609030804020204" pitchFamily="49" charset="0"/>
            </a:endParaRPr>
          </a:p>
          <a:p>
            <a:r>
              <a:rPr lang="en-US" b="0" dirty="0">
                <a:solidFill>
                  <a:srgbClr val="ABB2BF"/>
                </a:solidFill>
                <a:effectLst/>
                <a:latin typeface="Menlo" panose="020B0609030804020204" pitchFamily="49" charset="0"/>
              </a:rPr>
              <a:t>```</a:t>
            </a:r>
          </a:p>
          <a:p>
            <a:br>
              <a:rPr lang="en-US" b="0" dirty="0">
                <a:solidFill>
                  <a:srgbClr val="ABB2BF"/>
                </a:solidFill>
                <a:effectLst/>
                <a:latin typeface="Menlo" panose="020B0609030804020204" pitchFamily="49" charset="0"/>
              </a:rPr>
            </a:br>
            <a:r>
              <a:rPr lang="en-US" b="0" i="1" dirty="0">
                <a:solidFill>
                  <a:srgbClr val="5C6370"/>
                </a:solidFill>
                <a:effectLst/>
                <a:latin typeface="Menlo" panose="020B0609030804020204" pitchFamily="49" charset="0"/>
              </a:rPr>
              <a:t>&gt; This is intentionally simple. The goal is not to learn multiplication. The goal is to learn the shape of a test.</a:t>
            </a:r>
            <a:endParaRPr lang="en-US" b="0" dirty="0">
              <a:solidFill>
                <a:srgbClr val="ABB2BF"/>
              </a:solidFill>
              <a:effectLst/>
              <a:latin typeface="Menlo" panose="020B0609030804020204" pitchFamily="49" charset="0"/>
            </a:endParaRPr>
          </a:p>
          <a:p>
            <a:br>
              <a:rPr lang="en-US" b="0" dirty="0">
                <a:solidFill>
                  <a:srgbClr val="ABB2BF"/>
                </a:solidFill>
                <a:effectLst/>
                <a:latin typeface="Menlo" panose="020B0609030804020204" pitchFamily="49" charset="0"/>
              </a:rPr>
            </a:br>
            <a:r>
              <a:rPr lang="en-US" b="0" dirty="0">
                <a:solidFill>
                  <a:srgbClr val="ABB2BF"/>
                </a:solidFill>
                <a:effectLst/>
                <a:latin typeface="Menlo" panose="020B0609030804020204" pitchFamily="49" charset="0"/>
              </a:rPr>
              <a:t>Explain the test pattern:</a:t>
            </a:r>
          </a:p>
          <a:p>
            <a:br>
              <a:rPr lang="en-US" b="0" dirty="0">
                <a:solidFill>
                  <a:srgbClr val="ABB2BF"/>
                </a:solidFill>
                <a:effectLst/>
                <a:latin typeface="Menlo" panose="020B0609030804020204" pitchFamily="49" charset="0"/>
              </a:rPr>
            </a:br>
            <a:r>
              <a:rPr lang="en-US" b="0" dirty="0">
                <a:solidFill>
                  <a:srgbClr val="ABB2BF"/>
                </a:solidFill>
                <a:effectLst/>
                <a:latin typeface="Menlo" panose="020B0609030804020204" pitchFamily="49" charset="0"/>
              </a:rPr>
              <a:t>input </a:t>
            </a:r>
            <a:r>
              <a:rPr lang="en-US" b="0" dirty="0">
                <a:solidFill>
                  <a:srgbClr val="C678DD"/>
                </a:solidFill>
                <a:effectLst/>
                <a:latin typeface="Menlo" panose="020B0609030804020204" pitchFamily="49" charset="0"/>
              </a:rPr>
              <a:t>=</a:t>
            </a:r>
            <a:r>
              <a:rPr lang="en-US" b="0" dirty="0">
                <a:solidFill>
                  <a:srgbClr val="ABB2BF"/>
                </a:solidFill>
                <a:effectLst/>
                <a:latin typeface="Menlo" panose="020B0609030804020204" pitchFamily="49" charset="0"/>
              </a:rPr>
              <a:t> </a:t>
            </a:r>
            <a:r>
              <a:rPr lang="en-US" b="0" dirty="0">
                <a:solidFill>
                  <a:srgbClr val="D19A66"/>
                </a:solidFill>
                <a:effectLst/>
                <a:latin typeface="Menlo" panose="020B0609030804020204" pitchFamily="49" charset="0"/>
              </a:rPr>
              <a:t>7</a:t>
            </a:r>
            <a:endParaRPr lang="en-US" b="0" dirty="0">
              <a:solidFill>
                <a:srgbClr val="ABB2BF"/>
              </a:solidFill>
              <a:effectLst/>
              <a:latin typeface="Menlo" panose="020B0609030804020204" pitchFamily="49" charset="0"/>
            </a:endParaRPr>
          </a:p>
          <a:p>
            <a:r>
              <a:rPr lang="en-US" b="0" dirty="0">
                <a:solidFill>
                  <a:srgbClr val="ABB2BF"/>
                </a:solidFill>
                <a:effectLst/>
                <a:latin typeface="Menlo" panose="020B0609030804020204" pitchFamily="49" charset="0"/>
              </a:rPr>
              <a:t>expected </a:t>
            </a:r>
            <a:r>
              <a:rPr lang="en-US" b="0" dirty="0">
                <a:solidFill>
                  <a:srgbClr val="C678DD"/>
                </a:solidFill>
                <a:effectLst/>
                <a:latin typeface="Menlo" panose="020B0609030804020204" pitchFamily="49" charset="0"/>
              </a:rPr>
              <a:t>=</a:t>
            </a:r>
            <a:r>
              <a:rPr lang="en-US" b="0" dirty="0">
                <a:solidFill>
                  <a:srgbClr val="ABB2BF"/>
                </a:solidFill>
                <a:effectLst/>
                <a:latin typeface="Menlo" panose="020B0609030804020204" pitchFamily="49" charset="0"/>
              </a:rPr>
              <a:t> </a:t>
            </a:r>
            <a:r>
              <a:rPr lang="en-US" b="0" dirty="0">
                <a:solidFill>
                  <a:srgbClr val="D19A66"/>
                </a:solidFill>
                <a:effectLst/>
                <a:latin typeface="Menlo" panose="020B0609030804020204" pitchFamily="49" charset="0"/>
              </a:rPr>
              <a:t>21</a:t>
            </a:r>
            <a:endParaRPr lang="en-US" b="0" dirty="0">
              <a:solidFill>
                <a:srgbClr val="ABB2BF"/>
              </a:solidFill>
              <a:effectLst/>
              <a:latin typeface="Menlo" panose="020B0609030804020204" pitchFamily="49" charset="0"/>
            </a:endParaRPr>
          </a:p>
          <a:p>
            <a:r>
              <a:rPr lang="en-US" b="0" dirty="0">
                <a:solidFill>
                  <a:srgbClr val="ABB2BF"/>
                </a:solidFill>
                <a:effectLst/>
                <a:latin typeface="Menlo" panose="020B0609030804020204" pitchFamily="49" charset="0"/>
              </a:rPr>
              <a:t>result </a:t>
            </a:r>
            <a:r>
              <a:rPr lang="en-US" b="0" dirty="0">
                <a:solidFill>
                  <a:srgbClr val="C678DD"/>
                </a:solidFill>
                <a:effectLst/>
                <a:latin typeface="Menlo" panose="020B0609030804020204" pitchFamily="49" charset="0"/>
              </a:rPr>
              <a:t>=</a:t>
            </a:r>
            <a:r>
              <a:rPr lang="en-US" b="0" dirty="0">
                <a:solidFill>
                  <a:srgbClr val="ABB2BF"/>
                </a:solidFill>
                <a:effectLst/>
                <a:latin typeface="Menlo" panose="020B0609030804020204" pitchFamily="49" charset="0"/>
              </a:rPr>
              <a:t> times_3(input</a:t>
            </a:r>
          </a:p>
          <a:p>
            <a:r>
              <a:rPr lang="en-US" b="0" dirty="0">
                <a:solidFill>
                  <a:srgbClr val="ABB2BF"/>
                </a:solidFill>
                <a:effectLst/>
                <a:latin typeface="Menlo" panose="020B0609030804020204" pitchFamily="49" charset="0"/>
              </a:rPr>
              <a:t>result </a:t>
            </a:r>
            <a:r>
              <a:rPr lang="en-US" b="0" dirty="0">
                <a:solidFill>
                  <a:srgbClr val="C678DD"/>
                </a:solidFill>
                <a:effectLst/>
                <a:latin typeface="Menlo" panose="020B0609030804020204" pitchFamily="49" charset="0"/>
              </a:rPr>
              <a:t>==</a:t>
            </a:r>
            <a:r>
              <a:rPr lang="en-US" b="0" dirty="0">
                <a:solidFill>
                  <a:srgbClr val="ABB2BF"/>
                </a:solidFill>
                <a:effectLst/>
                <a:latin typeface="Menlo" panose="020B0609030804020204" pitchFamily="49" charset="0"/>
              </a:rPr>
              <a:t> expected</a:t>
            </a:r>
          </a:p>
          <a:p>
            <a:br>
              <a:rPr lang="en-US" b="0" dirty="0">
                <a:solidFill>
                  <a:srgbClr val="ABB2BF"/>
                </a:solidFill>
                <a:effectLst/>
                <a:latin typeface="Menlo" panose="020B0609030804020204" pitchFamily="49" charset="0"/>
              </a:rPr>
            </a:br>
            <a:r>
              <a:rPr lang="en-US" b="0" dirty="0">
                <a:solidFill>
                  <a:srgbClr val="ABB2BF"/>
                </a:solidFill>
                <a:effectLst/>
                <a:latin typeface="Menlo" panose="020B0609030804020204" pitchFamily="49" charset="0"/>
              </a:rPr>
              <a:t>Say:</a:t>
            </a:r>
          </a:p>
          <a:p>
            <a:br>
              <a:rPr lang="en-US" b="0" dirty="0">
                <a:solidFill>
                  <a:srgbClr val="ABB2BF"/>
                </a:solidFill>
                <a:effectLst/>
                <a:latin typeface="Menlo" panose="020B0609030804020204" pitchFamily="49" charset="0"/>
              </a:rPr>
            </a:br>
            <a:r>
              <a:rPr lang="en-US" b="0" i="1" dirty="0">
                <a:solidFill>
                  <a:srgbClr val="5C6370"/>
                </a:solidFill>
                <a:effectLst/>
                <a:latin typeface="Menlo" panose="020B0609030804020204" pitchFamily="49" charset="0"/>
              </a:rPr>
              <a:t>&gt; This is the basic pattern: prepare input, compute result, compare result to expectation.</a:t>
            </a:r>
            <a:endParaRPr lang="en-US" b="0" dirty="0">
              <a:solidFill>
                <a:srgbClr val="ABB2BF"/>
              </a:solidFill>
              <a:effectLst/>
              <a:latin typeface="Menlo" panose="020B0609030804020204" pitchFamily="49" charset="0"/>
            </a:endParaRPr>
          </a:p>
          <a:p>
            <a:br>
              <a:rPr lang="en-US" b="0" dirty="0">
                <a:solidFill>
                  <a:srgbClr val="ABB2BF"/>
                </a:solidFill>
                <a:effectLst/>
                <a:latin typeface="Menlo" panose="020B0609030804020204" pitchFamily="49" charset="0"/>
              </a:rPr>
            </a:br>
            <a:r>
              <a:rPr lang="en-US" b="0" dirty="0">
                <a:solidFill>
                  <a:srgbClr val="ABB2BF"/>
                </a:solidFill>
                <a:effectLst/>
                <a:latin typeface="Menlo" panose="020B0609030804020204" pitchFamily="49" charset="0"/>
              </a:rPr>
              <a:t>Optional term:</a:t>
            </a:r>
          </a:p>
          <a:p>
            <a:br>
              <a:rPr lang="en-US" b="0" dirty="0">
                <a:solidFill>
                  <a:srgbClr val="ABB2BF"/>
                </a:solidFill>
                <a:effectLst/>
                <a:latin typeface="Menlo" panose="020B0609030804020204" pitchFamily="49" charset="0"/>
              </a:rPr>
            </a:br>
            <a:r>
              <a:rPr lang="en-US" b="0" dirty="0">
                <a:solidFill>
                  <a:srgbClr val="ABB2BF"/>
                </a:solidFill>
                <a:effectLst/>
                <a:latin typeface="Menlo" panose="020B0609030804020204" pitchFamily="49" charset="0"/>
              </a:rPr>
              <a:t>```text</a:t>
            </a:r>
          </a:p>
          <a:p>
            <a:r>
              <a:rPr lang="en-US" b="0" dirty="0">
                <a:solidFill>
                  <a:srgbClr val="ABB2BF"/>
                </a:solidFill>
                <a:effectLst/>
                <a:latin typeface="Menlo" panose="020B0609030804020204" pitchFamily="49" charset="0"/>
              </a:rPr>
              <a:t>Arrange → Act → Assert</a:t>
            </a:r>
          </a:p>
          <a:p>
            <a:r>
              <a:rPr lang="en-US" b="0" dirty="0">
                <a:solidFill>
                  <a:srgbClr val="ABB2BF"/>
                </a:solidFill>
                <a:effectLst/>
                <a:latin typeface="Menlo" panose="020B0609030804020204" pitchFamily="49" charset="0"/>
              </a:rPr>
              <a:t>```</a:t>
            </a:r>
          </a:p>
          <a:p>
            <a:endParaRPr lang="en-US" dirty="0"/>
          </a:p>
          <a:p>
            <a:endParaRPr lang="en-US" dirty="0"/>
          </a:p>
          <a:p>
            <a:endParaRPr lang="en-US" dirty="0"/>
          </a:p>
          <a:p>
            <a:endParaRPr lang="en-US" dirty="0"/>
          </a:p>
          <a:p>
            <a:r>
              <a:rPr lang="en-US" dirty="0"/>
              <a:t>1. test manually: write result = times_3(2) into file and run it </a:t>
            </a:r>
            <a:r>
              <a:rPr lang="en-US" dirty="0">
                <a:sym typeface="Wingdings" pitchFamily="2" charset="2"/>
              </a:rPr>
              <a:t> correct result.</a:t>
            </a: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    - </a:t>
            </a:r>
            <a:r>
              <a:rPr lang="en-US" dirty="0"/>
              <a:t>write result = times_3(2) into file and run it </a:t>
            </a:r>
            <a:r>
              <a:rPr lang="en-US" dirty="0">
                <a:sym typeface="Wingdings" pitchFamily="2" charset="2"/>
              </a:rPr>
              <a:t> correct result.</a:t>
            </a: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    - change 2  “a” and run again</a:t>
            </a:r>
          </a:p>
          <a:p>
            <a:pPr marL="0" marR="0" lvl="0" indent="0" defTabSz="914400" eaLnBrk="1" fontAlgn="auto" latinLnBrk="0" hangingPunct="1">
              <a:lnSpc>
                <a:spcPct val="100000"/>
              </a:lnSpc>
              <a:spcBef>
                <a:spcPts val="400"/>
              </a:spcBef>
              <a:spcAft>
                <a:spcPts val="0"/>
              </a:spcAft>
              <a:buClrTx/>
              <a:buSzTx/>
              <a:buFontTx/>
              <a:buNone/>
              <a:tabLst/>
              <a:defRPr/>
            </a:pPr>
            <a:endParaRPr lang="en-US" dirty="0">
              <a:sym typeface="Wingdings" pitchFamily="2" charset="2"/>
            </a:endParaRP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I just tested my function. Cool. </a:t>
            </a:r>
          </a:p>
          <a:p>
            <a:pPr marL="0" marR="0" lvl="0" indent="0" defTabSz="914400" eaLnBrk="1" fontAlgn="auto" latinLnBrk="0" hangingPunct="1">
              <a:lnSpc>
                <a:spcPct val="100000"/>
              </a:lnSpc>
              <a:spcBef>
                <a:spcPts val="400"/>
              </a:spcBef>
              <a:spcAft>
                <a:spcPts val="0"/>
              </a:spcAft>
              <a:buClrTx/>
              <a:buSzTx/>
              <a:buFontTx/>
              <a:buNone/>
              <a:tabLst/>
              <a:defRPr/>
            </a:pPr>
            <a:r>
              <a:rPr lang="en-US" dirty="0">
                <a:sym typeface="Wingdings" pitchFamily="2" charset="2"/>
              </a:rPr>
              <a:t>How can I improve this? NO CODING</a:t>
            </a:r>
          </a:p>
          <a:p>
            <a:endParaRPr lang="en-US" dirty="0">
              <a:sym typeface="Wingdings" pitchFamily="2" charset="2"/>
            </a:endParaRPr>
          </a:p>
          <a:p>
            <a:pPr marL="171450" indent="-171450">
              <a:buFont typeface="Wingdings" pitchFamily="2" charset="2"/>
              <a:buChar char="à"/>
            </a:pPr>
            <a:r>
              <a:rPr lang="en-US" dirty="0">
                <a:sym typeface="Wingdings" pitchFamily="2" charset="2"/>
              </a:rPr>
              <a:t>keep both tests in file</a:t>
            </a:r>
          </a:p>
          <a:p>
            <a:pPr marL="171450" indent="-171450">
              <a:buFont typeface="Wingdings" pitchFamily="2" charset="2"/>
              <a:buChar char="à"/>
            </a:pPr>
            <a:r>
              <a:rPr lang="en-US" dirty="0">
                <a:sym typeface="Wingdings" pitchFamily="2" charset="2"/>
              </a:rPr>
              <a:t>write what the expected value is</a:t>
            </a:r>
          </a:p>
          <a:p>
            <a:pPr marL="171450" indent="-171450">
              <a:buFont typeface="Wingdings" pitchFamily="2" charset="2"/>
              <a:buChar char="à"/>
            </a:pPr>
            <a:r>
              <a:rPr lang="en-US" dirty="0">
                <a:sym typeface="Wingdings" pitchFamily="2" charset="2"/>
              </a:rPr>
              <a:t>if name == main</a:t>
            </a:r>
          </a:p>
          <a:p>
            <a:pPr marL="171450" indent="-171450">
              <a:buFont typeface="Wingdings" pitchFamily="2" charset="2"/>
              <a:buChar char="à"/>
            </a:pPr>
            <a:r>
              <a:rPr lang="en-US" dirty="0">
                <a:sym typeface="Wingdings" pitchFamily="2" charset="2"/>
              </a:rPr>
              <a:t>what if you write many more functions</a:t>
            </a:r>
          </a:p>
          <a:p>
            <a:endParaRPr lang="en-US" dirty="0"/>
          </a:p>
          <a:p>
            <a:r>
              <a:rPr lang="en-US" dirty="0"/>
              <a:t>You know what would be really cool?</a:t>
            </a:r>
          </a:p>
          <a:p>
            <a:r>
              <a:rPr lang="en-US" dirty="0"/>
              <a:t>If I could move all of this code somewhere else, into a different directory and be able to collect all of the test cases and be able to run them any time I want.  </a:t>
            </a:r>
          </a:p>
          <a:p>
            <a:r>
              <a:rPr lang="en-US" dirty="0" err="1"/>
              <a:t>Tadaaa</a:t>
            </a:r>
            <a:r>
              <a:rPr lang="en-US" dirty="0"/>
              <a:t> – this is where we get to </a:t>
            </a:r>
            <a:r>
              <a:rPr lang="en-US" dirty="0" err="1"/>
              <a:t>Pytest</a:t>
            </a:r>
            <a:r>
              <a:rPr lang="en-US" dirty="0"/>
              <a:t>, which enables us to do all of that. </a:t>
            </a:r>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err="1"/>
              <a:t>Pytest</a:t>
            </a:r>
            <a:r>
              <a:rPr lang="de-DE" dirty="0"/>
              <a:t> </a:t>
            </a:r>
            <a:r>
              <a:rPr lang="de-DE" dirty="0" err="1"/>
              <a:t>is</a:t>
            </a:r>
            <a:r>
              <a:rPr lang="de-DE" dirty="0"/>
              <a:t> a </a:t>
            </a:r>
            <a:r>
              <a:rPr lang="de-DE" dirty="0" err="1"/>
              <a:t>testing</a:t>
            </a:r>
            <a:r>
              <a:rPr lang="de-DE" dirty="0"/>
              <a:t> </a:t>
            </a:r>
            <a:r>
              <a:rPr lang="de-DE" dirty="0" err="1"/>
              <a:t>framework</a:t>
            </a:r>
            <a:r>
              <a:rPr lang="de-DE" dirty="0"/>
              <a:t> </a:t>
            </a:r>
            <a:r>
              <a:rPr lang="de-DE" dirty="0" err="1"/>
              <a:t>for</a:t>
            </a:r>
            <a:r>
              <a:rPr lang="de-DE" dirty="0"/>
              <a:t> Python. </a:t>
            </a:r>
          </a:p>
          <a:p>
            <a:endParaRPr lang="de-DE" dirty="0"/>
          </a:p>
          <a:p>
            <a:r>
              <a:rPr lang="de-DE" dirty="0" err="1"/>
              <a:t>It</a:t>
            </a:r>
            <a:r>
              <a:rPr lang="de-DE" dirty="0"/>
              <a:t> </a:t>
            </a:r>
            <a:r>
              <a:rPr lang="de-DE" dirty="0" err="1"/>
              <a:t>collects</a:t>
            </a:r>
            <a:r>
              <a:rPr lang="de-DE" dirty="0"/>
              <a:t> all </a:t>
            </a:r>
            <a:r>
              <a:rPr lang="de-DE" dirty="0" err="1"/>
              <a:t>of</a:t>
            </a:r>
            <a:r>
              <a:rPr lang="de-DE" dirty="0"/>
              <a:t> </a:t>
            </a:r>
            <a:r>
              <a:rPr lang="de-DE" dirty="0" err="1"/>
              <a:t>your</a:t>
            </a:r>
            <a:r>
              <a:rPr lang="de-DE" dirty="0"/>
              <a:t> </a:t>
            </a:r>
            <a:r>
              <a:rPr lang="de-DE" dirty="0" err="1"/>
              <a:t>tests</a:t>
            </a:r>
            <a:r>
              <a:rPr lang="de-DE" dirty="0"/>
              <a:t> and </a:t>
            </a:r>
            <a:r>
              <a:rPr lang="de-DE" dirty="0" err="1"/>
              <a:t>runs</a:t>
            </a:r>
            <a:r>
              <a:rPr lang="de-DE" dirty="0"/>
              <a:t> </a:t>
            </a:r>
            <a:r>
              <a:rPr lang="de-DE" dirty="0" err="1"/>
              <a:t>them</a:t>
            </a:r>
            <a:r>
              <a:rPr lang="de-DE" dirty="0"/>
              <a:t> </a:t>
            </a:r>
            <a:r>
              <a:rPr lang="de-DE" dirty="0" err="1"/>
              <a:t>for</a:t>
            </a:r>
            <a:r>
              <a:rPr lang="de-DE" dirty="0"/>
              <a:t> </a:t>
            </a:r>
            <a:r>
              <a:rPr lang="de-DE" dirty="0" err="1"/>
              <a:t>you</a:t>
            </a:r>
            <a:r>
              <a:rPr lang="de-DE" dirty="0"/>
              <a:t> and </a:t>
            </a:r>
            <a:r>
              <a:rPr lang="de-DE" dirty="0" err="1"/>
              <a:t>tells</a:t>
            </a:r>
            <a:r>
              <a:rPr lang="de-DE" dirty="0"/>
              <a:t> </a:t>
            </a:r>
            <a:r>
              <a:rPr lang="de-DE" dirty="0" err="1"/>
              <a:t>you</a:t>
            </a:r>
            <a:r>
              <a:rPr lang="de-DE" dirty="0"/>
              <a:t> </a:t>
            </a:r>
            <a:r>
              <a:rPr lang="de-DE" dirty="0" err="1"/>
              <a:t>whether</a:t>
            </a:r>
            <a:r>
              <a:rPr lang="de-DE" dirty="0"/>
              <a:t> </a:t>
            </a:r>
            <a:r>
              <a:rPr lang="de-DE" dirty="0" err="1"/>
              <a:t>they</a:t>
            </a:r>
            <a:r>
              <a:rPr lang="de-DE" dirty="0"/>
              <a:t> </a:t>
            </a:r>
            <a:r>
              <a:rPr lang="de-DE" dirty="0" err="1"/>
              <a:t>passed</a:t>
            </a:r>
            <a:r>
              <a:rPr lang="de-DE" dirty="0"/>
              <a:t> </a:t>
            </a:r>
            <a:r>
              <a:rPr lang="de-DE" dirty="0" err="1"/>
              <a:t>or</a:t>
            </a:r>
            <a:r>
              <a:rPr lang="de-DE" dirty="0"/>
              <a:t> </a:t>
            </a:r>
            <a:r>
              <a:rPr lang="de-DE" dirty="0" err="1"/>
              <a:t>failed</a:t>
            </a:r>
            <a:r>
              <a:rPr lang="de-DE" dirty="0"/>
              <a:t>.</a:t>
            </a:r>
          </a:p>
          <a:p>
            <a:endParaRPr lang="de-DE" dirty="0"/>
          </a:p>
          <a:p>
            <a:endParaRPr lang="de-DE" dirty="0"/>
          </a:p>
          <a:p>
            <a:r>
              <a:rPr lang="en-GB" b="0" dirty="0">
                <a:solidFill>
                  <a:srgbClr val="ABB2BF"/>
                </a:solidFill>
                <a:effectLst/>
                <a:latin typeface="Menlo" panose="020B0609030804020204" pitchFamily="49" charset="0"/>
              </a:rPr>
              <a:t>A test suite is a collection of tests that can be run automatically.</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Earlier, we typed examples into Python manually. That works once, but it does not scale. A test suite saves those examples and runs them automatically.</a:t>
            </a:r>
            <a:endParaRPr lang="en-GB" b="0" dirty="0">
              <a:solidFill>
                <a:srgbClr val="ABB2BF"/>
              </a:solidFill>
              <a:effectLst/>
              <a:latin typeface="Menlo" panose="020B0609030804020204" pitchFamily="49" charset="0"/>
            </a:endParaRPr>
          </a:p>
          <a:p>
            <a:endParaRPr lang="de-DE" dirty="0"/>
          </a:p>
          <a:p>
            <a:r>
              <a:rPr lang="en-GB" b="0" dirty="0">
                <a:solidFill>
                  <a:srgbClr val="ABB2BF"/>
                </a:solidFill>
                <a:effectLst/>
                <a:latin typeface="Menlo" panose="020B0609030804020204" pitchFamily="49" charset="0"/>
              </a:rPr>
              <a:t>Explain:</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a:t>
            </a:r>
            <a:r>
              <a:rPr lang="en-GB" b="0" i="1" dirty="0" err="1">
                <a:solidFill>
                  <a:srgbClr val="5C6370"/>
                </a:solidFill>
                <a:effectLst/>
                <a:latin typeface="Menlo" panose="020B0609030804020204" pitchFamily="49" charset="0"/>
              </a:rPr>
              <a:t>pytest</a:t>
            </a:r>
            <a:r>
              <a:rPr lang="en-GB" b="0" i="1" dirty="0">
                <a:solidFill>
                  <a:srgbClr val="5C6370"/>
                </a:solidFill>
                <a:effectLst/>
                <a:latin typeface="Menlo" panose="020B0609030804020204" pitchFamily="49" charset="0"/>
              </a:rPr>
              <a:t>` found the file `</a:t>
            </a:r>
            <a:r>
              <a:rPr lang="en-GB" b="0" i="1" dirty="0" err="1">
                <a:solidFill>
                  <a:srgbClr val="5C6370"/>
                </a:solidFill>
                <a:effectLst/>
                <a:latin typeface="Menlo" panose="020B0609030804020204" pitchFamily="49" charset="0"/>
              </a:rPr>
              <a:t>test_first.py</a:t>
            </a:r>
            <a:r>
              <a:rPr lang="en-GB" b="0" i="1" dirty="0">
                <a:solidFill>
                  <a:srgbClr val="5C6370"/>
                </a:solidFill>
                <a:effectLst/>
                <a:latin typeface="Menlo" panose="020B0609030804020204" pitchFamily="49" charset="0"/>
              </a:rPr>
              <a:t>`, found functions whose names start with `test_`, ran them, and reported whether each one passed or failed.</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Key caveat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A passing test does not mean the whole program is correct. It means this particular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matched this particular expectation.</a:t>
            </a:r>
            <a:endParaRPr lang="en-GB" b="0" dirty="0">
              <a:solidFill>
                <a:srgbClr val="ABB2BF"/>
              </a:solidFill>
              <a:effectLst/>
              <a:latin typeface="Menlo" panose="020B0609030804020204" pitchFamily="49" charset="0"/>
            </a:endParaRPr>
          </a:p>
          <a:p>
            <a:endParaRPr lang="de-DE" dirty="0"/>
          </a:p>
          <a:p>
            <a:endParaRPr lang="de-DE" dirty="0"/>
          </a:p>
        </p:txBody>
      </p:sp>
    </p:spTree>
    <p:extLst>
      <p:ext uri="{BB962C8B-B14F-4D97-AF65-F5344CB8AC3E}">
        <p14:creationId xmlns:p14="http://schemas.microsoft.com/office/powerpoint/2010/main" val="710661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After </a:t>
            </a:r>
            <a:r>
              <a:rPr lang="de-DE" dirty="0" err="1"/>
              <a:t>exercise</a:t>
            </a:r>
            <a:r>
              <a:rPr lang="de-DE" dirty="0"/>
              <a:t>: Ask </a:t>
            </a:r>
            <a:r>
              <a:rPr lang="de-DE" dirty="0" err="1"/>
              <a:t>what</a:t>
            </a:r>
            <a:r>
              <a:rPr lang="de-DE" dirty="0"/>
              <a:t> </a:t>
            </a:r>
            <a:r>
              <a:rPr lang="de-DE" dirty="0" err="1"/>
              <a:t>they</a:t>
            </a:r>
            <a:r>
              <a:rPr lang="de-DE" dirty="0"/>
              <a:t> </a:t>
            </a:r>
            <a:r>
              <a:rPr lang="de-DE" dirty="0" err="1"/>
              <a:t>saw</a:t>
            </a:r>
            <a:r>
              <a:rPr lang="de-DE" dirty="0"/>
              <a:t> in </a:t>
            </a:r>
            <a:r>
              <a:rPr lang="de-DE" dirty="0" err="1"/>
              <a:t>the</a:t>
            </a:r>
            <a:r>
              <a:rPr lang="de-DE" dirty="0"/>
              <a:t> </a:t>
            </a:r>
            <a:r>
              <a:rPr lang="de-DE" dirty="0" err="1"/>
              <a:t>test</a:t>
            </a:r>
            <a:r>
              <a:rPr lang="de-DE" dirty="0"/>
              <a:t> </a:t>
            </a:r>
            <a:r>
              <a:rPr lang="de-DE" dirty="0" err="1"/>
              <a:t>file</a:t>
            </a:r>
            <a:r>
              <a:rPr lang="de-DE" dirty="0"/>
              <a:t>. </a:t>
            </a:r>
          </a:p>
          <a:p>
            <a:endParaRPr lang="de-DE" dirty="0"/>
          </a:p>
          <a:p>
            <a:pPr marL="171450" indent="-171450">
              <a:buFontTx/>
              <a:buChar char="-"/>
            </a:pPr>
            <a:r>
              <a:rPr lang="de-DE" dirty="0" err="1"/>
              <a:t>test</a:t>
            </a:r>
            <a:r>
              <a:rPr lang="de-DE" dirty="0"/>
              <a:t> </a:t>
            </a:r>
            <a:r>
              <a:rPr lang="de-DE" dirty="0" err="1"/>
              <a:t>file</a:t>
            </a:r>
            <a:r>
              <a:rPr lang="de-DE" dirty="0"/>
              <a:t> </a:t>
            </a:r>
            <a:r>
              <a:rPr lang="de-DE" dirty="0" err="1"/>
              <a:t>name</a:t>
            </a:r>
            <a:endParaRPr lang="de-DE" dirty="0"/>
          </a:p>
          <a:p>
            <a:pPr marL="171450" indent="-171450">
              <a:buFontTx/>
              <a:buChar char="-"/>
            </a:pPr>
            <a:r>
              <a:rPr lang="de-DE" dirty="0" err="1"/>
              <a:t>tests</a:t>
            </a:r>
            <a:r>
              <a:rPr lang="de-DE" dirty="0"/>
              <a:t> </a:t>
            </a:r>
            <a:r>
              <a:rPr lang="de-DE" dirty="0" err="1"/>
              <a:t>names</a:t>
            </a:r>
            <a:endParaRPr lang="de-DE" dirty="0"/>
          </a:p>
          <a:p>
            <a:pPr marL="171450" indent="-171450">
              <a:buFontTx/>
              <a:buChar char="-"/>
            </a:pPr>
            <a:r>
              <a:rPr lang="de-DE" dirty="0" err="1"/>
              <a:t>assertions</a:t>
            </a:r>
            <a:endParaRPr lang="de-DE" dirty="0"/>
          </a:p>
          <a:p>
            <a:pPr marL="171450" indent="-171450">
              <a:buFontTx/>
              <a:buChar char="-"/>
            </a:pPr>
            <a:r>
              <a:rPr lang="de-DE" dirty="0" err="1"/>
              <a:t>structure</a:t>
            </a:r>
            <a:r>
              <a:rPr lang="de-DE" dirty="0"/>
              <a:t> </a:t>
            </a:r>
            <a:r>
              <a:rPr lang="de-DE" dirty="0" err="1"/>
              <a:t>of</a:t>
            </a:r>
            <a:r>
              <a:rPr lang="de-DE" dirty="0"/>
              <a:t> </a:t>
            </a:r>
            <a:r>
              <a:rPr lang="de-DE" dirty="0" err="1"/>
              <a:t>tests</a:t>
            </a:r>
            <a:r>
              <a:rPr lang="de-DE" dirty="0"/>
              <a:t> – </a:t>
            </a:r>
            <a:r>
              <a:rPr lang="de-DE" dirty="0" err="1"/>
              <a:t>setup</a:t>
            </a:r>
            <a:r>
              <a:rPr lang="de-DE" dirty="0"/>
              <a:t>, </a:t>
            </a:r>
            <a:r>
              <a:rPr lang="de-DE" dirty="0" err="1"/>
              <a:t>expected</a:t>
            </a:r>
            <a:r>
              <a:rPr lang="de-DE" dirty="0"/>
              <a:t>, </a:t>
            </a:r>
            <a:r>
              <a:rPr lang="de-DE" dirty="0" err="1"/>
              <a:t>result</a:t>
            </a:r>
            <a:r>
              <a:rPr lang="de-DE" dirty="0"/>
              <a:t>, </a:t>
            </a:r>
            <a:r>
              <a:rPr lang="de-DE" dirty="0" err="1"/>
              <a:t>assertion</a:t>
            </a:r>
            <a:endParaRPr lang="de-DE" dirty="0"/>
          </a:p>
          <a:p>
            <a:pPr marL="171450" indent="-171450">
              <a:buFontTx/>
              <a:buChar char="-"/>
            </a:pPr>
            <a:endParaRPr lang="de-DE" dirty="0"/>
          </a:p>
          <a:p>
            <a:pPr marL="171450" indent="-171450">
              <a:buFontTx/>
              <a:buChar char="-"/>
            </a:pPr>
            <a:endParaRPr lang="de-DE" dirty="0"/>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-x</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Explain: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-x stop after the first failure</a:t>
            </a:r>
          </a:p>
          <a:p>
            <a:r>
              <a:rPr lang="en-GB" b="0" dirty="0">
                <a:solidFill>
                  <a:srgbClr val="ABB2BF"/>
                </a:solidFill>
                <a:effectLst/>
                <a:latin typeface="Menlo" panose="020B0609030804020204" pitchFamily="49" charset="0"/>
              </a:rPr>
              <a:t>-v verbose output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During active development, a common pattern is to run one failing test repeatedly until it passes, then run the full suite before committing.</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Workflow:</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1. Run the failing test only.</a:t>
            </a:r>
          </a:p>
          <a:p>
            <a:r>
              <a:rPr lang="en-GB" b="0" dirty="0">
                <a:solidFill>
                  <a:srgbClr val="ABB2BF"/>
                </a:solidFill>
                <a:effectLst/>
                <a:latin typeface="Menlo" panose="020B0609030804020204" pitchFamily="49" charset="0"/>
              </a:rPr>
              <a:t>2. Fix the code.</a:t>
            </a:r>
          </a:p>
          <a:p>
            <a:r>
              <a:rPr lang="en-GB" b="0" dirty="0">
                <a:solidFill>
                  <a:srgbClr val="ABB2BF"/>
                </a:solidFill>
                <a:effectLst/>
                <a:latin typeface="Menlo" panose="020B0609030804020204" pitchFamily="49" charset="0"/>
              </a:rPr>
              <a:t>3. Run the full test suite.</a:t>
            </a:r>
          </a:p>
          <a:p>
            <a:r>
              <a:rPr lang="en-GB" b="0" dirty="0">
                <a:solidFill>
                  <a:srgbClr val="ABB2BF"/>
                </a:solidFill>
                <a:effectLst/>
                <a:latin typeface="Menlo" panose="020B0609030804020204" pitchFamily="49" charset="0"/>
              </a:rPr>
              <a:t>```</a:t>
            </a:r>
          </a:p>
          <a:p>
            <a:pPr marL="171450" indent="-171450">
              <a:buFontTx/>
              <a:buChar char="-"/>
            </a:pPr>
            <a:endParaRPr lang="de-DE" dirty="0"/>
          </a:p>
        </p:txBody>
      </p:sp>
    </p:spTree>
    <p:extLst>
      <p:ext uri="{BB962C8B-B14F-4D97-AF65-F5344CB8AC3E}">
        <p14:creationId xmlns:p14="http://schemas.microsoft.com/office/powerpoint/2010/main" val="420187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en-GB" b="0" i="1" dirty="0">
                <a:solidFill>
                  <a:srgbClr val="5C6370"/>
                </a:solidFill>
                <a:effectLst/>
                <a:latin typeface="Menlo" panose="020B0609030804020204" pitchFamily="49" charset="0"/>
              </a:rPr>
              <a:t>&gt; Let’s look carefully at the test function. It is ordinary Python. The only special thing is the naming convention and the `assert`.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Show:</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a:solidFill>
                  <a:srgbClr val="61AFEF"/>
                </a:solidFill>
                <a:effectLst/>
                <a:latin typeface="Menlo" panose="020B0609030804020204" pitchFamily="49" charset="0"/>
              </a:rPr>
              <a:t>test_times_3_integer</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value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7</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expected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21</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result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times_3(value)</a:t>
            </a:r>
          </a:p>
          <a:p>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result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expected</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Explain line by line: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value input</a:t>
            </a:r>
          </a:p>
          <a:p>
            <a:r>
              <a:rPr lang="en-GB" b="0" dirty="0">
                <a:solidFill>
                  <a:srgbClr val="ABB2BF"/>
                </a:solidFill>
                <a:effectLst/>
                <a:latin typeface="Menlo" panose="020B0609030804020204" pitchFamily="49" charset="0"/>
              </a:rPr>
              <a:t>expected expected output</a:t>
            </a:r>
          </a:p>
          <a:p>
            <a:r>
              <a:rPr lang="en-GB" b="0" dirty="0">
                <a:solidFill>
                  <a:srgbClr val="ABB2BF"/>
                </a:solidFill>
                <a:effectLst/>
                <a:latin typeface="Menlo" panose="020B0609030804020204" pitchFamily="49" charset="0"/>
              </a:rPr>
              <a:t>result actual output</a:t>
            </a:r>
          </a:p>
          <a:p>
            <a:r>
              <a:rPr lang="en-GB" b="0" dirty="0">
                <a:solidFill>
                  <a:srgbClr val="ABB2BF"/>
                </a:solidFill>
                <a:effectLst/>
                <a:latin typeface="Menlo" panose="020B0609030804020204" pitchFamily="49" charset="0"/>
              </a:rPr>
              <a:t>assert check</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Key phrase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Good tests are readable. A future reader should understand what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is being checked.</a:t>
            </a:r>
            <a:endParaRPr lang="en-GB" b="0" dirty="0">
              <a:solidFill>
                <a:srgbClr val="ABB2BF"/>
              </a:solidFill>
              <a:effectLst/>
              <a:latin typeface="Menlo" panose="020B0609030804020204" pitchFamily="49" charset="0"/>
            </a:endParaRPr>
          </a:p>
          <a:p>
            <a:endParaRPr lang="de-DE" dirty="0"/>
          </a:p>
          <a:p>
            <a:endParaRPr lang="de-DE" dirty="0"/>
          </a:p>
          <a:p>
            <a:r>
              <a:rPr lang="de-DE" dirty="0"/>
              <a:t>[… </a:t>
            </a:r>
            <a:r>
              <a:rPr lang="de-DE" dirty="0" err="1"/>
              <a:t>slide</a:t>
            </a:r>
            <a:r>
              <a:rPr lang="de-DE" dirty="0"/>
              <a:t> …]</a:t>
            </a:r>
          </a:p>
          <a:p>
            <a:endParaRPr lang="de-DE" dirty="0"/>
          </a:p>
          <a:p>
            <a:r>
              <a:rPr lang="de-DE" dirty="0"/>
              <a:t>The </a:t>
            </a:r>
            <a:r>
              <a:rPr lang="de-DE" dirty="0" err="1"/>
              <a:t>one</a:t>
            </a:r>
            <a:r>
              <a:rPr lang="de-DE" dirty="0"/>
              <a:t> </a:t>
            </a:r>
            <a:r>
              <a:rPr lang="de-DE" dirty="0" err="1"/>
              <a:t>thing</a:t>
            </a:r>
            <a:r>
              <a:rPr lang="de-DE" dirty="0"/>
              <a:t> </a:t>
            </a:r>
            <a:r>
              <a:rPr lang="de-DE" dirty="0" err="1"/>
              <a:t>you</a:t>
            </a:r>
            <a:r>
              <a:rPr lang="de-DE" dirty="0"/>
              <a:t> </a:t>
            </a:r>
            <a:r>
              <a:rPr lang="de-DE" dirty="0" err="1"/>
              <a:t>may</a:t>
            </a:r>
            <a:r>
              <a:rPr lang="de-DE" dirty="0"/>
              <a:t> </a:t>
            </a:r>
            <a:r>
              <a:rPr lang="de-DE" dirty="0" err="1"/>
              <a:t>be</a:t>
            </a:r>
            <a:r>
              <a:rPr lang="de-DE" dirty="0"/>
              <a:t> </a:t>
            </a:r>
            <a:r>
              <a:rPr lang="de-DE" dirty="0" err="1"/>
              <a:t>unfamiliar</a:t>
            </a:r>
            <a:r>
              <a:rPr lang="de-DE" dirty="0"/>
              <a:t> </a:t>
            </a:r>
            <a:r>
              <a:rPr lang="de-DE" dirty="0" err="1"/>
              <a:t>with</a:t>
            </a:r>
            <a:r>
              <a:rPr lang="de-DE" dirty="0"/>
              <a:t> </a:t>
            </a:r>
            <a:r>
              <a:rPr lang="de-DE" dirty="0" err="1"/>
              <a:t>are</a:t>
            </a:r>
            <a:r>
              <a:rPr lang="de-DE" dirty="0"/>
              <a:t> </a:t>
            </a:r>
            <a:r>
              <a:rPr lang="de-DE" dirty="0" err="1"/>
              <a:t>assertions</a:t>
            </a:r>
            <a:r>
              <a:rPr lang="de-DE" dirty="0"/>
              <a:t>, so </a:t>
            </a:r>
            <a:r>
              <a:rPr lang="de-DE" dirty="0" err="1"/>
              <a:t>let‘s</a:t>
            </a:r>
            <a:r>
              <a:rPr lang="de-DE" dirty="0"/>
              <a:t> </a:t>
            </a:r>
            <a:r>
              <a:rPr lang="de-DE" dirty="0" err="1"/>
              <a:t>atlk</a:t>
            </a:r>
            <a:r>
              <a:rPr lang="de-DE" dirty="0"/>
              <a:t> </a:t>
            </a:r>
            <a:r>
              <a:rPr lang="de-DE" dirty="0" err="1"/>
              <a:t>about</a:t>
            </a:r>
            <a:r>
              <a:rPr lang="de-DE" dirty="0"/>
              <a:t> </a:t>
            </a:r>
            <a:r>
              <a:rPr lang="de-DE" dirty="0" err="1"/>
              <a:t>them</a:t>
            </a:r>
            <a:r>
              <a:rPr lang="de-DE" dirty="0"/>
              <a:t> a </a:t>
            </a:r>
            <a:r>
              <a:rPr lang="de-DE" dirty="0" err="1"/>
              <a:t>bit</a:t>
            </a:r>
            <a:r>
              <a:rPr lang="de-DE" dirty="0"/>
              <a:t>. </a:t>
            </a:r>
          </a:p>
        </p:txBody>
      </p:sp>
    </p:spTree>
    <p:extLst>
      <p:ext uri="{BB962C8B-B14F-4D97-AF65-F5344CB8AC3E}">
        <p14:creationId xmlns:p14="http://schemas.microsoft.com/office/powerpoint/2010/main" val="2213038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dirty="0">
                <a:solidFill>
                  <a:srgbClr val="ABB2BF"/>
                </a:solidFill>
                <a:effectLst/>
                <a:latin typeface="Menlo" panose="020B0609030804020204" pitchFamily="49" charset="0"/>
              </a:rPr>
              <a:t>Assertions can check many kinds of conditions, not only numeric equality.</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Examples: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endParaRPr lang="en-GB" b="0" dirty="0">
              <a:solidFill>
                <a:srgbClr val="ABB2BF"/>
              </a:solidFill>
              <a:effectLst/>
              <a:latin typeface="Menlo" panose="020B0609030804020204" pitchFamily="49" charset="0"/>
            </a:endParaRP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4</a:t>
            </a:r>
            <a:endParaRPr lang="en-GB" b="0" dirty="0">
              <a:solidFill>
                <a:srgbClr val="ABB2BF"/>
              </a:solidFill>
              <a:effectLst/>
              <a:latin typeface="Menlo" panose="020B0609030804020204" pitchFamily="49" charset="0"/>
            </a:endParaRP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"hello"</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islower</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56B6C2"/>
                </a:solidFill>
                <a:effectLst/>
                <a:latin typeface="Menlo" panose="020B0609030804020204" pitchFamily="49" charset="0"/>
              </a:rPr>
              <a:t>len</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Optional failure-output demo</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Add temporarily to `</a:t>
            </a:r>
            <a:r>
              <a:rPr lang="en-GB" b="0" dirty="0" err="1">
                <a:solidFill>
                  <a:srgbClr val="ABB2BF"/>
                </a:solidFill>
                <a:effectLst/>
                <a:latin typeface="Menlo" panose="020B0609030804020204" pitchFamily="49" charset="0"/>
              </a:rPr>
              <a:t>test_first.py</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test_assertion_message_for_lists</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test_first.py</a:t>
            </a:r>
            <a:r>
              <a:rPr lang="en-GB" b="0" dirty="0">
                <a:solidFill>
                  <a:srgbClr val="98C379"/>
                </a:solidFill>
                <a:effectLst/>
                <a:latin typeface="Menlo" panose="020B0609030804020204" pitchFamily="49" charset="0"/>
              </a:rPr>
              <a:t>::</a:t>
            </a:r>
            <a:r>
              <a:rPr lang="en-GB" b="0" dirty="0" err="1">
                <a:solidFill>
                  <a:srgbClr val="98C379"/>
                </a:solidFill>
                <a:effectLst/>
                <a:latin typeface="Menlo" panose="020B0609030804020204" pitchFamily="49" charset="0"/>
              </a:rPr>
              <a:t>test_assertion_message_for_lists</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 failure shape: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E assert [2, 1] == [1, 2]</a:t>
            </a:r>
          </a:p>
          <a:p>
            <a:r>
              <a:rPr lang="en-GB" b="0" dirty="0">
                <a:solidFill>
                  <a:srgbClr val="ABB2BF"/>
                </a:solidFill>
                <a:effectLst/>
                <a:latin typeface="Menlo" panose="020B0609030804020204" pitchFamily="49" charset="0"/>
              </a:rPr>
              <a:t>E At index 0 diff: 2 != 1</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Then remove the temporary failing test.</a:t>
            </a:r>
          </a:p>
          <a:p>
            <a:endParaRPr lang="en-GB" b="0" dirty="0">
              <a:solidFill>
                <a:srgbClr val="ABB2BF"/>
              </a:solidFill>
              <a:effectLst/>
              <a:latin typeface="Menlo" panose="020B0609030804020204" pitchFamily="49" charset="0"/>
            </a:endParaRPr>
          </a:p>
          <a:p>
            <a:pPr marL="0" marR="0" lvl="0" indent="0" defTabSz="914400" eaLnBrk="1" fontAlgn="auto" latinLnBrk="0" hangingPunct="1">
              <a:lnSpc>
                <a:spcPct val="100000"/>
              </a:lnSpc>
              <a:spcBef>
                <a:spcPts val="400"/>
              </a:spcBef>
              <a:spcAft>
                <a:spcPts val="0"/>
              </a:spcAft>
              <a:buClrTx/>
              <a:buSzTx/>
              <a:buFontTx/>
              <a:buNone/>
              <a:tabLst/>
              <a:defRPr/>
            </a:pPr>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a:t>
            </a:r>
            <a:r>
              <a:rPr lang="en-GB" b="0" i="1" dirty="0" err="1">
                <a:solidFill>
                  <a:srgbClr val="5C6370"/>
                </a:solidFill>
                <a:effectLst/>
                <a:latin typeface="Menlo" panose="020B0609030804020204" pitchFamily="49" charset="0"/>
              </a:rPr>
              <a:t>pytest’s</a:t>
            </a:r>
            <a:r>
              <a:rPr lang="en-GB" b="0" i="1" dirty="0">
                <a:solidFill>
                  <a:srgbClr val="5C6370"/>
                </a:solidFill>
                <a:effectLst/>
                <a:latin typeface="Menlo" panose="020B0609030804020204" pitchFamily="49" charset="0"/>
              </a:rPr>
              <a:t> failure output is part of the tool. Read it carefully before changing code.</a:t>
            </a:r>
            <a:endParaRPr lang="en-GB" b="0" dirty="0">
              <a:solidFill>
                <a:srgbClr val="ABB2BF"/>
              </a:solidFill>
              <a:effectLst/>
              <a:latin typeface="Menlo" panose="020B0609030804020204" pitchFamily="49" charset="0"/>
            </a:endParaRPr>
          </a:p>
          <a:p>
            <a:endParaRPr lang="en-GB" b="0" dirty="0">
              <a:solidFill>
                <a:srgbClr val="ABB2BF"/>
              </a:solidFill>
              <a:effectLst/>
              <a:latin typeface="Menlo" panose="020B0609030804020204" pitchFamily="49" charset="0"/>
            </a:endParaRPr>
          </a:p>
          <a:p>
            <a:endParaRPr lang="en-DE" dirty="0"/>
          </a:p>
        </p:txBody>
      </p:sp>
    </p:spTree>
    <p:extLst>
      <p:ext uri="{BB962C8B-B14F-4D97-AF65-F5344CB8AC3E}">
        <p14:creationId xmlns:p14="http://schemas.microsoft.com/office/powerpoint/2010/main" val="6981909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i="1" dirty="0">
                <a:solidFill>
                  <a:srgbClr val="5C6370"/>
                </a:solidFill>
                <a:effectLst/>
                <a:latin typeface="Menlo" panose="020B0609030804020204" pitchFamily="49" charset="0"/>
              </a:rPr>
              <a:t>&gt; We already tested `times_3` with an integer and with a string. Now let’s add one more case: a list.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Ask:</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What does Python do with `[1] * 3`?</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Add to `</a:t>
            </a:r>
            <a:r>
              <a:rPr lang="en-GB" b="0" dirty="0" err="1">
                <a:solidFill>
                  <a:srgbClr val="ABB2BF"/>
                </a:solidFill>
                <a:effectLst/>
                <a:latin typeface="Menlo" panose="020B0609030804020204" pitchFamily="49" charset="0"/>
              </a:rPr>
              <a:t>test_first.py</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a:solidFill>
                  <a:srgbClr val="61AFEF"/>
                </a:solidFill>
                <a:effectLst/>
                <a:latin typeface="Menlo" panose="020B0609030804020204" pitchFamily="49" charset="0"/>
              </a:rPr>
              <a:t>test_times_3_list</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value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expected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result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times_3(value)</a:t>
            </a:r>
          </a:p>
          <a:p>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result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expected</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test_first.py</a:t>
            </a:r>
            <a:r>
              <a:rPr lang="en-GB" b="0" dirty="0">
                <a:solidFill>
                  <a:srgbClr val="98C379"/>
                </a:solidFill>
                <a:effectLst/>
                <a:latin typeface="Menlo" panose="020B0609030804020204" pitchFamily="49" charset="0"/>
              </a:rPr>
              <a:t>::test_times_3_list</a:t>
            </a:r>
            <a:endParaRPr lang="en-GB" b="0" dirty="0">
              <a:solidFill>
                <a:srgbClr val="ABB2BF"/>
              </a:solidFill>
              <a:effectLst/>
              <a:latin typeface="Menlo" panose="020B0609030804020204" pitchFamily="49" charset="0"/>
            </a:endParaRP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Intentional failure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Temporarily change: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ABB2BF"/>
                </a:solidFill>
                <a:effectLst/>
                <a:latin typeface="Menlo" panose="020B0609030804020204" pitchFamily="49" charset="0"/>
              </a:rPr>
              <a:t>expected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test_first.py</a:t>
            </a:r>
            <a:r>
              <a:rPr lang="en-GB" b="0" dirty="0">
                <a:solidFill>
                  <a:srgbClr val="98C379"/>
                </a:solidFill>
                <a:effectLst/>
                <a:latin typeface="Menlo" panose="020B0609030804020204" pitchFamily="49" charset="0"/>
              </a:rPr>
              <a:t>::test_times_3_list</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Say:</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In this case, the code is not wrong. The test expectation is wrong. A failing test means implementation and expectation disagree; we still have to decide which side is wrong.</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Restore: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ABB2BF"/>
                </a:solidFill>
                <a:effectLst/>
                <a:latin typeface="Menlo" panose="020B0609030804020204" pitchFamily="49" charset="0"/>
              </a:rPr>
              <a:t>expected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endParaRPr lang="en-DE" dirty="0"/>
          </a:p>
        </p:txBody>
      </p:sp>
    </p:spTree>
    <p:extLst>
      <p:ext uri="{BB962C8B-B14F-4D97-AF65-F5344CB8AC3E}">
        <p14:creationId xmlns:p14="http://schemas.microsoft.com/office/powerpoint/2010/main" val="922165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Write </a:t>
            </a:r>
            <a:r>
              <a:rPr lang="de-DE" dirty="0" err="1"/>
              <a:t>the</a:t>
            </a:r>
            <a:r>
              <a:rPr lang="de-DE" dirty="0"/>
              <a:t> </a:t>
            </a:r>
            <a:r>
              <a:rPr lang="de-DE" dirty="0" err="1"/>
              <a:t>test</a:t>
            </a:r>
            <a:r>
              <a:rPr lang="de-DE" dirty="0"/>
              <a:t>, </a:t>
            </a:r>
            <a:r>
              <a:rPr lang="de-DE" dirty="0" err="1"/>
              <a:t>it</a:t>
            </a:r>
            <a:r>
              <a:rPr lang="de-DE" dirty="0"/>
              <a:t> </a:t>
            </a:r>
            <a:r>
              <a:rPr lang="de-DE" dirty="0" err="1"/>
              <a:t>does</a:t>
            </a:r>
            <a:r>
              <a:rPr lang="de-DE" dirty="0"/>
              <a:t> not </a:t>
            </a:r>
            <a:r>
              <a:rPr lang="de-DE" dirty="0" err="1"/>
              <a:t>have</a:t>
            </a:r>
            <a:r>
              <a:rPr lang="de-DE" dirty="0"/>
              <a:t> </a:t>
            </a:r>
            <a:r>
              <a:rPr lang="de-DE" dirty="0" err="1"/>
              <a:t>to</a:t>
            </a:r>
            <a:r>
              <a:rPr lang="de-DE" dirty="0"/>
              <a:t> </a:t>
            </a:r>
            <a:r>
              <a:rPr lang="de-DE" dirty="0" err="1"/>
              <a:t>call</a:t>
            </a:r>
            <a:r>
              <a:rPr lang="de-DE" dirty="0"/>
              <a:t> a </a:t>
            </a:r>
            <a:r>
              <a:rPr lang="de-DE" dirty="0" err="1"/>
              <a:t>function</a:t>
            </a:r>
            <a:r>
              <a:rPr lang="de-DE" dirty="0"/>
              <a:t>, </a:t>
            </a:r>
            <a:r>
              <a:rPr lang="de-DE" dirty="0" err="1"/>
              <a:t>it</a:t>
            </a:r>
            <a:r>
              <a:rPr lang="de-DE" dirty="0"/>
              <a:t> </a:t>
            </a:r>
            <a:r>
              <a:rPr lang="de-DE" dirty="0" err="1"/>
              <a:t>can</a:t>
            </a:r>
            <a:r>
              <a:rPr lang="de-DE" dirty="0"/>
              <a:t> just </a:t>
            </a:r>
            <a:r>
              <a:rPr lang="de-DE" dirty="0" err="1"/>
              <a:t>assert</a:t>
            </a:r>
            <a:r>
              <a:rPr lang="de-DE" dirty="0"/>
              <a:t> </a:t>
            </a:r>
            <a:r>
              <a:rPr lang="de-DE" dirty="0" err="1"/>
              <a:t>that</a:t>
            </a:r>
            <a:r>
              <a:rPr lang="de-DE" dirty="0"/>
              <a:t> 1 + 2 == 3</a:t>
            </a:r>
          </a:p>
          <a:p>
            <a:endParaRPr lang="de-DE" dirty="0"/>
          </a:p>
          <a:p>
            <a:r>
              <a:rPr lang="de-DE" dirty="0" err="1"/>
              <a:t>What</a:t>
            </a:r>
            <a:r>
              <a:rPr lang="de-DE" dirty="0"/>
              <a:t> do </a:t>
            </a:r>
            <a:r>
              <a:rPr lang="de-DE" dirty="0" err="1"/>
              <a:t>you</a:t>
            </a:r>
            <a:r>
              <a:rPr lang="de-DE" dirty="0"/>
              <a:t> </a:t>
            </a:r>
            <a:r>
              <a:rPr lang="de-DE" dirty="0" err="1"/>
              <a:t>expect</a:t>
            </a:r>
            <a:r>
              <a:rPr lang="de-DE" dirty="0"/>
              <a:t> </a:t>
            </a:r>
            <a:r>
              <a:rPr lang="de-DE" dirty="0" err="1"/>
              <a:t>to</a:t>
            </a:r>
            <a:r>
              <a:rPr lang="de-DE" dirty="0"/>
              <a:t> happen, will </a:t>
            </a:r>
            <a:r>
              <a:rPr lang="de-DE" dirty="0" err="1"/>
              <a:t>the</a:t>
            </a:r>
            <a:r>
              <a:rPr lang="de-DE" dirty="0"/>
              <a:t> </a:t>
            </a:r>
            <a:r>
              <a:rPr lang="de-DE" dirty="0" err="1"/>
              <a:t>test</a:t>
            </a:r>
            <a:r>
              <a:rPr lang="de-DE" dirty="0"/>
              <a:t> pass </a:t>
            </a:r>
            <a:r>
              <a:rPr lang="de-DE" dirty="0" err="1"/>
              <a:t>or</a:t>
            </a:r>
            <a:r>
              <a:rPr lang="de-DE" dirty="0"/>
              <a:t> fail (</a:t>
            </a:r>
            <a:r>
              <a:rPr lang="de-DE" dirty="0" err="1"/>
              <a:t>show</a:t>
            </a:r>
            <a:r>
              <a:rPr lang="de-DE" dirty="0"/>
              <a:t> </a:t>
            </a:r>
            <a:r>
              <a:rPr lang="de-DE" dirty="0" err="1"/>
              <a:t>of</a:t>
            </a:r>
            <a:r>
              <a:rPr lang="de-DE" dirty="0"/>
              <a:t> </a:t>
            </a:r>
            <a:r>
              <a:rPr lang="de-DE" dirty="0" err="1"/>
              <a:t>hands</a:t>
            </a:r>
            <a:r>
              <a:rPr lang="de-DE" dirty="0"/>
              <a:t>)</a:t>
            </a:r>
          </a:p>
        </p:txBody>
      </p:sp>
    </p:spTree>
    <p:extLst>
      <p:ext uri="{BB962C8B-B14F-4D97-AF65-F5344CB8AC3E}">
        <p14:creationId xmlns:p14="http://schemas.microsoft.com/office/powerpoint/2010/main" val="988278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Next </a:t>
            </a:r>
            <a:r>
              <a:rPr lang="de-DE" dirty="0" err="1"/>
              <a:t>one</a:t>
            </a:r>
            <a:endParaRPr lang="de-DE" dirty="0"/>
          </a:p>
          <a:p>
            <a:endParaRPr lang="de-DE" dirty="0"/>
          </a:p>
          <a:p>
            <a:pPr marL="0" marR="0" lvl="0" indent="0" defTabSz="914400" eaLnBrk="1" fontAlgn="auto" latinLnBrk="0" hangingPunct="1">
              <a:lnSpc>
                <a:spcPct val="100000"/>
              </a:lnSpc>
              <a:spcBef>
                <a:spcPts val="400"/>
              </a:spcBef>
              <a:spcAft>
                <a:spcPts val="0"/>
              </a:spcAft>
              <a:buClrTx/>
              <a:buSzTx/>
              <a:buFontTx/>
              <a:buNone/>
              <a:tabLst/>
              <a:defRPr/>
            </a:pPr>
            <a:r>
              <a:rPr lang="de-DE" dirty="0" err="1"/>
              <a:t>What</a:t>
            </a:r>
            <a:r>
              <a:rPr lang="de-DE" dirty="0"/>
              <a:t> do </a:t>
            </a:r>
            <a:r>
              <a:rPr lang="de-DE" dirty="0" err="1"/>
              <a:t>you</a:t>
            </a:r>
            <a:r>
              <a:rPr lang="de-DE" dirty="0"/>
              <a:t> </a:t>
            </a:r>
            <a:r>
              <a:rPr lang="de-DE" dirty="0" err="1"/>
              <a:t>expect</a:t>
            </a:r>
            <a:r>
              <a:rPr lang="de-DE" dirty="0"/>
              <a:t> </a:t>
            </a:r>
            <a:r>
              <a:rPr lang="de-DE" dirty="0" err="1"/>
              <a:t>to</a:t>
            </a:r>
            <a:r>
              <a:rPr lang="de-DE" dirty="0"/>
              <a:t> happen, will </a:t>
            </a:r>
            <a:r>
              <a:rPr lang="de-DE" dirty="0" err="1"/>
              <a:t>the</a:t>
            </a:r>
            <a:r>
              <a:rPr lang="de-DE" dirty="0"/>
              <a:t> </a:t>
            </a:r>
            <a:r>
              <a:rPr lang="de-DE" dirty="0" err="1"/>
              <a:t>test</a:t>
            </a:r>
            <a:r>
              <a:rPr lang="de-DE" dirty="0"/>
              <a:t> pass </a:t>
            </a:r>
            <a:r>
              <a:rPr lang="de-DE" dirty="0" err="1"/>
              <a:t>or</a:t>
            </a:r>
            <a:r>
              <a:rPr lang="de-DE" dirty="0"/>
              <a:t> fail (</a:t>
            </a:r>
            <a:r>
              <a:rPr lang="de-DE" dirty="0" err="1"/>
              <a:t>show</a:t>
            </a:r>
            <a:r>
              <a:rPr lang="de-DE" dirty="0"/>
              <a:t> </a:t>
            </a:r>
            <a:r>
              <a:rPr lang="de-DE" dirty="0" err="1"/>
              <a:t>of</a:t>
            </a:r>
            <a:r>
              <a:rPr lang="de-DE" dirty="0"/>
              <a:t> </a:t>
            </a:r>
            <a:r>
              <a:rPr lang="de-DE" dirty="0" err="1"/>
              <a:t>hands</a:t>
            </a:r>
            <a:r>
              <a:rPr lang="de-DE" dirty="0"/>
              <a:t>)</a:t>
            </a:r>
          </a:p>
          <a:p>
            <a:endParaRPr lang="de-DE" dirty="0"/>
          </a:p>
          <a:p>
            <a:r>
              <a:rPr lang="de-DE" dirty="0" err="1"/>
              <a:t>Afterwards</a:t>
            </a:r>
            <a:r>
              <a:rPr lang="de-DE" dirty="0"/>
              <a:t>:</a:t>
            </a:r>
          </a:p>
          <a:p>
            <a:r>
              <a:rPr lang="de-DE" dirty="0" err="1"/>
              <a:t>Did</a:t>
            </a:r>
            <a:r>
              <a:rPr lang="de-DE" dirty="0"/>
              <a:t> </a:t>
            </a:r>
            <a:r>
              <a:rPr lang="de-DE" dirty="0" err="1"/>
              <a:t>anyone</a:t>
            </a:r>
            <a:r>
              <a:rPr lang="de-DE" dirty="0"/>
              <a:t> find out </a:t>
            </a:r>
            <a:r>
              <a:rPr lang="de-DE" dirty="0" err="1"/>
              <a:t>why</a:t>
            </a:r>
            <a:r>
              <a:rPr lang="de-DE" dirty="0"/>
              <a:t> </a:t>
            </a:r>
            <a:r>
              <a:rPr lang="de-DE" dirty="0" err="1"/>
              <a:t>this</a:t>
            </a:r>
            <a:r>
              <a:rPr lang="de-DE" dirty="0"/>
              <a:t> </a:t>
            </a:r>
            <a:r>
              <a:rPr lang="de-DE" dirty="0" err="1"/>
              <a:t>fails</a:t>
            </a:r>
            <a:r>
              <a:rPr lang="de-DE" dirty="0"/>
              <a:t>?</a:t>
            </a:r>
          </a:p>
          <a:p>
            <a:endParaRPr lang="de-DE" dirty="0"/>
          </a:p>
          <a:p>
            <a:r>
              <a:rPr lang="de-DE" dirty="0"/>
              <a:t>DEMO:</a:t>
            </a:r>
          </a:p>
          <a:p>
            <a:r>
              <a:rPr lang="de-DE" dirty="0"/>
              <a:t>terminal: </a:t>
            </a:r>
            <a:r>
              <a:rPr lang="de-DE" dirty="0" err="1"/>
              <a:t>evaluate</a:t>
            </a:r>
            <a:r>
              <a:rPr lang="de-DE" dirty="0"/>
              <a:t> 3.3, </a:t>
            </a:r>
            <a:r>
              <a:rPr lang="de-DE" dirty="0" err="1"/>
              <a:t>then</a:t>
            </a:r>
            <a:r>
              <a:rPr lang="de-DE" dirty="0"/>
              <a:t> </a:t>
            </a:r>
            <a:r>
              <a:rPr lang="de-DE" dirty="0" err="1"/>
              <a:t>evaluate</a:t>
            </a:r>
            <a:r>
              <a:rPr lang="de-DE" dirty="0"/>
              <a:t> 1.1 + 2.2 </a:t>
            </a:r>
            <a:r>
              <a:rPr lang="de-DE" dirty="0">
                <a:sym typeface="Wingdings" pitchFamily="2" charset="2"/>
              </a:rPr>
              <a:t> 3.300000003</a:t>
            </a:r>
          </a:p>
          <a:p>
            <a:endParaRPr lang="de-DE" dirty="0">
              <a:sym typeface="Wingdings" pitchFamily="2" charset="2"/>
            </a:endParaRPr>
          </a:p>
          <a:p>
            <a:endParaRPr lang="de-DE" dirty="0">
              <a:sym typeface="Wingdings" pitchFamily="2" charset="2"/>
            </a:endParaRPr>
          </a:p>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Exact equality is often wrong for floating-point arithmetic.</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Create `</a:t>
            </a:r>
            <a:r>
              <a:rPr lang="en-GB" b="0" dirty="0" err="1">
                <a:solidFill>
                  <a:srgbClr val="E06C75"/>
                </a:solidFill>
                <a:effectLst/>
                <a:latin typeface="Menlo" panose="020B0609030804020204" pitchFamily="49" charset="0"/>
              </a:rPr>
              <a:t>test_plus.py</a:t>
            </a:r>
            <a:r>
              <a:rPr lang="en-GB" b="0" dirty="0">
                <a:solidFill>
                  <a:srgbClr val="E06C75"/>
                </a:solidFill>
                <a:effectLst/>
                <a:latin typeface="Menlo" panose="020B0609030804020204" pitchFamily="49" charset="0"/>
              </a:rPr>
              <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61AFEF"/>
                </a:solidFill>
                <a:effectLst/>
                <a:latin typeface="Menlo" panose="020B0609030804020204" pitchFamily="49" charset="0"/>
              </a:rPr>
              <a:t>vim</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test_plus.py</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Add:</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test_integer_addition</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test_plus.py</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Now add:</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test_float_addition_exact</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2.2</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3.3</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test_plus.py</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 the float test fails.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Inspect: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61AFEF"/>
                </a:solidFill>
                <a:effectLst/>
                <a:latin typeface="Menlo" panose="020B0609030804020204" pitchFamily="49" charset="0"/>
              </a:rPr>
              <a:t>python</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&lt;&lt;</a:t>
            </a:r>
            <a:r>
              <a:rPr lang="en-GB" b="0" dirty="0">
                <a:solidFill>
                  <a:srgbClr val="ABB2BF"/>
                </a:solidFill>
                <a:effectLst/>
                <a:latin typeface="Menlo" panose="020B0609030804020204" pitchFamily="49" charset="0"/>
              </a:rPr>
              <a:t>'PY'</a:t>
            </a:r>
          </a:p>
          <a:p>
            <a:r>
              <a:rPr lang="en-GB" b="0" dirty="0">
                <a:solidFill>
                  <a:srgbClr val="98C379"/>
                </a:solidFill>
                <a:effectLst/>
                <a:latin typeface="Menlo" panose="020B0609030804020204" pitchFamily="49" charset="0"/>
              </a:rPr>
              <a:t>print(1.1 + 2.2)</a:t>
            </a:r>
            <a:endParaRPr lang="en-GB" b="0" dirty="0">
              <a:solidFill>
                <a:srgbClr val="ABB2BF"/>
              </a:solidFill>
              <a:effectLst/>
              <a:latin typeface="Menlo" panose="020B0609030804020204" pitchFamily="49" charset="0"/>
            </a:endParaRPr>
          </a:p>
          <a:p>
            <a:r>
              <a:rPr lang="en-GB" b="0" dirty="0">
                <a:solidFill>
                  <a:srgbClr val="98C379"/>
                </a:solidFill>
                <a:effectLst/>
                <a:latin typeface="Menlo" panose="020B0609030804020204" pitchFamily="49" charset="0"/>
              </a:rPr>
              <a:t>print(</a:t>
            </a:r>
            <a:r>
              <a:rPr lang="en-GB" b="0" dirty="0" err="1">
                <a:solidFill>
                  <a:srgbClr val="98C379"/>
                </a:solidFill>
                <a:effectLst/>
                <a:latin typeface="Menlo" panose="020B0609030804020204" pitchFamily="49" charset="0"/>
              </a:rPr>
              <a:t>repr</a:t>
            </a:r>
            <a:r>
              <a:rPr lang="en-GB" b="0" dirty="0">
                <a:solidFill>
                  <a:srgbClr val="98C379"/>
                </a:solidFill>
                <a:effectLst/>
                <a:latin typeface="Menlo" panose="020B0609030804020204" pitchFamily="49" charset="0"/>
              </a:rPr>
              <a:t>(1.1 + 2.2))</a:t>
            </a:r>
            <a:endParaRPr lang="en-GB" b="0" dirty="0">
              <a:solidFill>
                <a:srgbClr val="ABB2BF"/>
              </a:solidFill>
              <a:effectLst/>
              <a:latin typeface="Menlo" panose="020B0609030804020204" pitchFamily="49" charset="0"/>
            </a:endParaRPr>
          </a:p>
          <a:p>
            <a:r>
              <a:rPr lang="en-GB" b="0" dirty="0">
                <a:solidFill>
                  <a:srgbClr val="98C379"/>
                </a:solidFill>
                <a:effectLst/>
                <a:latin typeface="Menlo" panose="020B0609030804020204" pitchFamily="49" charset="0"/>
              </a:rPr>
              <a:t>print(</a:t>
            </a:r>
            <a:r>
              <a:rPr lang="en-GB" b="0" dirty="0" err="1">
                <a:solidFill>
                  <a:srgbClr val="98C379"/>
                </a:solidFill>
                <a:effectLst/>
                <a:latin typeface="Menlo" panose="020B0609030804020204" pitchFamily="49" charset="0"/>
              </a:rPr>
              <a:t>repr</a:t>
            </a:r>
            <a:r>
              <a:rPr lang="en-GB" b="0" dirty="0">
                <a:solidFill>
                  <a:srgbClr val="98C379"/>
                </a:solidFill>
                <a:effectLst/>
                <a:latin typeface="Menlo" panose="020B0609030804020204" pitchFamily="49" charset="0"/>
              </a:rPr>
              <a:t>(3.3))</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PY</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3.3000000000000003</a:t>
            </a:r>
          </a:p>
          <a:p>
            <a:r>
              <a:rPr lang="en-GB" b="0" dirty="0">
                <a:solidFill>
                  <a:srgbClr val="ABB2BF"/>
                </a:solidFill>
                <a:effectLst/>
                <a:latin typeface="Menlo" panose="020B0609030804020204" pitchFamily="49" charset="0"/>
              </a:rPr>
              <a:t>3.3000000000000003</a:t>
            </a:r>
          </a:p>
          <a:p>
            <a:r>
              <a:rPr lang="en-GB" b="0" dirty="0">
                <a:solidFill>
                  <a:srgbClr val="ABB2BF"/>
                </a:solidFill>
                <a:effectLst/>
                <a:latin typeface="Menlo" panose="020B0609030804020204" pitchFamily="49" charset="0"/>
              </a:rPr>
              <a:t>3.3</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Mathematically, we expect `1.1 + 2.2` to be `3.3`. But in binary floating-point arithmetic, these decimal numbers are not stored exactly.</a:t>
            </a:r>
            <a:endParaRPr lang="en-GB" b="0" dirty="0">
              <a:solidFill>
                <a:srgbClr val="ABB2BF"/>
              </a:solidFill>
              <a:effectLst/>
              <a:latin typeface="Menlo" panose="020B0609030804020204" pitchFamily="49" charset="0"/>
            </a:endParaRPr>
          </a:p>
          <a:p>
            <a:endParaRPr lang="en-GB" b="0" dirty="0">
              <a:solidFill>
                <a:srgbClr val="ABB2BF"/>
              </a:solidFill>
              <a:effectLst/>
              <a:latin typeface="Menlo" panose="020B0609030804020204" pitchFamily="49" charset="0"/>
            </a:endParaRPr>
          </a:p>
          <a:p>
            <a:endParaRPr lang="en-GB" b="0" dirty="0">
              <a:solidFill>
                <a:srgbClr val="ABB2BF"/>
              </a:solidFill>
              <a:effectLst/>
              <a:latin typeface="Menlo" panose="020B0609030804020204" pitchFamily="49" charset="0"/>
            </a:endParaRPr>
          </a:p>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For floating-point values, test closeness, not exact equality.</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Edit `</a:t>
            </a:r>
            <a:r>
              <a:rPr lang="en-GB" b="0" dirty="0" err="1">
                <a:solidFill>
                  <a:srgbClr val="E06C75"/>
                </a:solidFill>
                <a:effectLst/>
                <a:latin typeface="Menlo" panose="020B0609030804020204" pitchFamily="49" charset="0"/>
              </a:rPr>
              <a:t>test_plus.py</a:t>
            </a:r>
            <a:r>
              <a:rPr lang="en-GB" b="0" dirty="0">
                <a:solidFill>
                  <a:srgbClr val="E06C75"/>
                </a:solidFill>
                <a:effectLst/>
                <a:latin typeface="Menlo" panose="020B0609030804020204" pitchFamily="49" charset="0"/>
              </a:rPr>
              <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top:</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from</a:t>
            </a:r>
            <a:r>
              <a:rPr lang="en-GB" b="0" dirty="0">
                <a:solidFill>
                  <a:srgbClr val="ABB2BF"/>
                </a:solidFill>
                <a:effectLst/>
                <a:latin typeface="Menlo" panose="020B0609030804020204" pitchFamily="49" charset="0"/>
              </a:rPr>
              <a:t> math </a:t>
            </a:r>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isclose</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Change failing assertion to:</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test_float_addition_approximate</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isclose</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3.3</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test_plus.py</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This test now matches the numerical reality. The values are not exactly identical, but they are close enough under the default tolerance.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Key point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The tolerance is not just a technical detail. In scientific code, the tolerance should reflect the scale and accuracy required by the problem.</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endParaRPr lang="en-GB" b="0" dirty="0">
              <a:solidFill>
                <a:srgbClr val="ABB2BF"/>
              </a:solidFill>
              <a:effectLst/>
              <a:latin typeface="Menlo" panose="020B0609030804020204" pitchFamily="49" charset="0"/>
            </a:endParaRPr>
          </a:p>
          <a:p>
            <a:endParaRPr lang="de-DE" dirty="0"/>
          </a:p>
        </p:txBody>
      </p:sp>
    </p:spTree>
    <p:extLst>
      <p:ext uri="{BB962C8B-B14F-4D97-AF65-F5344CB8AC3E}">
        <p14:creationId xmlns:p14="http://schemas.microsoft.com/office/powerpoint/2010/main" val="21300109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Shape 362"/>
          <p:cNvSpPr>
            <a:spLocks noGrp="1" noRot="1" noChangeAspect="1"/>
          </p:cNvSpPr>
          <p:nvPr>
            <p:ph type="sldImg"/>
          </p:nvPr>
        </p:nvSpPr>
        <p:spPr>
          <a:xfrm>
            <a:off x="381000" y="685800"/>
            <a:ext cx="6096000" cy="3429000"/>
          </a:xfrm>
          <a:prstGeom prst="rect">
            <a:avLst/>
          </a:prstGeom>
        </p:spPr>
        <p:txBody>
          <a:bodyPr/>
          <a:lstStyle/>
          <a:p>
            <a:endParaRPr/>
          </a:p>
        </p:txBody>
      </p:sp>
      <p:sp>
        <p:nvSpPr>
          <p:cNvPr id="363" name="Shape 363"/>
          <p:cNvSpPr>
            <a:spLocks noGrp="1"/>
          </p:cNvSpPr>
          <p:nvPr>
            <p:ph type="body" sz="quarter" idx="1"/>
          </p:nvPr>
        </p:nvSpPr>
        <p:spPr>
          <a:prstGeom prst="rect">
            <a:avLst/>
          </a:prstGeom>
        </p:spPr>
        <p:txBody>
          <a:bodyPr/>
          <a:lstStyle/>
          <a:p>
            <a:r>
              <a:rPr dirty="0"/>
              <a:t>If you’re working with floating point numbers two number are rarely exactly the same</a:t>
            </a:r>
            <a:endParaRPr lang="en-US" dirty="0"/>
          </a:p>
          <a:p>
            <a:endParaRPr lang="de-DE" dirty="0"/>
          </a:p>
          <a:p>
            <a:r>
              <a:rPr lang="de-DE" dirty="0"/>
              <a:t>DEMO</a:t>
            </a:r>
          </a:p>
          <a:p>
            <a:r>
              <a:rPr lang="de-DE" dirty="0" err="1"/>
              <a:t>show</a:t>
            </a:r>
            <a:r>
              <a:rPr lang="de-DE" dirty="0"/>
              <a:t> </a:t>
            </a:r>
            <a:r>
              <a:rPr lang="de-DE" dirty="0" err="1"/>
              <a:t>that</a:t>
            </a:r>
            <a:r>
              <a:rPr lang="de-DE" dirty="0"/>
              <a:t> </a:t>
            </a:r>
            <a:r>
              <a:rPr lang="de-DE" dirty="0" err="1"/>
              <a:t>isclose</a:t>
            </a:r>
            <a:r>
              <a:rPr lang="de-DE" dirty="0"/>
              <a:t> </a:t>
            </a:r>
            <a:r>
              <a:rPr lang="de-DE" dirty="0" err="1"/>
              <a:t>works</a:t>
            </a:r>
            <a:r>
              <a:rPr lang="de-DE" dirty="0"/>
              <a:t>. </a:t>
            </a:r>
          </a:p>
          <a:p>
            <a:endParaRPr lang="de-DE" dirty="0"/>
          </a:p>
          <a:p>
            <a:endParaRPr lang="de-DE" dirty="0"/>
          </a:p>
          <a:p>
            <a:endParaRPr lang="de-DE" dirty="0"/>
          </a:p>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“Close enough” must be specified.</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Absolute tolerance says the error may be at most this fixed amount. Relative tolerance says the error may be small compared with the size of the number.</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Examples: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err="1">
                <a:solidFill>
                  <a:srgbClr val="ABB2BF"/>
                </a:solidFill>
                <a:effectLst/>
                <a:latin typeface="Menlo" panose="020B0609030804020204" pitchFamily="49" charset="0"/>
              </a:rPr>
              <a:t>isclose</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1.121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1.2</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abs_tol</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0.1</a:t>
            </a:r>
            <a:r>
              <a:rPr lang="en-GB" b="0" dirty="0">
                <a:solidFill>
                  <a:srgbClr val="ABB2BF"/>
                </a:solidFill>
                <a:effectLst/>
                <a:latin typeface="Menlo" panose="020B0609030804020204" pitchFamily="49" charset="0"/>
              </a:rPr>
              <a:t>) </a:t>
            </a:r>
            <a:r>
              <a:rPr lang="en-GB" b="0" i="1" dirty="0">
                <a:solidFill>
                  <a:srgbClr val="5C6370"/>
                </a:solidFill>
                <a:effectLst/>
                <a:latin typeface="Menlo" panose="020B0609030804020204" pitchFamily="49" charset="0"/>
              </a:rPr>
              <a:t># passes</a:t>
            </a:r>
            <a:endParaRPr lang="en-GB" b="0" dirty="0">
              <a:solidFill>
                <a:srgbClr val="ABB2BF"/>
              </a:solidFill>
              <a:effectLst/>
              <a:latin typeface="Menlo" panose="020B0609030804020204" pitchFamily="49" charset="0"/>
            </a:endParaRPr>
          </a:p>
          <a:p>
            <a:r>
              <a:rPr lang="en-GB" b="0" dirty="0" err="1">
                <a:solidFill>
                  <a:srgbClr val="ABB2BF"/>
                </a:solidFill>
                <a:effectLst/>
                <a:latin typeface="Menlo" panose="020B0609030804020204" pitchFamily="49" charset="0"/>
              </a:rPr>
              <a:t>isclose</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1.121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1.2</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abs_tol</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0.01</a:t>
            </a:r>
            <a:r>
              <a:rPr lang="en-GB" b="0" dirty="0">
                <a:solidFill>
                  <a:srgbClr val="ABB2BF"/>
                </a:solidFill>
                <a:effectLst/>
                <a:latin typeface="Menlo" panose="020B0609030804020204" pitchFamily="49" charset="0"/>
              </a:rPr>
              <a:t>) </a:t>
            </a:r>
            <a:r>
              <a:rPr lang="en-GB" b="0" i="1" dirty="0">
                <a:solidFill>
                  <a:srgbClr val="5C6370"/>
                </a:solidFill>
                <a:effectLst/>
                <a:latin typeface="Menlo" panose="020B0609030804020204" pitchFamily="49" charset="0"/>
              </a:rPr>
              <a:t># fails</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Add tests: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test_absolute_tolerance_passes</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isclose</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1.121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1.2</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abs_tol</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0.1</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test_absolute_tolerance_fails</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not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isclose</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1.121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1.2</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abs_tol</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0.01</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test_plus.py</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Key phrase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Floating-point tests should not ask “are these exactly equal?” They should ask “is the numerical error acceptable for this problem?”</a:t>
            </a:r>
            <a:endParaRPr lang="en-GB" b="0" dirty="0">
              <a:solidFill>
                <a:srgbClr val="ABB2BF"/>
              </a:solidFill>
              <a:effectLst/>
              <a:latin typeface="Menlo" panose="020B0609030804020204" pitchFamily="49" charset="0"/>
            </a:endParaRPr>
          </a:p>
          <a:p>
            <a:endParaRPr lang="de-DE" dirty="0"/>
          </a:p>
          <a:p>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Show </a:t>
            </a:r>
            <a:r>
              <a:rPr lang="de-DE" dirty="0" err="1"/>
              <a:t>of</a:t>
            </a:r>
            <a:r>
              <a:rPr lang="de-DE" dirty="0"/>
              <a:t> </a:t>
            </a:r>
            <a:r>
              <a:rPr lang="de-DE" dirty="0" err="1"/>
              <a:t>hands</a:t>
            </a:r>
            <a:r>
              <a:rPr lang="de-DE" dirty="0"/>
              <a:t>, </a:t>
            </a:r>
            <a:r>
              <a:rPr lang="de-DE" dirty="0" err="1"/>
              <a:t>who</a:t>
            </a:r>
            <a:r>
              <a:rPr lang="de-DE" dirty="0"/>
              <a:t> </a:t>
            </a:r>
            <a:r>
              <a:rPr lang="de-DE" dirty="0" err="1"/>
              <a:t>thinks</a:t>
            </a:r>
            <a:r>
              <a:rPr lang="de-DE" dirty="0"/>
              <a:t> </a:t>
            </a:r>
            <a:r>
              <a:rPr lang="de-DE" dirty="0" err="1"/>
              <a:t>this</a:t>
            </a:r>
            <a:r>
              <a:rPr lang="de-DE" dirty="0"/>
              <a:t> will </a:t>
            </a:r>
            <a:r>
              <a:rPr lang="de-DE" dirty="0" err="1"/>
              <a:t>work</a:t>
            </a:r>
            <a:r>
              <a:rPr lang="de-DE" dirty="0"/>
              <a:t>?</a:t>
            </a:r>
          </a:p>
          <a:p>
            <a:endParaRPr lang="de-DE" dirty="0"/>
          </a:p>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NumPy arrays do element-wise comparison. That gives an array of </a:t>
            </a:r>
            <a:r>
              <a:rPr lang="en-GB" b="0" dirty="0" err="1">
                <a:solidFill>
                  <a:srgbClr val="ABB2BF"/>
                </a:solidFill>
                <a:effectLst/>
                <a:latin typeface="Menlo" panose="020B0609030804020204" pitchFamily="49" charset="0"/>
              </a:rPr>
              <a:t>booleans</a:t>
            </a:r>
            <a:r>
              <a:rPr lang="en-GB" b="0" dirty="0">
                <a:solidFill>
                  <a:srgbClr val="ABB2BF"/>
                </a:solidFill>
                <a:effectLst/>
                <a:latin typeface="Menlo" panose="020B0609030804020204" pitchFamily="49" charset="0"/>
              </a:rPr>
              <a:t>, not one single `True` or `False`.</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Terminal</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From `</a:t>
            </a:r>
            <a:r>
              <a:rPr lang="en-GB" b="0" dirty="0" err="1">
                <a:solidFill>
                  <a:srgbClr val="ABB2BF"/>
                </a:solidFill>
                <a:effectLst/>
                <a:latin typeface="Menlo" panose="020B0609030804020204" pitchFamily="49" charset="0"/>
              </a:rPr>
              <a:t>hands_on</a:t>
            </a:r>
            <a:r>
              <a:rPr lang="en-GB" b="0" dirty="0">
                <a:solidFill>
                  <a:srgbClr val="ABB2BF"/>
                </a:solidFill>
                <a:effectLst/>
                <a:latin typeface="Menlo" panose="020B0609030804020204" pitchFamily="49" charset="0"/>
              </a:rPr>
              <a:t>/first`: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56B6C2"/>
                </a:solidFill>
                <a:effectLst/>
                <a:latin typeface="Menlo" panose="020B0609030804020204" pitchFamily="49" charset="0"/>
              </a:rPr>
              <a:t>cd</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a:t>
            </a:r>
            <a:r>
              <a:rPr lang="en-GB" b="0" dirty="0" err="1">
                <a:solidFill>
                  <a:srgbClr val="98C379"/>
                </a:solidFill>
                <a:effectLst/>
                <a:latin typeface="Menlo" panose="020B0609030804020204" pitchFamily="49" charset="0"/>
              </a:rPr>
              <a:t>numpy_equality</a:t>
            </a:r>
            <a:endParaRPr lang="en-GB" b="0" dirty="0">
              <a:solidFill>
                <a:srgbClr val="ABB2BF"/>
              </a:solidFill>
              <a:effectLst/>
              <a:latin typeface="Menlo" panose="020B0609030804020204" pitchFamily="49" charset="0"/>
            </a:endParaRPr>
          </a:p>
          <a:p>
            <a:r>
              <a:rPr lang="en-GB" b="0" dirty="0" err="1">
                <a:solidFill>
                  <a:srgbClr val="61AFEF"/>
                </a:solidFill>
                <a:effectLst/>
                <a:latin typeface="Menlo" panose="020B0609030804020204" pitchFamily="49" charset="0"/>
              </a:rPr>
              <a:t>sed</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-n</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'1,200p'</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test_numpy_equality.py</a:t>
            </a:r>
            <a:endParaRPr lang="en-GB" b="0" dirty="0">
              <a:solidFill>
                <a:srgbClr val="ABB2BF"/>
              </a:solidFill>
              <a:effectLst/>
              <a:latin typeface="Menlo" panose="020B0609030804020204" pitchFamily="49" charset="0"/>
            </a:endParaRP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 failure shape: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err="1">
                <a:solidFill>
                  <a:srgbClr val="ABB2BF"/>
                </a:solidFill>
                <a:effectLst/>
                <a:latin typeface="Menlo" panose="020B0609030804020204" pitchFamily="49" charset="0"/>
              </a:rPr>
              <a:t>ValueError</a:t>
            </a:r>
            <a:r>
              <a:rPr lang="en-GB" b="0" dirty="0">
                <a:solidFill>
                  <a:srgbClr val="ABB2BF"/>
                </a:solidFill>
                <a:effectLst/>
                <a:latin typeface="Menlo" panose="020B0609030804020204" pitchFamily="49" charset="0"/>
              </a:rPr>
              <a:t>: The truth value of an array with more than one element is ambiguous.</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Mini experiment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61AFEF"/>
                </a:solidFill>
                <a:effectLst/>
                <a:latin typeface="Menlo" panose="020B0609030804020204" pitchFamily="49" charset="0"/>
              </a:rPr>
              <a:t>python</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numpy</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as</a:t>
            </a:r>
            <a:r>
              <a:rPr lang="en-GB" b="0" dirty="0">
                <a:solidFill>
                  <a:srgbClr val="ABB2BF"/>
                </a:solidFill>
                <a:effectLst/>
                <a:latin typeface="Menlo" panose="020B0609030804020204" pitchFamily="49" charset="0"/>
              </a:rPr>
              <a:t> np</a:t>
            </a:r>
          </a:p>
          <a:p>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y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z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y</a:t>
            </a:r>
          </a:p>
          <a:p>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y)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z</a:t>
            </a:r>
          </a:p>
          <a:p>
            <a:r>
              <a:rPr lang="en-GB" b="0" dirty="0">
                <a:solidFill>
                  <a:srgbClr val="56B6C2"/>
                </a:solidFill>
                <a:effectLst/>
                <a:latin typeface="Menlo" panose="020B0609030804020204" pitchFamily="49" charset="0"/>
              </a:rPr>
              <a:t>bool</a:t>
            </a:r>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y)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z)</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ABB2BF"/>
                </a:solidFill>
                <a:effectLst/>
                <a:latin typeface="Menlo" panose="020B0609030804020204" pitchFamily="49" charset="0"/>
              </a:rPr>
              <a:t>array([</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array([ </a:t>
            </a:r>
            <a:r>
              <a:rPr lang="en-GB" b="0" dirty="0">
                <a:solidFill>
                  <a:srgbClr val="D19A66"/>
                </a:solidFill>
                <a:effectLst/>
                <a:latin typeface="Menlo" panose="020B0609030804020204" pitchFamily="49" charset="0"/>
              </a:rPr>
              <a:t>True</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True</a:t>
            </a:r>
            <a:r>
              <a:rPr lang="en-GB" b="0" dirty="0">
                <a:solidFill>
                  <a:srgbClr val="ABB2BF"/>
                </a:solidFill>
                <a:effectLst/>
                <a:latin typeface="Menlo" panose="020B0609030804020204" pitchFamily="49" charset="0"/>
              </a:rPr>
              <a:t>])</a:t>
            </a:r>
          </a:p>
          <a:p>
            <a:r>
              <a:rPr lang="en-GB" b="0" dirty="0" err="1">
                <a:solidFill>
                  <a:srgbClr val="56B6C2"/>
                </a:solidFill>
                <a:effectLst/>
                <a:latin typeface="Menlo" panose="020B0609030804020204" pitchFamily="49" charset="0"/>
              </a:rPr>
              <a:t>ValueError</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Exit: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56B6C2"/>
                </a:solidFill>
                <a:effectLst/>
                <a:latin typeface="Menlo" panose="020B0609030804020204" pitchFamily="49" charset="0"/>
              </a:rPr>
              <a:t>exit</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Teaching point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For arrays, use array-aware assertions. Do not use plain `assert array1 == array2`.</a:t>
            </a:r>
            <a:endParaRPr lang="en-GB" b="0" dirty="0">
              <a:solidFill>
                <a:srgbClr val="ABB2BF"/>
              </a:solidFill>
              <a:effectLst/>
              <a:latin typeface="Menlo" panose="020B0609030804020204" pitchFamily="49" charset="0"/>
            </a:endParaRPr>
          </a:p>
          <a:p>
            <a:endParaRPr lang="de-DE" dirty="0"/>
          </a:p>
        </p:txBody>
      </p:sp>
    </p:spTree>
    <p:extLst>
      <p:ext uri="{BB962C8B-B14F-4D97-AF65-F5344CB8AC3E}">
        <p14:creationId xmlns:p14="http://schemas.microsoft.com/office/powerpoint/2010/main" val="3492134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Shape 377"/>
          <p:cNvSpPr>
            <a:spLocks noGrp="1" noRot="1" noChangeAspect="1"/>
          </p:cNvSpPr>
          <p:nvPr>
            <p:ph type="sldImg"/>
          </p:nvPr>
        </p:nvSpPr>
        <p:spPr>
          <a:xfrm>
            <a:off x="381000" y="685800"/>
            <a:ext cx="6096000" cy="3429000"/>
          </a:xfrm>
          <a:prstGeom prst="rect">
            <a:avLst/>
          </a:prstGeom>
        </p:spPr>
        <p:txBody>
          <a:bodyPr/>
          <a:lstStyle/>
          <a:p>
            <a:endParaRPr/>
          </a:p>
        </p:txBody>
      </p:sp>
      <p:sp>
        <p:nvSpPr>
          <p:cNvPr id="378" name="Shape 378"/>
          <p:cNvSpPr>
            <a:spLocks noGrp="1"/>
          </p:cNvSpPr>
          <p:nvPr>
            <p:ph type="body" sz="quarter" idx="1"/>
          </p:nvPr>
        </p:nvSpPr>
        <p:spPr>
          <a:prstGeom prst="rect">
            <a:avLst/>
          </a:prstGeom>
        </p:spPr>
        <p:txBody>
          <a:bodyPr/>
          <a:lstStyle/>
          <a:p>
            <a:r>
              <a:rPr dirty="0"/>
              <a:t>The intention was to test for equality element-by-element</a:t>
            </a:r>
            <a:endParaRPr lang="de-DE" dirty="0"/>
          </a:p>
          <a:p>
            <a:endParaRPr lang="en-DE" dirty="0"/>
          </a:p>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Use `</a:t>
            </a:r>
            <a:r>
              <a:rPr lang="en-GB" b="0" dirty="0" err="1">
                <a:solidFill>
                  <a:srgbClr val="ABB2BF"/>
                </a:solidFill>
                <a:effectLst/>
                <a:latin typeface="Menlo" panose="020B0609030804020204" pitchFamily="49" charset="0"/>
              </a:rPr>
              <a:t>numpy.testing</a:t>
            </a:r>
            <a:r>
              <a:rPr lang="en-GB" b="0" dirty="0">
                <a:solidFill>
                  <a:srgbClr val="ABB2BF"/>
                </a:solidFill>
                <a:effectLst/>
                <a:latin typeface="Menlo" panose="020B0609030804020204" pitchFamily="49" charset="0"/>
              </a:rPr>
              <a:t>` helpers for array comparisons.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Exact comparison: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from</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numpy.testing</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assert_equal</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Approximate floating-point comparison: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from</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numpy.testing</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assert_allclose</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Edit `</a:t>
            </a:r>
            <a:r>
              <a:rPr lang="en-GB" b="0" dirty="0" err="1">
                <a:solidFill>
                  <a:srgbClr val="E06C75"/>
                </a:solidFill>
                <a:effectLst/>
                <a:latin typeface="Menlo" panose="020B0609030804020204" pitchFamily="49" charset="0"/>
              </a:rPr>
              <a:t>test_numpy_equality.py</a:t>
            </a:r>
            <a:r>
              <a:rPr lang="en-GB" b="0" dirty="0">
                <a:solidFill>
                  <a:srgbClr val="E06C75"/>
                </a:solidFill>
                <a:effectLst/>
                <a:latin typeface="Menlo" panose="020B0609030804020204" pitchFamily="49" charset="0"/>
              </a:rPr>
              <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top:</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from</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numpy.testing</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assert_equal</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assert_allclose</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Replace exact integer-array assertions:</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err="1">
                <a:solidFill>
                  <a:srgbClr val="ABB2BF"/>
                </a:solidFill>
                <a:effectLst/>
                <a:latin typeface="Menlo" panose="020B0609030804020204" pitchFamily="49" charset="0"/>
              </a:rPr>
              <a:t>assert_equal</a:t>
            </a:r>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y, z)</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Do not write: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assert_equal</a:t>
            </a:r>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y, z)</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because these helper functions raise `</a:t>
            </a:r>
            <a:r>
              <a:rPr lang="en-GB" b="0" dirty="0" err="1">
                <a:solidFill>
                  <a:srgbClr val="ABB2BF"/>
                </a:solidFill>
                <a:effectLst/>
                <a:latin typeface="Menlo" panose="020B0609030804020204" pitchFamily="49" charset="0"/>
              </a:rPr>
              <a:t>AssertionError</a:t>
            </a:r>
            <a:r>
              <a:rPr lang="en-GB" b="0" dirty="0">
                <a:solidFill>
                  <a:srgbClr val="ABB2BF"/>
                </a:solidFill>
                <a:effectLst/>
                <a:latin typeface="Menlo" panose="020B0609030804020204" pitchFamily="49" charset="0"/>
              </a:rPr>
              <a:t>` themselves.</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NumPy provides test helpers that understand arrays. They check shape and element-wise values, then report useful differences when something fails.</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endParaRPr lang="en-GB" b="0" dirty="0">
              <a:solidFill>
                <a:srgbClr val="ABB2BF"/>
              </a:solidFill>
              <a:effectLst/>
              <a:latin typeface="Menlo" panose="020B0609030804020204" pitchFamily="49" charset="0"/>
            </a:endParaRPr>
          </a:p>
          <a:p>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Shape 385"/>
          <p:cNvSpPr>
            <a:spLocks noGrp="1" noRot="1" noChangeAspect="1"/>
          </p:cNvSpPr>
          <p:nvPr>
            <p:ph type="sldImg"/>
          </p:nvPr>
        </p:nvSpPr>
        <p:spPr>
          <a:xfrm>
            <a:off x="381000" y="685800"/>
            <a:ext cx="6096000" cy="3429000"/>
          </a:xfrm>
          <a:prstGeom prst="rect">
            <a:avLst/>
          </a:prstGeom>
        </p:spPr>
        <p:txBody>
          <a:bodyPr/>
          <a:lstStyle/>
          <a:p>
            <a:endParaRPr/>
          </a:p>
        </p:txBody>
      </p:sp>
      <p:sp>
        <p:nvSpPr>
          <p:cNvPr id="386" name="Shape 386"/>
          <p:cNvSpPr>
            <a:spLocks noGrp="1"/>
          </p:cNvSpPr>
          <p:nvPr>
            <p:ph type="body" sz="quarter" idx="1"/>
          </p:nvPr>
        </p:nvSpPr>
        <p:spPr>
          <a:prstGeom prst="rect">
            <a:avLst/>
          </a:prstGeom>
        </p:spPr>
        <p:txBody>
          <a:bodyPr/>
          <a:lstStyle/>
          <a:p>
            <a:pPr marL="228600" indent="-228600">
              <a:buSzPct val="100000"/>
              <a:buAutoNum type="arabicParenR"/>
            </a:pPr>
            <a:r>
              <a:rPr lang="en-US" dirty="0"/>
              <a:t>To get the element-by-element check we want, we need to be more specific</a:t>
            </a:r>
          </a:p>
          <a:p>
            <a:pPr marL="228600" indent="-228600">
              <a:buSzPct val="100000"/>
              <a:buAutoNum type="arabicParenR"/>
            </a:pPr>
            <a:endParaRPr lang="en-US" dirty="0"/>
          </a:p>
          <a:p>
            <a:pPr marL="0" indent="0">
              <a:buSzPct val="100000"/>
              <a:buNone/>
            </a:pPr>
            <a:r>
              <a:rPr lang="en-US" dirty="0"/>
              <a:t>DEMO that </a:t>
            </a:r>
            <a:r>
              <a:rPr lang="en-US" dirty="0" err="1"/>
              <a:t>assert_equal</a:t>
            </a:r>
            <a:r>
              <a:rPr lang="en-US" dirty="0"/>
              <a:t> works here as well</a:t>
            </a:r>
          </a:p>
          <a:p>
            <a:pPr marL="228600" indent="-228600">
              <a:buSzPct val="100000"/>
              <a:buAutoNum type="arabicParenR"/>
            </a:pPr>
            <a:endParaRPr lang="en-US" dirty="0"/>
          </a:p>
          <a:p>
            <a:pPr marL="228600" indent="-228600">
              <a:buSzPct val="100000"/>
              <a:buAutoNum type="arabicParenR"/>
            </a:pPr>
            <a:endParaRPr dirty="0"/>
          </a:p>
          <a:p>
            <a:pPr marL="228600" indent="-228600">
              <a:buSzPct val="100000"/>
              <a:buAutoNum type="arabicParenR"/>
            </a:pPr>
            <a:r>
              <a:rPr dirty="0"/>
              <a:t>If you need to check more complex conditions</a:t>
            </a:r>
            <a:r>
              <a:rPr lang="en-US" dirty="0"/>
              <a:t>, you can combine stuff</a:t>
            </a:r>
          </a:p>
          <a:p>
            <a:pPr marL="0" indent="0">
              <a:buSzPct val="100000"/>
              <a:buNone/>
            </a:pPr>
            <a:r>
              <a:rPr lang="en-US" dirty="0"/>
              <a:t>Just to show you all and any</a:t>
            </a:r>
          </a:p>
          <a:p>
            <a:pPr marL="0" indent="0">
              <a:buSzPct val="100000"/>
              <a:buNone/>
            </a:pPr>
            <a:endParaRPr lang="en-US" dirty="0"/>
          </a:p>
          <a:p>
            <a:pPr marL="0" indent="0">
              <a:buSzPct val="100000"/>
              <a:buNone/>
            </a:pPr>
            <a:r>
              <a:rPr lang="en-US" dirty="0"/>
              <a:t>DEMO python in terminal</a:t>
            </a:r>
          </a:p>
          <a:p>
            <a:pPr marL="0" indent="0">
              <a:buSzPct val="100000"/>
              <a:buNone/>
            </a:pPr>
            <a:r>
              <a:rPr lang="en-US" dirty="0"/>
              <a:t>import </a:t>
            </a:r>
            <a:r>
              <a:rPr lang="en-US" dirty="0" err="1"/>
              <a:t>numpy</a:t>
            </a:r>
            <a:r>
              <a:rPr lang="en-US" dirty="0"/>
              <a:t> as np</a:t>
            </a:r>
          </a:p>
          <a:p>
            <a:pPr marL="0" indent="0">
              <a:buSzPct val="100000"/>
              <a:buNone/>
            </a:pPr>
            <a:r>
              <a:rPr lang="en-US" dirty="0"/>
              <a:t>a = </a:t>
            </a:r>
            <a:r>
              <a:rPr lang="en-US" dirty="0" err="1"/>
              <a:t>np.array</a:t>
            </a:r>
            <a:r>
              <a:rPr lang="en-US" dirty="0"/>
              <a:t>([1, 2, 3])</a:t>
            </a:r>
          </a:p>
          <a:p>
            <a:pPr marL="0" indent="0">
              <a:buSzPct val="100000"/>
              <a:buNone/>
            </a:pPr>
            <a:r>
              <a:rPr lang="en-US" dirty="0"/>
              <a:t>assert </a:t>
            </a:r>
            <a:r>
              <a:rPr lang="en-US" dirty="0" err="1"/>
              <a:t>np.all</a:t>
            </a:r>
            <a:r>
              <a:rPr lang="en-US" dirty="0"/>
              <a:t>(a &gt; 1)</a:t>
            </a:r>
          </a:p>
          <a:p>
            <a:pPr marL="0" indent="0">
              <a:buSzPct val="100000"/>
              <a:buNone/>
            </a:pPr>
            <a:r>
              <a:rPr lang="en-US" dirty="0"/>
              <a:t>assert </a:t>
            </a:r>
            <a:r>
              <a:rPr lang="en-US" dirty="0" err="1"/>
              <a:t>np.all</a:t>
            </a:r>
            <a:r>
              <a:rPr lang="en-US" dirty="0"/>
              <a:t>(a &gt;= 1)</a:t>
            </a:r>
          </a:p>
          <a:p>
            <a:pPr marL="0" indent="0">
              <a:buSzPct val="100000"/>
              <a:buNone/>
            </a:pPr>
            <a:r>
              <a:rPr lang="en-US" dirty="0"/>
              <a:t>assert </a:t>
            </a:r>
            <a:r>
              <a:rPr lang="en-US" dirty="0" err="1"/>
              <a:t>np.any</a:t>
            </a:r>
            <a:r>
              <a:rPr lang="en-US" dirty="0"/>
              <a:t>(a &gt; 1)</a:t>
            </a:r>
          </a:p>
          <a:p>
            <a:pPr marL="0" indent="0">
              <a:buSzPct val="100000"/>
              <a:buNone/>
            </a:pPr>
            <a:r>
              <a:rPr lang="en-US" dirty="0"/>
              <a:t>a &gt; 1</a:t>
            </a:r>
          </a:p>
          <a:p>
            <a:pPr marL="0" indent="0">
              <a:buSzPct val="100000"/>
              <a:buNone/>
            </a:pPr>
            <a:r>
              <a:rPr lang="en-US" dirty="0"/>
              <a:t>a &gt;= 1</a:t>
            </a:r>
          </a:p>
          <a:p>
            <a:pPr marL="0" indent="0">
              <a:buSzPct val="100000"/>
              <a:buNone/>
            </a:pPr>
            <a:endParaRPr lang="en-US" dirty="0"/>
          </a:p>
          <a:p>
            <a:pPr marL="0" indent="0">
              <a:buSzPct val="100000"/>
              <a:buNone/>
            </a:pPr>
            <a:endParaRPr dirty="0"/>
          </a:p>
          <a:p>
            <a:pPr lvl="1" indent="0">
              <a:defRPr sz="1800">
                <a:latin typeface="Courier New"/>
                <a:ea typeface="Courier New"/>
                <a:cs typeface="Courier New"/>
                <a:sym typeface="Courier New"/>
              </a:defRPr>
            </a:pPr>
            <a:endParaRPr dirty="0"/>
          </a:p>
          <a:p>
            <a:pPr lvl="1" indent="0">
              <a:spcBef>
                <a:spcPts val="600"/>
              </a:spcBef>
              <a:defRPr sz="1800">
                <a:latin typeface="Courier New"/>
                <a:ea typeface="Courier New"/>
                <a:cs typeface="Courier New"/>
                <a:sym typeface="Courier New"/>
              </a:defRPr>
            </a:pPr>
            <a:r>
              <a:rPr dirty="0" err="1"/>
              <a:t>allclose</a:t>
            </a:r>
            <a:r>
              <a:rPr dirty="0"/>
              <a:t>:</a:t>
            </a:r>
          </a:p>
          <a:p>
            <a:pPr lvl="1" indent="457200">
              <a:spcBef>
                <a:spcPts val="600"/>
              </a:spcBef>
              <a:defRPr sz="1800"/>
            </a:pPr>
            <a:r>
              <a:rPr dirty="0"/>
              <a:t>The tolerance values are positive, typically very small numbers.  The</a:t>
            </a:r>
          </a:p>
          <a:p>
            <a:pPr lvl="1" indent="457200">
              <a:spcBef>
                <a:spcPts val="600"/>
              </a:spcBef>
              <a:defRPr sz="1800"/>
            </a:pPr>
            <a:r>
              <a:rPr dirty="0"/>
              <a:t>relative difference (`</a:t>
            </a:r>
            <a:r>
              <a:rPr dirty="0" err="1"/>
              <a:t>rtol</a:t>
            </a:r>
            <a:r>
              <a:rPr dirty="0"/>
              <a:t>` * abs(`b`)) and the absolute difference</a:t>
            </a:r>
          </a:p>
          <a:p>
            <a:pPr lvl="1" indent="457200">
              <a:spcBef>
                <a:spcPts val="600"/>
              </a:spcBef>
              <a:defRPr sz="1800"/>
            </a:pPr>
            <a:r>
              <a:rPr dirty="0"/>
              <a:t>`</a:t>
            </a:r>
            <a:r>
              <a:rPr dirty="0" err="1"/>
              <a:t>atol</a:t>
            </a:r>
            <a:r>
              <a:rPr dirty="0"/>
              <a:t>` are added together to compare against the absolute difference</a:t>
            </a:r>
          </a:p>
          <a:p>
            <a:pPr lvl="1" indent="457200">
              <a:spcBef>
                <a:spcPts val="600"/>
              </a:spcBef>
              <a:defRPr sz="1800"/>
            </a:pPr>
            <a:r>
              <a:rPr dirty="0"/>
              <a:t>between `a` and `b`.</a:t>
            </a:r>
            <a:endParaRPr lang="de-DE" dirty="0"/>
          </a:p>
          <a:p>
            <a:pPr lvl="1" indent="457200">
              <a:spcBef>
                <a:spcPts val="600"/>
              </a:spcBef>
              <a:defRPr sz="1800"/>
            </a:pPr>
            <a:endParaRPr lang="en-DE" dirty="0"/>
          </a:p>
          <a:p>
            <a:pPr lvl="1" indent="457200">
              <a:spcBef>
                <a:spcPts val="600"/>
              </a:spcBef>
              <a:defRPr sz="1800"/>
            </a:pPr>
            <a:endParaRPr lang="en-DE" dirty="0"/>
          </a:p>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Scalar floating-point values need approximate equality; NumPy floating-point arrays need approximate array equality.</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Add or fix a test: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test_allclose</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2.2</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y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2.2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3.3</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z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3.3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5.5</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err="1">
                <a:solidFill>
                  <a:srgbClr val="ABB2BF"/>
                </a:solidFill>
                <a:effectLst/>
                <a:latin typeface="Menlo" panose="020B0609030804020204" pitchFamily="49" charset="0"/>
              </a:rPr>
              <a:t>assert_allclose</a:t>
            </a:r>
            <a:r>
              <a:rPr lang="en-GB" b="0" dirty="0">
                <a:solidFill>
                  <a:srgbClr val="ABB2BF"/>
                </a:solidFill>
                <a:effectLst/>
                <a:latin typeface="Menlo" panose="020B0609030804020204" pitchFamily="49" charset="0"/>
              </a:rPr>
              <a:t>(x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y, z)</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a:t>
            </a:r>
            <a:r>
              <a:rPr lang="en-GB" b="0" i="1" dirty="0" err="1">
                <a:solidFill>
                  <a:srgbClr val="5C6370"/>
                </a:solidFill>
                <a:effectLst/>
                <a:latin typeface="Menlo" panose="020B0609030804020204" pitchFamily="49" charset="0"/>
              </a:rPr>
              <a:t>assert_allclose</a:t>
            </a:r>
            <a:r>
              <a:rPr lang="en-GB" b="0" i="1" dirty="0">
                <a:solidFill>
                  <a:srgbClr val="5C6370"/>
                </a:solidFill>
                <a:effectLst/>
                <a:latin typeface="Menlo" panose="020B0609030804020204" pitchFamily="49" charset="0"/>
              </a:rPr>
              <a:t>` also has tolerances, similar in spirit to `</a:t>
            </a:r>
            <a:r>
              <a:rPr lang="en-GB" b="0" i="1" dirty="0" err="1">
                <a:solidFill>
                  <a:srgbClr val="5C6370"/>
                </a:solidFill>
                <a:effectLst/>
                <a:latin typeface="Menlo" panose="020B0609030804020204" pitchFamily="49" charset="0"/>
              </a:rPr>
              <a:t>isclose</a:t>
            </a:r>
            <a:r>
              <a:rPr lang="en-GB" b="0" i="1" dirty="0">
                <a:solidFill>
                  <a:srgbClr val="5C6370"/>
                </a:solidFill>
                <a:effectLst/>
                <a:latin typeface="Menlo" panose="020B0609030804020204" pitchFamily="49" charset="0"/>
              </a:rPr>
              <a:t>`. We can pass `</a:t>
            </a:r>
            <a:r>
              <a:rPr lang="en-GB" b="0" i="1" dirty="0" err="1">
                <a:solidFill>
                  <a:srgbClr val="5C6370"/>
                </a:solidFill>
                <a:effectLst/>
                <a:latin typeface="Menlo" panose="020B0609030804020204" pitchFamily="49" charset="0"/>
              </a:rPr>
              <a:t>rtol</a:t>
            </a:r>
            <a:r>
              <a:rPr lang="en-GB" b="0" i="1" dirty="0">
                <a:solidFill>
                  <a:srgbClr val="5C6370"/>
                </a:solidFill>
                <a:effectLst/>
                <a:latin typeface="Menlo" panose="020B0609030804020204" pitchFamily="49" charset="0"/>
              </a:rPr>
              <a:t>` and `</a:t>
            </a:r>
            <a:r>
              <a:rPr lang="en-GB" b="0" i="1" dirty="0" err="1">
                <a:solidFill>
                  <a:srgbClr val="5C6370"/>
                </a:solidFill>
                <a:effectLst/>
                <a:latin typeface="Menlo" panose="020B0609030804020204" pitchFamily="49" charset="0"/>
              </a:rPr>
              <a:t>atol</a:t>
            </a:r>
            <a:r>
              <a:rPr lang="en-GB" b="0" i="1" dirty="0">
                <a:solidFill>
                  <a:srgbClr val="5C6370"/>
                </a:solidFill>
                <a:effectLst/>
                <a:latin typeface="Menlo" panose="020B0609030804020204" pitchFamily="49" charset="0"/>
              </a:rPr>
              <a:t>` when the default is not appropriate.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Example: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err="1">
                <a:solidFill>
                  <a:srgbClr val="ABB2BF"/>
                </a:solidFill>
                <a:effectLst/>
                <a:latin typeface="Menlo" panose="020B0609030804020204" pitchFamily="49" charset="0"/>
              </a:rPr>
              <a:t>assert_allclose</a:t>
            </a:r>
            <a:r>
              <a:rPr lang="en-GB" b="0" dirty="0">
                <a:solidFill>
                  <a:srgbClr val="ABB2BF"/>
                </a:solidFill>
                <a:effectLst/>
                <a:latin typeface="Menlo" panose="020B0609030804020204" pitchFamily="49" charset="0"/>
              </a:rPr>
              <a:t>(actual, expected, </a:t>
            </a:r>
            <a:r>
              <a:rPr lang="en-GB" b="0" dirty="0" err="1">
                <a:solidFill>
                  <a:srgbClr val="ABB2BF"/>
                </a:solidFill>
                <a:effectLst/>
                <a:latin typeface="Menlo" panose="020B0609030804020204" pitchFamily="49" charset="0"/>
              </a:rPr>
              <a:t>rtol</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1e-7</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atol</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1e-12</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endParaRPr lang="en-GB" b="0" dirty="0">
              <a:solidFill>
                <a:srgbClr val="ABB2BF"/>
              </a:solidFill>
              <a:effectLst/>
              <a:latin typeface="Menlo" panose="020B0609030804020204" pitchFamily="49" charset="0"/>
            </a:endParaRPr>
          </a:p>
          <a:p>
            <a:pPr lvl="1" indent="457200">
              <a:spcBef>
                <a:spcPts val="600"/>
              </a:spcBef>
              <a:defRPr sz="1800"/>
            </a:pPr>
            <a:endParaRPr lang="en-DE"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NaN</a:t>
            </a:r>
            <a:r>
              <a:rPr lang="en-GB" b="0" dirty="0">
                <a:solidFill>
                  <a:srgbClr val="ABB2BF"/>
                </a:solidFill>
                <a:effectLst/>
                <a:latin typeface="Menlo" panose="020B0609030804020204" pitchFamily="49" charset="0"/>
              </a:rPr>
              <a:t>` is not equal to itself under normal equality, but NumPy testing helpers can treat matching </a:t>
            </a:r>
            <a:r>
              <a:rPr lang="en-GB" b="0" dirty="0" err="1">
                <a:solidFill>
                  <a:srgbClr val="ABB2BF"/>
                </a:solidFill>
                <a:effectLst/>
                <a:latin typeface="Menlo" panose="020B0609030804020204" pitchFamily="49" charset="0"/>
              </a:rPr>
              <a:t>NaNs</a:t>
            </a:r>
            <a:r>
              <a:rPr lang="en-GB" b="0" dirty="0">
                <a:solidFill>
                  <a:srgbClr val="ABB2BF"/>
                </a:solidFill>
                <a:effectLst/>
                <a:latin typeface="Menlo" panose="020B0609030804020204" pitchFamily="49" charset="0"/>
              </a:rPr>
              <a:t> as acceptable.</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In scientific data, `</a:t>
            </a:r>
            <a:r>
              <a:rPr lang="en-GB" b="0" i="1" dirty="0" err="1">
                <a:solidFill>
                  <a:srgbClr val="5C6370"/>
                </a:solidFill>
                <a:effectLst/>
                <a:latin typeface="Menlo" panose="020B0609030804020204" pitchFamily="49" charset="0"/>
              </a:rPr>
              <a:t>NaN</a:t>
            </a:r>
            <a:r>
              <a:rPr lang="en-GB" b="0" i="1" dirty="0">
                <a:solidFill>
                  <a:srgbClr val="5C6370"/>
                </a:solidFill>
                <a:effectLst/>
                <a:latin typeface="Menlo" panose="020B0609030804020204" pitchFamily="49" charset="0"/>
              </a:rPr>
              <a:t>` often means missing, invalid, or undefined value. This creates another equality trap.</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Experiment: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61AFEF"/>
                </a:solidFill>
                <a:effectLst/>
                <a:latin typeface="Menlo" panose="020B0609030804020204" pitchFamily="49" charset="0"/>
              </a:rPr>
              <a:t>python</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numpy</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as</a:t>
            </a:r>
            <a:r>
              <a:rPr lang="en-GB" b="0" dirty="0">
                <a:solidFill>
                  <a:srgbClr val="ABB2BF"/>
                </a:solidFill>
                <a:effectLst/>
                <a:latin typeface="Menlo" panose="020B0609030804020204" pitchFamily="49" charset="0"/>
              </a:rPr>
              <a:t> np</a:t>
            </a:r>
          </a:p>
          <a:p>
            <a:r>
              <a:rPr lang="en-GB" b="0" dirty="0">
                <a:solidFill>
                  <a:srgbClr val="C678DD"/>
                </a:solidFill>
                <a:effectLst/>
                <a:latin typeface="Menlo" panose="020B0609030804020204" pitchFamily="49" charset="0"/>
              </a:rPr>
              <a:t>from</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numpy.testing</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assert_equal</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assert_allclose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err="1">
                <a:solidFill>
                  <a:srgbClr val="ABB2BF"/>
                </a:solidFill>
                <a:effectLst/>
                <a:latin typeface="Menlo" panose="020B0609030804020204" pitchFamily="49" charset="0"/>
              </a:rPr>
              <a:t>np.nan</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np.nan</a:t>
            </a:r>
            <a:endParaRPr lang="en-GB" b="0" dirty="0">
              <a:solidFill>
                <a:srgbClr val="ABB2BF"/>
              </a:solidFill>
              <a:effectLst/>
              <a:latin typeface="Menlo" panose="020B0609030804020204" pitchFamily="49" charset="0"/>
            </a:endParaRPr>
          </a:p>
          <a:p>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np.nan</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np.nan</a:t>
            </a:r>
            <a:r>
              <a:rPr lang="en-GB" b="0" dirty="0">
                <a:solidFill>
                  <a:srgbClr val="ABB2BF"/>
                </a:solidFill>
                <a:effectLst/>
                <a:latin typeface="Menlo" panose="020B0609030804020204" pitchFamily="49" charset="0"/>
              </a:rPr>
              <a:t>])</a:t>
            </a:r>
          </a:p>
          <a:p>
            <a:r>
              <a:rPr lang="en-GB" b="0" dirty="0" err="1">
                <a:solidFill>
                  <a:srgbClr val="ABB2BF"/>
                </a:solidFill>
                <a:effectLst/>
                <a:latin typeface="Menlo" panose="020B0609030804020204" pitchFamily="49" charset="0"/>
              </a:rPr>
              <a:t>assert_equal</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np.nan</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np.nan</a:t>
            </a:r>
            <a:r>
              <a:rPr lang="en-GB" b="0" dirty="0">
                <a:solidFill>
                  <a:srgbClr val="ABB2BF"/>
                </a:solidFill>
                <a:effectLst/>
                <a:latin typeface="Menlo" panose="020B0609030804020204" pitchFamily="49" charset="0"/>
              </a:rPr>
              <a:t>]))</a:t>
            </a:r>
          </a:p>
          <a:p>
            <a:r>
              <a:rPr lang="en-GB" b="0" dirty="0" err="1">
                <a:solidFill>
                  <a:srgbClr val="ABB2BF"/>
                </a:solidFill>
                <a:effectLst/>
                <a:latin typeface="Menlo" panose="020B0609030804020204" pitchFamily="49" charset="0"/>
              </a:rPr>
              <a:t>assert_allclose</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np.nan</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np.array</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1.1</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np.nan</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Expected visible output: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D19A66"/>
                </a:solidFill>
                <a:effectLst/>
                <a:latin typeface="Menlo" panose="020B0609030804020204" pitchFamily="49" charset="0"/>
              </a:rPr>
              <a:t>False</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array([</a:t>
            </a:r>
            <a:r>
              <a:rPr lang="en-GB" b="0" dirty="0">
                <a:solidFill>
                  <a:srgbClr val="D19A66"/>
                </a:solidFill>
                <a:effectLst/>
                <a:latin typeface="Menlo" panose="020B0609030804020204" pitchFamily="49" charset="0"/>
              </a:rPr>
              <a:t>False</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 assertion helper calls should produce no output.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Exit: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56B6C2"/>
                </a:solidFill>
                <a:effectLst/>
                <a:latin typeface="Menlo" panose="020B0609030804020204" pitchFamily="49" charset="0"/>
              </a:rPr>
              <a:t>exit</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Key point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Matching </a:t>
            </a:r>
            <a:r>
              <a:rPr lang="en-GB" b="0" i="1" dirty="0" err="1">
                <a:solidFill>
                  <a:srgbClr val="5C6370"/>
                </a:solidFill>
                <a:effectLst/>
                <a:latin typeface="Menlo" panose="020B0609030804020204" pitchFamily="49" charset="0"/>
              </a:rPr>
              <a:t>NaNs</a:t>
            </a:r>
            <a:r>
              <a:rPr lang="en-GB" b="0" i="1" dirty="0">
                <a:solidFill>
                  <a:srgbClr val="5C6370"/>
                </a:solidFill>
                <a:effectLst/>
                <a:latin typeface="Menlo" panose="020B0609030804020204" pitchFamily="49" charset="0"/>
              </a:rPr>
              <a:t> are often acceptable in tests because they mean the missing or undefined value appears in the expected location. But this is a policy decision.</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If you want to require no </a:t>
            </a:r>
            <a:r>
              <a:rPr lang="en-GB" b="0" dirty="0" err="1">
                <a:solidFill>
                  <a:srgbClr val="ABB2BF"/>
                </a:solidFill>
                <a:effectLst/>
                <a:latin typeface="Menlo" panose="020B0609030804020204" pitchFamily="49" charset="0"/>
              </a:rPr>
              <a:t>NaNs</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not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np.isnan</a:t>
            </a:r>
            <a:r>
              <a:rPr lang="en-GB" b="0" dirty="0">
                <a:solidFill>
                  <a:srgbClr val="ABB2BF"/>
                </a:solidFill>
                <a:effectLst/>
                <a:latin typeface="Menlo" panose="020B0609030804020204" pitchFamily="49" charset="0"/>
              </a:rPr>
              <a:t>(result).any()</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endParaRPr lang="en-GB" b="0" dirty="0">
              <a:solidFill>
                <a:srgbClr val="ABB2BF"/>
              </a:solidFill>
              <a:effectLst/>
              <a:latin typeface="Menlo" panose="020B0609030804020204" pitchFamily="49" charset="0"/>
            </a:endParaRPr>
          </a:p>
          <a:p>
            <a:endParaRPr lang="de-DE" dirty="0"/>
          </a:p>
        </p:txBody>
      </p:sp>
    </p:spTree>
    <p:extLst>
      <p:ext uri="{BB962C8B-B14F-4D97-AF65-F5344CB8AC3E}">
        <p14:creationId xmlns:p14="http://schemas.microsoft.com/office/powerpoint/2010/main" val="13548026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dirty="0">
                <a:solidFill>
                  <a:srgbClr val="E06C75"/>
                </a:solidFill>
                <a:effectLst/>
                <a:latin typeface="Menlo" panose="020B0609030804020204" pitchFamily="49" charset="0"/>
              </a:rPr>
              <a:t>## Point of the slide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A real code change should include both implementation and tests.</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Terminal</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From `</a:t>
            </a:r>
            <a:r>
              <a:rPr lang="en-GB" b="0" dirty="0" err="1">
                <a:solidFill>
                  <a:srgbClr val="ABB2BF"/>
                </a:solidFill>
                <a:effectLst/>
                <a:latin typeface="Menlo" panose="020B0609030804020204" pitchFamily="49" charset="0"/>
              </a:rPr>
              <a:t>hands_on</a:t>
            </a:r>
            <a:r>
              <a:rPr lang="en-GB" b="0" dirty="0">
                <a:solidFill>
                  <a:srgbClr val="ABB2BF"/>
                </a:solidFill>
                <a:effectLst/>
                <a:latin typeface="Menlo" panose="020B0609030804020204" pitchFamily="49" charset="0"/>
              </a:rPr>
              <a:t>/</a:t>
            </a:r>
            <a:r>
              <a:rPr lang="en-GB" b="0" dirty="0" err="1">
                <a:solidFill>
                  <a:srgbClr val="ABB2BF"/>
                </a:solidFill>
                <a:effectLst/>
                <a:latin typeface="Menlo" panose="020B0609030804020204" pitchFamily="49" charset="0"/>
              </a:rPr>
              <a:t>numpy_equality</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56B6C2"/>
                </a:solidFill>
                <a:effectLst/>
                <a:latin typeface="Menlo" panose="020B0609030804020204" pitchFamily="49" charset="0"/>
              </a:rPr>
              <a:t>cd</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a:t>
            </a:r>
            <a:r>
              <a:rPr lang="en-GB" b="0" dirty="0" err="1">
                <a:solidFill>
                  <a:srgbClr val="98C379"/>
                </a:solidFill>
                <a:effectLst/>
                <a:latin typeface="Menlo" panose="020B0609030804020204" pitchFamily="49" charset="0"/>
              </a:rPr>
              <a:t>local_maxima</a:t>
            </a:r>
            <a:endParaRPr lang="en-GB" b="0" dirty="0">
              <a:solidFill>
                <a:srgbClr val="ABB2BF"/>
              </a:solidFill>
              <a:effectLst/>
              <a:latin typeface="Menlo" panose="020B0609030804020204" pitchFamily="49" charset="0"/>
            </a:endParaRPr>
          </a:p>
          <a:p>
            <a:r>
              <a:rPr lang="en-GB" b="0" dirty="0" err="1">
                <a:solidFill>
                  <a:srgbClr val="56B6C2"/>
                </a:solidFill>
                <a:effectLst/>
                <a:latin typeface="Menlo" panose="020B0609030804020204" pitchFamily="49" charset="0"/>
              </a:rPr>
              <a:t>pwd</a:t>
            </a:r>
            <a:endParaRPr lang="en-GB" b="0" dirty="0">
              <a:solidFill>
                <a:srgbClr val="ABB2BF"/>
              </a:solidFill>
              <a:effectLst/>
              <a:latin typeface="Menlo" panose="020B0609030804020204" pitchFamily="49" charset="0"/>
            </a:endParaRPr>
          </a:p>
          <a:p>
            <a:r>
              <a:rPr lang="en-GB" b="0" dirty="0" err="1">
                <a:solidFill>
                  <a:srgbClr val="61AFEF"/>
                </a:solidFill>
                <a:effectLst/>
                <a:latin typeface="Menlo" panose="020B0609030804020204" pitchFamily="49" charset="0"/>
              </a:rPr>
              <a:t>sed</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-n</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'1,160p'</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local_maxima.py</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Create a branch:</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61AFEF"/>
                </a:solidFill>
                <a:effectLst/>
                <a:latin typeface="Menlo" panose="020B0609030804020204" pitchFamily="49" charset="0"/>
              </a:rPr>
              <a:t>git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status</a:t>
            </a:r>
            <a:endParaRPr lang="en-GB" b="0" dirty="0">
              <a:solidFill>
                <a:srgbClr val="ABB2BF"/>
              </a:solidFill>
              <a:effectLst/>
              <a:latin typeface="Menlo" panose="020B0609030804020204" pitchFamily="49" charset="0"/>
            </a:endParaRPr>
          </a:p>
          <a:p>
            <a:r>
              <a:rPr lang="en-GB" b="0" dirty="0">
                <a:solidFill>
                  <a:srgbClr val="61AFEF"/>
                </a:solidFill>
                <a:effectLst/>
                <a:latin typeface="Menlo" panose="020B0609030804020204" pitchFamily="49" charset="0"/>
              </a:rPr>
              <a:t>git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switch</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-c</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fix-local-maxima-tests</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Fallback for older Git: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61AFEF"/>
                </a:solidFill>
                <a:effectLst/>
                <a:latin typeface="Menlo" panose="020B0609030804020204" pitchFamily="49" charset="0"/>
              </a:rPr>
              <a:t>git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checkout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-b</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fix-local-maxima-tests</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Create `</a:t>
            </a:r>
            <a:r>
              <a:rPr lang="en-GB" b="0" dirty="0" err="1">
                <a:solidFill>
                  <a:srgbClr val="E06C75"/>
                </a:solidFill>
                <a:effectLst/>
                <a:latin typeface="Menlo" panose="020B0609030804020204" pitchFamily="49" charset="0"/>
              </a:rPr>
              <a:t>test_local_maxima.py</a:t>
            </a:r>
            <a:r>
              <a:rPr lang="en-GB" b="0" dirty="0">
                <a:solidFill>
                  <a:srgbClr val="E06C75"/>
                </a:solidFill>
                <a:effectLst/>
                <a:latin typeface="Menlo" panose="020B0609030804020204" pitchFamily="49" charset="0"/>
              </a:rPr>
              <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```python</a:t>
            </a:r>
          </a:p>
          <a:p>
            <a:r>
              <a:rPr lang="en-GB" b="0" dirty="0">
                <a:solidFill>
                  <a:srgbClr val="C678DD"/>
                </a:solidFill>
                <a:effectLst/>
                <a:latin typeface="Menlo" panose="020B0609030804020204" pitchFamily="49" charset="0"/>
              </a:rPr>
              <a:t>from</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local_maxima</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import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find_maxima</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test_find_maxima_simple_case</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0</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4</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test_find_maxima_boundaries</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4</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5</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0</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5</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test_find_maxima_empty_input</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p>
          <a:p>
            <a:br>
              <a:rPr lang="en-GB" b="0" dirty="0">
                <a:solidFill>
                  <a:srgbClr val="ABB2BF"/>
                </a:solidFill>
                <a:effectLst/>
                <a:latin typeface="Menlo" panose="020B0609030804020204" pitchFamily="49" charset="0"/>
              </a:rPr>
            </a:br>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test_find_maxima_plateau_returns_leftmost_index</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br>
              <a:rPr lang="en-GB" b="0" dirty="0">
                <a:solidFill>
                  <a:srgbClr val="ABB2BF"/>
                </a:solidFill>
                <a:effectLst/>
                <a:latin typeface="Menlo" panose="020B0609030804020204" pitchFamily="49" charset="0"/>
              </a:rPr>
            </a:br>
            <a:r>
              <a:rPr lang="en-GB" b="0" dirty="0">
                <a:solidFill>
                  <a:srgbClr val="C678DD"/>
                </a:solidFill>
                <a:effectLst/>
                <a:latin typeface="Menlo" panose="020B0609030804020204" pitchFamily="49" charset="0"/>
              </a:rPr>
              <a:t>def</a:t>
            </a:r>
            <a:r>
              <a:rPr lang="en-GB" b="0" dirty="0">
                <a:solidFill>
                  <a:srgbClr val="ABB2BF"/>
                </a:solidFill>
                <a:effectLst/>
                <a:latin typeface="Menlo" panose="020B0609030804020204" pitchFamily="49" charset="0"/>
              </a:rPr>
              <a:t> </a:t>
            </a:r>
            <a:r>
              <a:rPr lang="en-GB" b="0" dirty="0" err="1">
                <a:solidFill>
                  <a:srgbClr val="61AFEF"/>
                </a:solidFill>
                <a:effectLst/>
                <a:latin typeface="Menlo" panose="020B0609030804020204" pitchFamily="49" charset="0"/>
              </a:rPr>
              <a:t>test_find_maxima_plateau_before_higher_value_is_not_maximum</a:t>
            </a:r>
            <a:r>
              <a:rPr lang="en-GB" b="0" dirty="0">
                <a:solidFill>
                  <a:srgbClr val="ABB2BF"/>
                </a:solidFill>
                <a:effectLst/>
                <a:latin typeface="Menlo" panose="020B0609030804020204" pitchFamily="49" charset="0"/>
              </a:rPr>
              <a:t>():</a:t>
            </a:r>
          </a:p>
          <a:p>
            <a:r>
              <a:rPr lang="en-GB" b="0" dirty="0">
                <a:solidFill>
                  <a:srgbClr val="C678DD"/>
                </a:solidFill>
                <a:effectLst/>
                <a:latin typeface="Menlo" panose="020B0609030804020204" pitchFamily="49" charset="0"/>
              </a:rPr>
              <a:t>assert</a:t>
            </a:r>
            <a:r>
              <a:rPr lang="en-GB" b="0" dirty="0">
                <a:solidFill>
                  <a:srgbClr val="ABB2BF"/>
                </a:solidFill>
                <a:effectLst/>
                <a:latin typeface="Menlo" panose="020B0609030804020204" pitchFamily="49" charset="0"/>
              </a:rPr>
              <a:t>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2</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1</a:t>
            </a:r>
            <a:r>
              <a:rPr lang="en-GB" b="0" dirty="0">
                <a:solidFill>
                  <a:srgbClr val="ABB2BF"/>
                </a:solidFill>
                <a:effectLst/>
                <a:latin typeface="Menlo" panose="020B0609030804020204" pitchFamily="49" charset="0"/>
              </a:rPr>
              <a:t>]) </a:t>
            </a:r>
            <a:r>
              <a:rPr lang="en-GB" b="0" dirty="0">
                <a:solidFill>
                  <a:srgbClr val="C678DD"/>
                </a:solidFill>
                <a:effectLst/>
                <a:latin typeface="Menlo" panose="020B0609030804020204" pitchFamily="49" charset="0"/>
              </a:rPr>
              <a: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3</a:t>
            </a:r>
            <a:r>
              <a:rPr lang="en-GB" b="0" dirty="0">
                <a:solidFill>
                  <a:srgbClr val="ABB2BF"/>
                </a:solidFill>
                <a:effectLst/>
                <a:latin typeface="Menlo" panose="020B0609030804020204" pitchFamily="49" charset="0"/>
              </a:rPr>
              <a:t>]</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Run: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err="1">
                <a:solidFill>
                  <a:srgbClr val="61AFEF"/>
                </a:solidFill>
                <a:effectLst/>
                <a:latin typeface="Menlo" panose="020B0609030804020204" pitchFamily="49" charset="0"/>
              </a:rPr>
              <a:t>pytest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-v</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These two plateau tests are especially important because they define ambiguous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Returning the left-most plateau index is a specification choice, and now that choice is executable.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Commit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```bash</a:t>
            </a:r>
          </a:p>
          <a:p>
            <a:r>
              <a:rPr lang="en-GB" b="0" dirty="0">
                <a:solidFill>
                  <a:srgbClr val="61AFEF"/>
                </a:solidFill>
                <a:effectLst/>
                <a:latin typeface="Menlo" panose="020B0609030804020204" pitchFamily="49" charset="0"/>
              </a:rPr>
              <a:t>git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status</a:t>
            </a:r>
            <a:endParaRPr lang="en-GB" b="0" dirty="0">
              <a:solidFill>
                <a:srgbClr val="ABB2BF"/>
              </a:solidFill>
              <a:effectLst/>
              <a:latin typeface="Menlo" panose="020B0609030804020204" pitchFamily="49" charset="0"/>
            </a:endParaRPr>
          </a:p>
          <a:p>
            <a:r>
              <a:rPr lang="en-GB" b="0" dirty="0">
                <a:solidFill>
                  <a:srgbClr val="61AFEF"/>
                </a:solidFill>
                <a:effectLst/>
                <a:latin typeface="Menlo" panose="020B0609030804020204" pitchFamily="49" charset="0"/>
              </a:rPr>
              <a:t>git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diff</a:t>
            </a:r>
            <a:endParaRPr lang="en-GB" b="0" dirty="0">
              <a:solidFill>
                <a:srgbClr val="ABB2BF"/>
              </a:solidFill>
              <a:effectLst/>
              <a:latin typeface="Menlo" panose="020B0609030804020204" pitchFamily="49" charset="0"/>
            </a:endParaRPr>
          </a:p>
          <a:p>
            <a:r>
              <a:rPr lang="en-GB" b="0" dirty="0">
                <a:solidFill>
                  <a:srgbClr val="61AFEF"/>
                </a:solidFill>
                <a:effectLst/>
                <a:latin typeface="Menlo" panose="020B0609030804020204" pitchFamily="49" charset="0"/>
              </a:rPr>
              <a:t>git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add</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local_maxima.py</a:t>
            </a:r>
            <a:r>
              <a:rPr lang="en-GB" b="0" dirty="0">
                <a:solidFill>
                  <a:srgbClr val="ABB2BF"/>
                </a:solidFill>
                <a:effectLst/>
                <a:latin typeface="Menlo" panose="020B0609030804020204" pitchFamily="49" charset="0"/>
              </a:rPr>
              <a:t> </a:t>
            </a:r>
            <a:r>
              <a:rPr lang="en-GB" b="0" dirty="0" err="1">
                <a:solidFill>
                  <a:srgbClr val="98C379"/>
                </a:solidFill>
                <a:effectLst/>
                <a:latin typeface="Menlo" panose="020B0609030804020204" pitchFamily="49" charset="0"/>
              </a:rPr>
              <a:t>test_local_maxima.py</a:t>
            </a:r>
            <a:endParaRPr lang="en-GB" b="0" dirty="0">
              <a:solidFill>
                <a:srgbClr val="ABB2BF"/>
              </a:solidFill>
              <a:effectLst/>
              <a:latin typeface="Menlo" panose="020B0609030804020204" pitchFamily="49" charset="0"/>
            </a:endParaRPr>
          </a:p>
          <a:p>
            <a:r>
              <a:rPr lang="en-GB" b="0" dirty="0">
                <a:solidFill>
                  <a:srgbClr val="61AFEF"/>
                </a:solidFill>
                <a:effectLst/>
                <a:latin typeface="Menlo" panose="020B0609030804020204" pitchFamily="49" charset="0"/>
              </a:rPr>
              <a:t>git</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commit</a:t>
            </a:r>
            <a:r>
              <a:rPr lang="en-GB" b="0" dirty="0">
                <a:solidFill>
                  <a:srgbClr val="ABB2BF"/>
                </a:solidFill>
                <a:effectLst/>
                <a:latin typeface="Menlo" panose="020B0609030804020204" pitchFamily="49" charset="0"/>
              </a:rPr>
              <a:t> </a:t>
            </a:r>
            <a:r>
              <a:rPr lang="en-GB" b="0" dirty="0">
                <a:solidFill>
                  <a:srgbClr val="D19A66"/>
                </a:solidFill>
                <a:effectLst/>
                <a:latin typeface="Menlo" panose="020B0609030804020204" pitchFamily="49" charset="0"/>
              </a:rPr>
              <a:t>-m</a:t>
            </a:r>
            <a:r>
              <a:rPr lang="en-GB" b="0" dirty="0">
                <a:solidFill>
                  <a:srgbClr val="ABB2BF"/>
                </a:solidFill>
                <a:effectLst/>
                <a:latin typeface="Menlo" panose="020B0609030804020204" pitchFamily="49" charset="0"/>
              </a:rPr>
              <a:t> </a:t>
            </a:r>
            <a:r>
              <a:rPr lang="en-GB" b="0" dirty="0">
                <a:solidFill>
                  <a:srgbClr val="98C379"/>
                </a:solidFill>
                <a:effectLst/>
                <a:latin typeface="Menlo" panose="020B0609030804020204" pitchFamily="49" charset="0"/>
              </a:rPr>
              <a:t>"Add tested local maxima implementation"</a:t>
            </a:r>
            <a:endParaRPr lang="en-GB" b="0" dirty="0">
              <a:solidFill>
                <a:srgbClr val="ABB2BF"/>
              </a:solidFill>
              <a:effectLst/>
              <a:latin typeface="Menlo" panose="020B0609030804020204" pitchFamily="49" charset="0"/>
            </a:endParaRP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If the course issue says to reference Issue #1, PR/MR description:</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Fixes #1</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This implements </a:t>
            </a:r>
            <a:r>
              <a:rPr lang="en-GB" b="0" dirty="0" err="1">
                <a:solidFill>
                  <a:srgbClr val="ABB2BF"/>
                </a:solidFill>
                <a:effectLst/>
                <a:latin typeface="Menlo" panose="020B0609030804020204" pitchFamily="49" charset="0"/>
              </a:rPr>
              <a:t>find_maxima</a:t>
            </a:r>
            <a:r>
              <a:rPr lang="en-GB" b="0" dirty="0">
                <a:solidFill>
                  <a:srgbClr val="ABB2BF"/>
                </a:solidFill>
                <a:effectLst/>
                <a:latin typeface="Menlo" panose="020B0609030804020204" pitchFamily="49" charset="0"/>
              </a:rPr>
              <a:t> and adds tests for:</a:t>
            </a:r>
          </a:p>
          <a:p>
            <a:r>
              <a:rPr lang="en-GB" b="0" dirty="0">
                <a:solidFill>
                  <a:srgbClr val="ABB2BF"/>
                </a:solidFill>
                <a:effectLst/>
                <a:latin typeface="Menlo" panose="020B0609030804020204" pitchFamily="49" charset="0"/>
              </a:rPr>
              <a:t>- ordinary interior maxima</a:t>
            </a:r>
          </a:p>
          <a:p>
            <a:r>
              <a:rPr lang="en-GB" b="0" dirty="0">
                <a:solidFill>
                  <a:srgbClr val="ABB2BF"/>
                </a:solidFill>
                <a:effectLst/>
                <a:latin typeface="Menlo" panose="020B0609030804020204" pitchFamily="49" charset="0"/>
              </a:rPr>
              <a:t>- endpoint maxima</a:t>
            </a:r>
          </a:p>
          <a:p>
            <a:r>
              <a:rPr lang="en-GB" b="0" dirty="0">
                <a:solidFill>
                  <a:srgbClr val="ABB2BF"/>
                </a:solidFill>
                <a:effectLst/>
                <a:latin typeface="Menlo" panose="020B0609030804020204" pitchFamily="49" charset="0"/>
              </a:rPr>
              <a:t>- empty input</a:t>
            </a:r>
          </a:p>
          <a:p>
            <a:r>
              <a:rPr lang="en-GB" b="0" dirty="0">
                <a:solidFill>
                  <a:srgbClr val="ABB2BF"/>
                </a:solidFill>
                <a:effectLst/>
                <a:latin typeface="Menlo" panose="020B0609030804020204" pitchFamily="49" charset="0"/>
              </a:rPr>
              <a:t>- flat maxima, returning the left-most plateau index</a:t>
            </a:r>
          </a:p>
          <a:p>
            <a:r>
              <a:rPr lang="en-GB" b="0" dirty="0">
                <a:solidFill>
                  <a:srgbClr val="ABB2BF"/>
                </a:solidFill>
                <a:effectLst/>
                <a:latin typeface="Menlo" panose="020B0609030804020204" pitchFamily="49" charset="0"/>
              </a:rPr>
              <a:t>- plateaus followed by a higher value</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E06C75"/>
                </a:solidFill>
                <a:effectLst/>
                <a:latin typeface="Menlo" panose="020B0609030804020204" pitchFamily="49" charset="0"/>
              </a:rPr>
              <a:t>### Key phrase</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The important habit is not just writing tests. The important habit is attaching tests to the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 you are changing.</a:t>
            </a:r>
            <a:endParaRPr lang="en-GB" b="0" dirty="0">
              <a:solidFill>
                <a:srgbClr val="ABB2BF"/>
              </a:solidFill>
              <a:effectLst/>
              <a:latin typeface="Menlo" panose="020B0609030804020204" pitchFamily="49" charset="0"/>
            </a:endParaRPr>
          </a:p>
          <a:p>
            <a:endParaRPr lang="en-DE" dirty="0"/>
          </a:p>
        </p:txBody>
      </p:sp>
    </p:spTree>
    <p:extLst>
      <p:ext uri="{BB962C8B-B14F-4D97-AF65-F5344CB8AC3E}">
        <p14:creationId xmlns:p14="http://schemas.microsoft.com/office/powerpoint/2010/main" val="37402063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dirty="0">
                <a:solidFill>
                  <a:srgbClr val="E06C75"/>
                </a:solidFill>
                <a:effectLst/>
                <a:latin typeface="Menlo" panose="020B0609030804020204" pitchFamily="49" charset="0"/>
              </a:rPr>
              <a:t>### What to say</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So far, we have covered the basic mechanics: write a function whose name starts with `test_`, call the code under test, and use an assertion to check expected </a:t>
            </a:r>
            <a:r>
              <a:rPr lang="en-GB" b="0" i="1" dirty="0" err="1">
                <a:solidFill>
                  <a:srgbClr val="5C6370"/>
                </a:solidFill>
                <a:effectLst/>
                <a:latin typeface="Menlo" panose="020B0609030804020204" pitchFamily="49" charset="0"/>
              </a:rPr>
              <a:t>behavior</a:t>
            </a:r>
            <a:r>
              <a:rPr lang="en-GB" b="0" i="1" dirty="0">
                <a:solidFill>
                  <a:srgbClr val="5C6370"/>
                </a:solidFill>
                <a:effectLst/>
                <a:latin typeface="Menlo" panose="020B0609030804020204" pitchFamily="49" charset="0"/>
              </a:rPr>
              <a:t>.</a:t>
            </a:r>
            <a:endParaRPr lang="en-GB" b="0" dirty="0">
              <a:solidFill>
                <a:srgbClr val="ABB2BF"/>
              </a:solidFill>
              <a:effectLst/>
              <a:latin typeface="Menlo" panose="020B0609030804020204" pitchFamily="49" charset="0"/>
            </a:endParaRP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Summarize:</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```text</a:t>
            </a:r>
          </a:p>
          <a:p>
            <a:r>
              <a:rPr lang="en-GB" b="0" dirty="0">
                <a:solidFill>
                  <a:srgbClr val="ABB2BF"/>
                </a:solidFill>
                <a:effectLst/>
                <a:latin typeface="Menlo" panose="020B0609030804020204" pitchFamily="49" charset="0"/>
              </a:rPr>
              <a:t>- Plain equality works for integers, strings, lists, and other exact objects.</a:t>
            </a:r>
          </a:p>
          <a:p>
            <a:r>
              <a:rPr lang="en-GB" b="0" dirty="0">
                <a:solidFill>
                  <a:srgbClr val="ABB2BF"/>
                </a:solidFill>
                <a:effectLst/>
                <a:latin typeface="Menlo" panose="020B0609030804020204" pitchFamily="49" charset="0"/>
              </a:rPr>
              <a:t>- Floating-point values usually need approximate comparison.</a:t>
            </a:r>
          </a:p>
          <a:p>
            <a:r>
              <a:rPr lang="en-GB" b="0" dirty="0">
                <a:solidFill>
                  <a:srgbClr val="ABB2BF"/>
                </a:solidFill>
                <a:effectLst/>
                <a:latin typeface="Menlo" panose="020B0609030804020204" pitchFamily="49" charset="0"/>
              </a:rPr>
              <a:t>- NumPy arrays need NumPy-aware assertions.</a:t>
            </a:r>
          </a:p>
          <a:p>
            <a:r>
              <a:rPr lang="en-GB" b="0" dirty="0">
                <a:solidFill>
                  <a:srgbClr val="ABB2BF"/>
                </a:solidFill>
                <a:effectLst/>
                <a:latin typeface="Menlo" panose="020B0609030804020204" pitchFamily="49" charset="0"/>
              </a:rPr>
              <a:t>- Edge cases should be explicit tests, not manual checks.</a:t>
            </a:r>
          </a:p>
          <a:p>
            <a:r>
              <a:rPr lang="en-GB" b="0" dirty="0">
                <a:solidFill>
                  <a:srgbClr val="ABB2BF"/>
                </a:solidFill>
                <a:effectLst/>
                <a:latin typeface="Menlo" panose="020B0609030804020204" pitchFamily="49" charset="0"/>
              </a:rPr>
              <a:t>```</a:t>
            </a:r>
          </a:p>
          <a:p>
            <a:br>
              <a:rPr lang="en-GB" b="0" dirty="0">
                <a:solidFill>
                  <a:srgbClr val="ABB2BF"/>
                </a:solidFill>
                <a:effectLst/>
                <a:latin typeface="Menlo" panose="020B0609030804020204" pitchFamily="49" charset="0"/>
              </a:rPr>
            </a:br>
            <a:r>
              <a:rPr lang="en-GB" b="0" dirty="0">
                <a:solidFill>
                  <a:srgbClr val="ABB2BF"/>
                </a:solidFill>
                <a:effectLst/>
                <a:latin typeface="Menlo" panose="020B0609030804020204" pitchFamily="49" charset="0"/>
              </a:rPr>
              <a:t>Then:</a:t>
            </a:r>
          </a:p>
          <a:p>
            <a:br>
              <a:rPr lang="en-GB" b="0" dirty="0">
                <a:solidFill>
                  <a:srgbClr val="ABB2BF"/>
                </a:solidFill>
                <a:effectLst/>
                <a:latin typeface="Menlo" panose="020B0609030804020204" pitchFamily="49" charset="0"/>
              </a:rPr>
            </a:br>
            <a:r>
              <a:rPr lang="en-GB" b="0" i="1" dirty="0">
                <a:solidFill>
                  <a:srgbClr val="5C6370"/>
                </a:solidFill>
                <a:effectLst/>
                <a:latin typeface="Menlo" panose="020B0609030804020204" pitchFamily="49" charset="0"/>
              </a:rPr>
              <a:t>&gt; The next step is testing patterns: how to test expected failures, how to organize repeated cases, and how to make tests readable and maintainable.</a:t>
            </a:r>
            <a:endParaRPr lang="en-GB" b="0" dirty="0">
              <a:solidFill>
                <a:srgbClr val="ABB2BF"/>
              </a:solidFill>
              <a:effectLst/>
              <a:latin typeface="Menlo" panose="020B0609030804020204" pitchFamily="49" charset="0"/>
            </a:endParaRPr>
          </a:p>
          <a:p>
            <a:endParaRPr lang="en-DE" dirty="0"/>
          </a:p>
        </p:txBody>
      </p:sp>
    </p:spTree>
    <p:extLst>
      <p:ext uri="{BB962C8B-B14F-4D97-AF65-F5344CB8AC3E}">
        <p14:creationId xmlns:p14="http://schemas.microsoft.com/office/powerpoint/2010/main" val="20018736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Shape 184"/>
          <p:cNvSpPr>
            <a:spLocks noGrp="1" noRot="1" noChangeAspect="1"/>
          </p:cNvSpPr>
          <p:nvPr>
            <p:ph type="sldImg"/>
          </p:nvPr>
        </p:nvSpPr>
        <p:spPr>
          <a:xfrm>
            <a:off x="381000" y="685800"/>
            <a:ext cx="6096000" cy="3429000"/>
          </a:xfrm>
          <a:prstGeom prst="rect">
            <a:avLst/>
          </a:prstGeom>
        </p:spPr>
        <p:txBody>
          <a:bodyPr/>
          <a:lstStyle/>
          <a:p>
            <a:endParaRPr/>
          </a:p>
        </p:txBody>
      </p:sp>
      <p:sp>
        <p:nvSpPr>
          <p:cNvPr id="185" name="Shape 185"/>
          <p:cNvSpPr>
            <a:spLocks noGrp="1"/>
          </p:cNvSpPr>
          <p:nvPr>
            <p:ph type="body" sz="quarter" idx="1"/>
          </p:nvPr>
        </p:nvSpPr>
        <p:spPr>
          <a:prstGeom prst="rect">
            <a:avLst/>
          </a:prstGeom>
        </p:spPr>
        <p:txBody>
          <a:bodyPr/>
          <a:lstStyle/>
          <a:p>
            <a:r>
              <a:rPr lang="de-DE" dirty="0"/>
              <a:t>As </a:t>
            </a:r>
            <a:r>
              <a:rPr lang="de-DE" dirty="0" err="1"/>
              <a:t>opposed</a:t>
            </a:r>
            <a:r>
              <a:rPr lang="de-DE" dirty="0"/>
              <a:t> </a:t>
            </a:r>
            <a:r>
              <a:rPr lang="de-DE" dirty="0" err="1"/>
              <a:t>to</a:t>
            </a:r>
            <a:r>
              <a:rPr lang="de-DE" dirty="0"/>
              <a:t> </a:t>
            </a:r>
            <a:r>
              <a:rPr lang="de-DE" dirty="0" err="1"/>
              <a:t>waterfall</a:t>
            </a:r>
            <a:r>
              <a:rPr lang="de-DE" dirty="0"/>
              <a:t> </a:t>
            </a:r>
            <a:r>
              <a:rPr lang="de-DE" dirty="0" err="1"/>
              <a:t>model</a:t>
            </a:r>
            <a:endParaRPr lang="de-DE" dirty="0"/>
          </a:p>
          <a:p>
            <a:endParaRPr lang="de-DE" dirty="0"/>
          </a:p>
          <a:p>
            <a:r>
              <a:rPr lang="de-DE" dirty="0" err="1"/>
              <a:t>Reminder</a:t>
            </a:r>
            <a:endParaRPr lang="de-DE" dirty="0"/>
          </a:p>
          <a:p>
            <a:r>
              <a:rPr lang="de-DE" dirty="0"/>
              <a:t> 1) </a:t>
            </a:r>
            <a:r>
              <a:rPr lang="de-DE" dirty="0" err="1"/>
              <a:t>describe</a:t>
            </a:r>
            <a:r>
              <a:rPr lang="de-DE" dirty="0"/>
              <a:t> </a:t>
            </a:r>
            <a:r>
              <a:rPr lang="de-DE" dirty="0" err="1"/>
              <a:t>cycle</a:t>
            </a:r>
            <a:endParaRPr lang="de-DE" dirty="0"/>
          </a:p>
          <a:p>
            <a:r>
              <a:rPr lang="de-DE" dirty="0"/>
              <a:t> 2) </a:t>
            </a:r>
            <a:r>
              <a:rPr lang="de-DE" dirty="0" err="1"/>
              <a:t>short</a:t>
            </a:r>
            <a:r>
              <a:rPr lang="de-DE" dirty="0"/>
              <a:t> </a:t>
            </a:r>
            <a:r>
              <a:rPr lang="de-DE" dirty="0" err="1"/>
              <a:t>development</a:t>
            </a:r>
            <a:r>
              <a:rPr lang="de-DE" dirty="0"/>
              <a:t> </a:t>
            </a:r>
            <a:r>
              <a:rPr lang="de-DE" dirty="0" err="1"/>
              <a:t>cycles</a:t>
            </a:r>
            <a:r>
              <a:rPr lang="de-DE" dirty="0"/>
              <a:t>: </a:t>
            </a:r>
            <a:r>
              <a:rPr lang="de-DE" dirty="0" err="1"/>
              <a:t>granularity</a:t>
            </a:r>
            <a:r>
              <a:rPr lang="de-DE" dirty="0"/>
              <a:t> </a:t>
            </a:r>
            <a:r>
              <a:rPr lang="de-DE" dirty="0" err="1"/>
              <a:t>of</a:t>
            </a:r>
            <a:r>
              <a:rPr lang="de-DE" dirty="0"/>
              <a:t> </a:t>
            </a:r>
            <a:r>
              <a:rPr lang="de-DE" dirty="0" err="1"/>
              <a:t>chosen</a:t>
            </a:r>
            <a:r>
              <a:rPr lang="de-DE" dirty="0"/>
              <a:t> feature </a:t>
            </a:r>
            <a:r>
              <a:rPr lang="de-DE" dirty="0" err="1"/>
              <a:t>is</a:t>
            </a:r>
            <a:r>
              <a:rPr lang="de-DE" dirty="0"/>
              <a:t> </a:t>
            </a:r>
            <a:r>
              <a:rPr lang="de-DE" dirty="0" err="1"/>
              <a:t>important</a:t>
            </a:r>
            <a:endParaRPr lang="de-DE" dirty="0"/>
          </a:p>
          <a:p>
            <a:r>
              <a:rPr lang="de-DE" dirty="0"/>
              <a:t> 3) </a:t>
            </a:r>
            <a:r>
              <a:rPr lang="de-DE" dirty="0" err="1"/>
              <a:t>for</a:t>
            </a:r>
            <a:r>
              <a:rPr lang="de-DE" dirty="0"/>
              <a:t> all </a:t>
            </a:r>
            <a:r>
              <a:rPr lang="de-DE" dirty="0" err="1"/>
              <a:t>of</a:t>
            </a:r>
            <a:r>
              <a:rPr lang="de-DE" dirty="0"/>
              <a:t> </a:t>
            </a:r>
            <a:r>
              <a:rPr lang="de-DE" dirty="0" err="1"/>
              <a:t>these</a:t>
            </a:r>
            <a:r>
              <a:rPr lang="de-DE" dirty="0"/>
              <a:t> </a:t>
            </a:r>
            <a:r>
              <a:rPr lang="de-DE" dirty="0" err="1"/>
              <a:t>steps</a:t>
            </a:r>
            <a:r>
              <a:rPr lang="de-DE" dirty="0"/>
              <a:t> </a:t>
            </a:r>
            <a:r>
              <a:rPr lang="de-DE" dirty="0" err="1"/>
              <a:t>there</a:t>
            </a:r>
            <a:r>
              <a:rPr lang="de-DE" dirty="0"/>
              <a:t> </a:t>
            </a:r>
            <a:r>
              <a:rPr lang="de-DE" dirty="0" err="1"/>
              <a:t>are</a:t>
            </a:r>
            <a:r>
              <a:rPr lang="de-DE" dirty="0"/>
              <a:t> </a:t>
            </a:r>
            <a:r>
              <a:rPr lang="de-DE" dirty="0" err="1"/>
              <a:t>python</a:t>
            </a:r>
            <a:r>
              <a:rPr lang="de-DE" dirty="0"/>
              <a:t> </a:t>
            </a:r>
            <a:r>
              <a:rPr lang="de-DE" dirty="0" err="1"/>
              <a:t>tools</a:t>
            </a:r>
            <a:r>
              <a:rPr lang="de-DE" dirty="0"/>
              <a:t> </a:t>
            </a:r>
            <a:r>
              <a:rPr lang="de-DE" dirty="0" err="1"/>
              <a:t>to</a:t>
            </a:r>
            <a:r>
              <a:rPr lang="de-DE" dirty="0"/>
              <a:t> </a:t>
            </a:r>
            <a:r>
              <a:rPr lang="de-DE" dirty="0" err="1"/>
              <a:t>help</a:t>
            </a:r>
            <a:r>
              <a:rPr lang="de-DE" dirty="0"/>
              <a:t> </a:t>
            </a:r>
            <a:r>
              <a:rPr lang="de-DE" dirty="0" err="1"/>
              <a:t>you</a:t>
            </a:r>
            <a:endParaRPr lang="de-DE" dirty="0"/>
          </a:p>
          <a:p>
            <a:endParaRPr lang="de-DE" dirty="0"/>
          </a:p>
          <a:p>
            <a:endParaRPr lang="de-DE" dirty="0"/>
          </a:p>
          <a:p>
            <a:endParaRPr lang="de-DE" dirty="0"/>
          </a:p>
          <a:p>
            <a:r>
              <a:rPr lang="de-DE" dirty="0"/>
              <a:t>======</a:t>
            </a:r>
          </a:p>
          <a:p>
            <a:r>
              <a:rPr lang="de-DE" dirty="0" err="1"/>
              <a:t>Actually</a:t>
            </a:r>
            <a:r>
              <a:rPr lang="de-DE" dirty="0"/>
              <a:t> </a:t>
            </a:r>
            <a:r>
              <a:rPr lang="de-DE" dirty="0" err="1"/>
              <a:t>maybe</a:t>
            </a:r>
            <a:r>
              <a:rPr lang="de-DE" dirty="0"/>
              <a:t> </a:t>
            </a:r>
            <a:r>
              <a:rPr lang="de-DE" dirty="0" err="1"/>
              <a:t>it's</a:t>
            </a:r>
            <a:r>
              <a:rPr lang="de-DE" dirty="0"/>
              <a:t> </a:t>
            </a:r>
            <a:r>
              <a:rPr lang="de-DE" dirty="0" err="1"/>
              <a:t>better</a:t>
            </a:r>
            <a:r>
              <a:rPr lang="de-DE" dirty="0"/>
              <a:t> </a:t>
            </a:r>
            <a:r>
              <a:rPr lang="de-DE" dirty="0" err="1"/>
              <a:t>to</a:t>
            </a:r>
            <a:r>
              <a:rPr lang="de-DE" dirty="0"/>
              <a:t> </a:t>
            </a:r>
            <a:r>
              <a:rPr lang="de-DE" dirty="0" err="1"/>
              <a:t>show</a:t>
            </a:r>
            <a:r>
              <a:rPr lang="de-DE" dirty="0"/>
              <a:t> </a:t>
            </a:r>
            <a:r>
              <a:rPr lang="de-DE" dirty="0" err="1"/>
              <a:t>test</a:t>
            </a:r>
            <a:r>
              <a:rPr lang="de-DE" dirty="0"/>
              <a:t> and </a:t>
            </a:r>
            <a:r>
              <a:rPr lang="de-DE" dirty="0" err="1"/>
              <a:t>debug</a:t>
            </a:r>
            <a:r>
              <a:rPr lang="de-DE" dirty="0"/>
              <a:t> </a:t>
            </a:r>
            <a:r>
              <a:rPr lang="de-DE" dirty="0" err="1"/>
              <a:t>cycle</a:t>
            </a:r>
            <a:r>
              <a:rPr lang="de-DE" dirty="0"/>
              <a:t>?</a:t>
            </a:r>
          </a:p>
        </p:txBody>
      </p:sp>
    </p:spTree>
    <p:extLst>
      <p:ext uri="{BB962C8B-B14F-4D97-AF65-F5344CB8AC3E}">
        <p14:creationId xmlns:p14="http://schemas.microsoft.com/office/powerpoint/2010/main" val="37952496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Shape 420"/>
          <p:cNvSpPr>
            <a:spLocks noGrp="1" noRot="1" noChangeAspect="1"/>
          </p:cNvSpPr>
          <p:nvPr>
            <p:ph type="sldImg"/>
          </p:nvPr>
        </p:nvSpPr>
        <p:spPr>
          <a:xfrm>
            <a:off x="381000" y="685800"/>
            <a:ext cx="6096000" cy="3429000"/>
          </a:xfrm>
          <a:prstGeom prst="rect">
            <a:avLst/>
          </a:prstGeom>
        </p:spPr>
        <p:txBody>
          <a:bodyPr/>
          <a:lstStyle/>
          <a:p>
            <a:endParaRPr/>
          </a:p>
        </p:txBody>
      </p:sp>
      <p:sp>
        <p:nvSpPr>
          <p:cNvPr id="421" name="Shape 421"/>
          <p:cNvSpPr>
            <a:spLocks noGrp="1"/>
          </p:cNvSpPr>
          <p:nvPr>
            <p:ph type="body" sz="quarter" idx="1"/>
          </p:nvPr>
        </p:nvSpPr>
        <p:spPr>
          <a:prstGeom prst="rect">
            <a:avLst/>
          </a:prstGeom>
        </p:spPr>
        <p:txBody>
          <a:bodyPr/>
          <a:lstStyle/>
          <a:p>
            <a:r>
              <a:t>Finally</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965585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lank 0">
    <p:bg>
      <p:bgPr>
        <a:solidFill>
          <a:srgbClr val="000000"/>
        </a:solidFill>
        <a:effectLst/>
      </p:bgPr>
    </p:bg>
    <p:spTree>
      <p:nvGrpSpPr>
        <p:cNvPr id="1" name=""/>
        <p:cNvGrpSpPr/>
        <p:nvPr/>
      </p:nvGrpSpPr>
      <p:grpSpPr>
        <a:xfrm>
          <a:off x="0" y="0"/>
          <a:ext cx="0" cy="0"/>
          <a:chOff x="0" y="0"/>
          <a:chExt cx="0" cy="0"/>
        </a:xfrm>
      </p:grpSpPr>
      <p:sp>
        <p:nvSpPr>
          <p:cNvPr id="72"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0"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81" name="Text Placeholder 3"/>
          <p:cNvSpPr>
            <a:spLocks noGrp="1"/>
          </p:cNvSpPr>
          <p:nvPr>
            <p:ph type="body" sz="quarter" idx="21"/>
          </p:nvPr>
        </p:nvSpPr>
        <p:spPr>
          <a:xfrm>
            <a:off x="839787" y="2057400"/>
            <a:ext cx="3932239" cy="3811588"/>
          </a:xfrm>
          <a:prstGeom prst="rect">
            <a:avLst/>
          </a:prstGeom>
        </p:spPr>
        <p:txBody>
          <a:bodyPr/>
          <a:lstStyle/>
          <a:p>
            <a:pPr marL="0" indent="0">
              <a:buSzTx/>
              <a:buFontTx/>
              <a:buNone/>
              <a:defRPr sz="1600"/>
            </a:pPr>
            <a:endParaRPr/>
          </a:p>
        </p:txBody>
      </p:sp>
      <p:sp>
        <p:nvSpPr>
          <p:cNvPr id="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9"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90"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91"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9036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412775"/>
            <a:ext cx="10515600" cy="47641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hyperlink" Target="https://www.businessinsider.fr/us/boeing-software-errors-jeopardized-starliner-spaceship-737-max-planes-2020-2" TargetMode="Externa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Picture 2" descr="Picture 2"/>
          <p:cNvPicPr>
            <a:picLocks noChangeAspect="1"/>
          </p:cNvPicPr>
          <p:nvPr/>
        </p:nvPicPr>
        <p:blipFill>
          <a:blip r:embed="rId3"/>
          <a:stretch>
            <a:fillRect/>
          </a:stretch>
        </p:blipFill>
        <p:spPr>
          <a:xfrm>
            <a:off x="-96688" y="0"/>
            <a:ext cx="12288688" cy="6858000"/>
          </a:xfrm>
          <a:prstGeom prst="rect">
            <a:avLst/>
          </a:prstGeom>
          <a:ln w="12700">
            <a:miter lim="400000"/>
          </a:ln>
        </p:spPr>
      </p:pic>
      <p:sp>
        <p:nvSpPr>
          <p:cNvPr id="102" name="Title 1"/>
          <p:cNvSpPr txBox="1">
            <a:spLocks noGrp="1"/>
          </p:cNvSpPr>
          <p:nvPr>
            <p:ph type="ctrTitle"/>
          </p:nvPr>
        </p:nvSpPr>
        <p:spPr>
          <a:xfrm>
            <a:off x="263351" y="260647"/>
            <a:ext cx="10081122" cy="1702369"/>
          </a:xfrm>
          <a:prstGeom prst="rect">
            <a:avLst/>
          </a:prstGeom>
        </p:spPr>
        <p:txBody>
          <a:bodyPr>
            <a:normAutofit fontScale="90000"/>
          </a:bodyPr>
          <a:lstStyle/>
          <a:p>
            <a:pPr algn="l" defTabSz="841247">
              <a:defRPr sz="7360">
                <a:effectLst>
                  <a:outerShdw blurRad="46736" dist="35052" dir="2700000" rotWithShape="0">
                    <a:srgbClr val="000000">
                      <a:alpha val="40000"/>
                    </a:srgbClr>
                  </a:outerShdw>
                </a:effectLst>
              </a:defRPr>
            </a:pPr>
            <a:r>
              <a:t>Testing scientific code</a:t>
            </a:r>
            <a:br/>
            <a:r>
              <a:rPr sz="4416"/>
              <a:t>Because you’re worth it</a:t>
            </a:r>
          </a:p>
        </p:txBody>
      </p:sp>
      <p:sp>
        <p:nvSpPr>
          <p:cNvPr id="103" name="Subtitle 2"/>
          <p:cNvSpPr txBox="1">
            <a:spLocks noGrp="1"/>
          </p:cNvSpPr>
          <p:nvPr>
            <p:ph type="subTitle" sz="quarter" idx="1"/>
          </p:nvPr>
        </p:nvSpPr>
        <p:spPr>
          <a:xfrm>
            <a:off x="263351" y="6014637"/>
            <a:ext cx="6839197" cy="548286"/>
          </a:xfrm>
          <a:prstGeom prst="rect">
            <a:avLst/>
          </a:prstGeom>
        </p:spPr>
        <p:txBody>
          <a:bodyPr>
            <a:normAutofit/>
          </a:bodyPr>
          <a:lstStyle>
            <a:lvl1pPr defTabSz="886968">
              <a:spcBef>
                <a:spcPts val="900"/>
              </a:spcBef>
              <a:defRPr sz="3104">
                <a:solidFill>
                  <a:srgbClr val="FFFFFF"/>
                </a:solidFill>
                <a:effectLst>
                  <a:outerShdw blurRad="49276" dist="36957" dir="2700000" rotWithShape="0">
                    <a:srgbClr val="000000">
                      <a:alpha val="40000"/>
                    </a:srgbClr>
                  </a:outerShdw>
                </a:effectLst>
              </a:defRPr>
            </a:lvl1pPr>
          </a:lstStyle>
          <a:p>
            <a:r>
              <a:rPr dirty="0"/>
              <a:t>Lisa </a:t>
            </a:r>
            <a:r>
              <a:rPr dirty="0" err="1"/>
              <a:t>Schwetlick</a:t>
            </a:r>
            <a:r>
              <a:rPr lang="en-US" dirty="0"/>
              <a:t> and </a:t>
            </a:r>
            <a:r>
              <a:rPr lang="de-DE" dirty="0"/>
              <a:t>Carlos Echeverría</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Footer Placeholder 6"/>
          <p:cNvSpPr txBox="1"/>
          <p:nvPr/>
        </p:nvSpPr>
        <p:spPr>
          <a:xfrm>
            <a:off x="4084319" y="6356350"/>
            <a:ext cx="40233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a:spcBef>
                <a:spcPts val="600"/>
              </a:spcBef>
              <a:defRPr sz="1200">
                <a:solidFill>
                  <a:srgbClr val="888888"/>
                </a:solidFill>
              </a:defRPr>
            </a:lvl1pPr>
          </a:lstStyle>
          <a:p>
            <a:r>
              <a:t>Testing scientific code, v16.0</a:t>
            </a:r>
          </a:p>
        </p:txBody>
      </p:sp>
      <p:sp>
        <p:nvSpPr>
          <p:cNvPr id="106" name="Rectangle 3078"/>
          <p:cNvSpPr/>
          <p:nvPr/>
        </p:nvSpPr>
        <p:spPr>
          <a:xfrm>
            <a:off x="-1" y="0"/>
            <a:ext cx="12188954"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07" name="Title 1"/>
          <p:cNvSpPr txBox="1">
            <a:spLocks noGrp="1"/>
          </p:cNvSpPr>
          <p:nvPr>
            <p:ph type="title"/>
          </p:nvPr>
        </p:nvSpPr>
        <p:spPr>
          <a:xfrm>
            <a:off x="4871863" y="365125"/>
            <a:ext cx="7128793" cy="975642"/>
          </a:xfrm>
          <a:prstGeom prst="rect">
            <a:avLst/>
          </a:prstGeom>
        </p:spPr>
        <p:txBody>
          <a:bodyPr/>
          <a:lstStyle/>
          <a:p>
            <a:r>
              <a:t>You, as the Master of Research</a:t>
            </a:r>
          </a:p>
        </p:txBody>
      </p:sp>
      <p:pic>
        <p:nvPicPr>
          <p:cNvPr id="108" name="Picture 2" descr="Picture 2"/>
          <p:cNvPicPr>
            <a:picLocks noChangeAspect="1"/>
          </p:cNvPicPr>
          <p:nvPr/>
        </p:nvPicPr>
        <p:blipFill>
          <a:blip r:embed="rId3"/>
          <a:stretch>
            <a:fillRect/>
          </a:stretch>
        </p:blipFill>
        <p:spPr>
          <a:xfrm>
            <a:off x="20" y="10"/>
            <a:ext cx="5363361" cy="685799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3408" y="21600"/>
                </a:lnTo>
                <a:cubicBezTo>
                  <a:pt x="13450" y="21555"/>
                  <a:pt x="13470" y="21499"/>
                  <a:pt x="13460" y="21432"/>
                </a:cubicBezTo>
                <a:cubicBezTo>
                  <a:pt x="13449" y="21243"/>
                  <a:pt x="13304" y="21120"/>
                  <a:pt x="13159" y="21165"/>
                </a:cubicBezTo>
                <a:cubicBezTo>
                  <a:pt x="12703" y="21310"/>
                  <a:pt x="12308" y="21053"/>
                  <a:pt x="11852" y="21120"/>
                </a:cubicBezTo>
                <a:cubicBezTo>
                  <a:pt x="12256" y="20975"/>
                  <a:pt x="12660" y="20841"/>
                  <a:pt x="13065" y="20696"/>
                </a:cubicBezTo>
                <a:cubicBezTo>
                  <a:pt x="12474" y="20629"/>
                  <a:pt x="11883" y="20830"/>
                  <a:pt x="11292" y="20952"/>
                </a:cubicBezTo>
                <a:cubicBezTo>
                  <a:pt x="11106" y="20997"/>
                  <a:pt x="10805" y="21244"/>
                  <a:pt x="10763" y="20920"/>
                </a:cubicBezTo>
                <a:cubicBezTo>
                  <a:pt x="10742" y="20708"/>
                  <a:pt x="11054" y="20674"/>
                  <a:pt x="11230" y="20608"/>
                </a:cubicBezTo>
                <a:cubicBezTo>
                  <a:pt x="12028" y="20306"/>
                  <a:pt x="12827" y="20116"/>
                  <a:pt x="13635" y="19904"/>
                </a:cubicBezTo>
                <a:cubicBezTo>
                  <a:pt x="13708" y="19881"/>
                  <a:pt x="13812" y="19893"/>
                  <a:pt x="13864" y="19838"/>
                </a:cubicBezTo>
                <a:cubicBezTo>
                  <a:pt x="14289" y="19414"/>
                  <a:pt x="14807" y="19257"/>
                  <a:pt x="15378" y="18934"/>
                </a:cubicBezTo>
                <a:cubicBezTo>
                  <a:pt x="15025" y="18811"/>
                  <a:pt x="14776" y="19112"/>
                  <a:pt x="14486" y="19056"/>
                </a:cubicBezTo>
                <a:cubicBezTo>
                  <a:pt x="14797" y="18733"/>
                  <a:pt x="15150" y="18666"/>
                  <a:pt x="15461" y="18476"/>
                </a:cubicBezTo>
                <a:cubicBezTo>
                  <a:pt x="15679" y="18342"/>
                  <a:pt x="16519" y="17940"/>
                  <a:pt x="16644" y="17818"/>
                </a:cubicBezTo>
                <a:cubicBezTo>
                  <a:pt x="17027" y="17472"/>
                  <a:pt x="17514" y="17294"/>
                  <a:pt x="17825" y="16836"/>
                </a:cubicBezTo>
                <a:cubicBezTo>
                  <a:pt x="18053" y="16513"/>
                  <a:pt x="18416" y="16557"/>
                  <a:pt x="18675" y="16322"/>
                </a:cubicBezTo>
                <a:cubicBezTo>
                  <a:pt x="18768" y="16111"/>
                  <a:pt x="18603" y="16067"/>
                  <a:pt x="18541" y="15955"/>
                </a:cubicBezTo>
                <a:cubicBezTo>
                  <a:pt x="18468" y="15810"/>
                  <a:pt x="18613" y="15720"/>
                  <a:pt x="18654" y="15541"/>
                </a:cubicBezTo>
                <a:cubicBezTo>
                  <a:pt x="18167" y="15764"/>
                  <a:pt x="17711" y="15909"/>
                  <a:pt x="17161" y="15999"/>
                </a:cubicBezTo>
                <a:cubicBezTo>
                  <a:pt x="17348" y="15698"/>
                  <a:pt x="17566" y="15820"/>
                  <a:pt x="17711" y="15709"/>
                </a:cubicBezTo>
                <a:cubicBezTo>
                  <a:pt x="17805" y="15631"/>
                  <a:pt x="17961" y="15597"/>
                  <a:pt x="17940" y="15430"/>
                </a:cubicBezTo>
                <a:cubicBezTo>
                  <a:pt x="17919" y="15296"/>
                  <a:pt x="17794" y="15319"/>
                  <a:pt x="17711" y="15341"/>
                </a:cubicBezTo>
                <a:cubicBezTo>
                  <a:pt x="17359" y="15408"/>
                  <a:pt x="17027" y="15441"/>
                  <a:pt x="16706" y="15129"/>
                </a:cubicBezTo>
                <a:cubicBezTo>
                  <a:pt x="17567" y="14616"/>
                  <a:pt x="18530" y="14771"/>
                  <a:pt x="19308" y="14046"/>
                </a:cubicBezTo>
                <a:cubicBezTo>
                  <a:pt x="19204" y="13845"/>
                  <a:pt x="19049" y="13958"/>
                  <a:pt x="18945" y="13991"/>
                </a:cubicBezTo>
                <a:cubicBezTo>
                  <a:pt x="18209" y="14203"/>
                  <a:pt x="15595" y="14024"/>
                  <a:pt x="15211" y="14259"/>
                </a:cubicBezTo>
                <a:cubicBezTo>
                  <a:pt x="14973" y="14404"/>
                  <a:pt x="14725" y="14471"/>
                  <a:pt x="14476" y="14404"/>
                </a:cubicBezTo>
                <a:cubicBezTo>
                  <a:pt x="14175" y="14326"/>
                  <a:pt x="15959" y="14013"/>
                  <a:pt x="16385" y="13522"/>
                </a:cubicBezTo>
                <a:cubicBezTo>
                  <a:pt x="16592" y="13288"/>
                  <a:pt x="18437" y="12072"/>
                  <a:pt x="19266" y="11692"/>
                </a:cubicBezTo>
                <a:cubicBezTo>
                  <a:pt x="19163" y="11503"/>
                  <a:pt x="18873" y="11637"/>
                  <a:pt x="18924" y="11302"/>
                </a:cubicBezTo>
                <a:cubicBezTo>
                  <a:pt x="19370" y="11102"/>
                  <a:pt x="19878" y="11079"/>
                  <a:pt x="20396" y="10778"/>
                </a:cubicBezTo>
                <a:cubicBezTo>
                  <a:pt x="20179" y="10588"/>
                  <a:pt x="19910" y="10722"/>
                  <a:pt x="19682" y="10666"/>
                </a:cubicBezTo>
                <a:cubicBezTo>
                  <a:pt x="19817" y="10398"/>
                  <a:pt x="20044" y="10432"/>
                  <a:pt x="20230" y="10365"/>
                </a:cubicBezTo>
                <a:cubicBezTo>
                  <a:pt x="20396" y="10309"/>
                  <a:pt x="20770" y="9840"/>
                  <a:pt x="20697" y="9862"/>
                </a:cubicBezTo>
                <a:cubicBezTo>
                  <a:pt x="19992" y="10097"/>
                  <a:pt x="19276" y="10074"/>
                  <a:pt x="18571" y="10309"/>
                </a:cubicBezTo>
                <a:cubicBezTo>
                  <a:pt x="18333" y="10387"/>
                  <a:pt x="18074" y="10520"/>
                  <a:pt x="17970" y="10130"/>
                </a:cubicBezTo>
                <a:cubicBezTo>
                  <a:pt x="17939" y="10018"/>
                  <a:pt x="17971" y="9974"/>
                  <a:pt x="17639" y="10152"/>
                </a:cubicBezTo>
                <a:cubicBezTo>
                  <a:pt x="17505" y="10219"/>
                  <a:pt x="17339" y="10298"/>
                  <a:pt x="17214" y="10152"/>
                </a:cubicBezTo>
                <a:cubicBezTo>
                  <a:pt x="17297" y="9963"/>
                  <a:pt x="17453" y="10008"/>
                  <a:pt x="17577" y="9952"/>
                </a:cubicBezTo>
                <a:cubicBezTo>
                  <a:pt x="17888" y="9796"/>
                  <a:pt x="18769" y="9239"/>
                  <a:pt x="19070" y="9071"/>
                </a:cubicBezTo>
                <a:cubicBezTo>
                  <a:pt x="19692" y="8725"/>
                  <a:pt x="20075" y="8792"/>
                  <a:pt x="20718" y="8412"/>
                </a:cubicBezTo>
                <a:cubicBezTo>
                  <a:pt x="20500" y="8435"/>
                  <a:pt x="20573" y="8312"/>
                  <a:pt x="20366" y="8312"/>
                </a:cubicBezTo>
                <a:cubicBezTo>
                  <a:pt x="20273" y="8312"/>
                  <a:pt x="20169" y="8290"/>
                  <a:pt x="20179" y="8156"/>
                </a:cubicBezTo>
                <a:cubicBezTo>
                  <a:pt x="20179" y="8022"/>
                  <a:pt x="21330" y="7252"/>
                  <a:pt x="21175" y="7196"/>
                </a:cubicBezTo>
                <a:cubicBezTo>
                  <a:pt x="20750" y="7029"/>
                  <a:pt x="19619" y="7654"/>
                  <a:pt x="19899" y="7375"/>
                </a:cubicBezTo>
                <a:cubicBezTo>
                  <a:pt x="20314" y="6962"/>
                  <a:pt x="20376" y="6873"/>
                  <a:pt x="20687" y="6806"/>
                </a:cubicBezTo>
                <a:cubicBezTo>
                  <a:pt x="20847" y="6767"/>
                  <a:pt x="21242" y="6357"/>
                  <a:pt x="21600" y="6001"/>
                </a:cubicBezTo>
                <a:lnTo>
                  <a:pt x="21600" y="5231"/>
                </a:lnTo>
                <a:cubicBezTo>
                  <a:pt x="21390" y="5185"/>
                  <a:pt x="21169" y="5144"/>
                  <a:pt x="20978" y="5121"/>
                </a:cubicBezTo>
                <a:cubicBezTo>
                  <a:pt x="20439" y="5054"/>
                  <a:pt x="19691" y="5333"/>
                  <a:pt x="19183" y="5054"/>
                </a:cubicBezTo>
                <a:cubicBezTo>
                  <a:pt x="19567" y="4942"/>
                  <a:pt x="17359" y="4831"/>
                  <a:pt x="16644" y="4820"/>
                </a:cubicBezTo>
                <a:cubicBezTo>
                  <a:pt x="16695" y="4798"/>
                  <a:pt x="16737" y="4764"/>
                  <a:pt x="16747" y="4664"/>
                </a:cubicBezTo>
                <a:cubicBezTo>
                  <a:pt x="16758" y="4496"/>
                  <a:pt x="16540" y="4619"/>
                  <a:pt x="16498" y="4462"/>
                </a:cubicBezTo>
                <a:cubicBezTo>
                  <a:pt x="16757" y="4228"/>
                  <a:pt x="17058" y="4418"/>
                  <a:pt x="17328" y="4229"/>
                </a:cubicBezTo>
                <a:cubicBezTo>
                  <a:pt x="17473" y="4006"/>
                  <a:pt x="17172" y="3983"/>
                  <a:pt x="17245" y="3760"/>
                </a:cubicBezTo>
                <a:cubicBezTo>
                  <a:pt x="18084" y="3526"/>
                  <a:pt x="18250" y="3157"/>
                  <a:pt x="19079" y="2811"/>
                </a:cubicBezTo>
                <a:cubicBezTo>
                  <a:pt x="19131" y="2789"/>
                  <a:pt x="19174" y="2723"/>
                  <a:pt x="19132" y="2578"/>
                </a:cubicBezTo>
                <a:cubicBezTo>
                  <a:pt x="18780" y="2533"/>
                  <a:pt x="18375" y="2656"/>
                  <a:pt x="17981" y="2734"/>
                </a:cubicBezTo>
                <a:cubicBezTo>
                  <a:pt x="17370" y="2856"/>
                  <a:pt x="17379" y="2867"/>
                  <a:pt x="16840" y="2510"/>
                </a:cubicBezTo>
                <a:cubicBezTo>
                  <a:pt x="16736" y="2443"/>
                  <a:pt x="16560" y="2432"/>
                  <a:pt x="16457" y="2555"/>
                </a:cubicBezTo>
                <a:cubicBezTo>
                  <a:pt x="16249" y="2800"/>
                  <a:pt x="16093" y="2789"/>
                  <a:pt x="15907" y="2644"/>
                </a:cubicBezTo>
                <a:cubicBezTo>
                  <a:pt x="15710" y="2499"/>
                  <a:pt x="15409" y="2699"/>
                  <a:pt x="15160" y="2488"/>
                </a:cubicBezTo>
                <a:cubicBezTo>
                  <a:pt x="15648" y="2298"/>
                  <a:pt x="16084" y="2276"/>
                  <a:pt x="16602" y="2265"/>
                </a:cubicBezTo>
                <a:cubicBezTo>
                  <a:pt x="16446" y="1964"/>
                  <a:pt x="16228" y="1975"/>
                  <a:pt x="16041" y="1964"/>
                </a:cubicBezTo>
                <a:cubicBezTo>
                  <a:pt x="15305" y="1941"/>
                  <a:pt x="14569" y="1964"/>
                  <a:pt x="13843" y="1852"/>
                </a:cubicBezTo>
                <a:cubicBezTo>
                  <a:pt x="13657" y="1819"/>
                  <a:pt x="13471" y="1807"/>
                  <a:pt x="13305" y="1729"/>
                </a:cubicBezTo>
                <a:cubicBezTo>
                  <a:pt x="11365" y="870"/>
                  <a:pt x="13875" y="334"/>
                  <a:pt x="11770" y="100"/>
                </a:cubicBezTo>
                <a:cubicBezTo>
                  <a:pt x="11407" y="55"/>
                  <a:pt x="11033" y="33"/>
                  <a:pt x="10671" y="0"/>
                </a:cubicBezTo>
                <a:lnTo>
                  <a:pt x="0" y="0"/>
                </a:lnTo>
                <a:close/>
              </a:path>
            </a:pathLst>
          </a:custGeom>
          <a:ln w="12700">
            <a:miter lim="400000"/>
          </a:ln>
        </p:spPr>
      </p:pic>
      <p:sp>
        <p:nvSpPr>
          <p:cNvPr id="109" name="Content Placeholder 2"/>
          <p:cNvSpPr txBox="1">
            <a:spLocks noGrp="1"/>
          </p:cNvSpPr>
          <p:nvPr>
            <p:ph type="body" sz="half" idx="1"/>
          </p:nvPr>
        </p:nvSpPr>
        <p:spPr>
          <a:xfrm>
            <a:off x="5591943" y="1556791"/>
            <a:ext cx="6408713" cy="4620173"/>
          </a:xfrm>
          <a:prstGeom prst="rect">
            <a:avLst/>
          </a:prstGeom>
        </p:spPr>
        <p:txBody>
          <a:bodyPr/>
          <a:lstStyle/>
          <a:p>
            <a:pPr marL="0" indent="0" defTabSz="868680">
              <a:spcBef>
                <a:spcPts val="900"/>
              </a:spcBef>
              <a:buSzTx/>
              <a:buNone/>
              <a:defRPr sz="2280"/>
            </a:pPr>
            <a:r>
              <a:t>You start a new project, let’s say with a new simulation method or a new dataset and have a few ideas for possible analyses. </a:t>
            </a:r>
          </a:p>
          <a:p>
            <a:pPr marL="0" indent="0" defTabSz="868680">
              <a:spcBef>
                <a:spcPts val="900"/>
              </a:spcBef>
              <a:buSzTx/>
              <a:buNone/>
              <a:defRPr sz="2280"/>
            </a:pPr>
            <a:r>
              <a:t>You </a:t>
            </a:r>
            <a:r>
              <a:rPr b="1"/>
              <a:t>implement the analyses as prototypes</a:t>
            </a:r>
            <a:r>
              <a:t>; once each prototype is finished, you can </a:t>
            </a:r>
            <a:r>
              <a:rPr b="1"/>
              <a:t>confidently decide </a:t>
            </a:r>
            <a:r>
              <a:t>whether it is is a dead end, or worth pursuing.</a:t>
            </a:r>
          </a:p>
          <a:p>
            <a:pPr marL="0" indent="0" defTabSz="868680">
              <a:spcBef>
                <a:spcPts val="900"/>
              </a:spcBef>
              <a:buSzTx/>
              <a:buNone/>
              <a:defRPr sz="2280"/>
            </a:pPr>
            <a:r>
              <a:t>Once you find an idea on which it is worth spending energy, you take the prototype and </a:t>
            </a:r>
            <a:r>
              <a:rPr b="1"/>
              <a:t>easily re-organize and optimize it </a:t>
            </a:r>
            <a:r>
              <a:t>so that it scales up to the full size of your problem.</a:t>
            </a:r>
          </a:p>
          <a:p>
            <a:pPr marL="0" indent="0" defTabSz="868680">
              <a:spcBef>
                <a:spcPts val="900"/>
              </a:spcBef>
              <a:buSzTx/>
              <a:buNone/>
              <a:defRPr sz="2280" b="1"/>
            </a:pPr>
            <a:r>
              <a:t>As expected</a:t>
            </a:r>
            <a:r>
              <a:rPr b="0"/>
              <a:t>, the scaled-up experiment delivers good results, and your next paper is under way.</a:t>
            </a:r>
          </a:p>
        </p:txBody>
      </p:sp>
      <p:sp>
        <p:nvSpPr>
          <p:cNvPr id="110" name="Date Placeholder 5"/>
          <p:cNvSpPr txBox="1"/>
          <p:nvPr/>
        </p:nvSpPr>
        <p:spPr>
          <a:xfrm>
            <a:off x="883919" y="6356350"/>
            <a:ext cx="26517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spcBef>
                <a:spcPts val="600"/>
              </a:spcBef>
              <a:defRPr sz="1200">
                <a:solidFill>
                  <a:srgbClr val="FFFFFF"/>
                </a:solidFill>
              </a:defRPr>
            </a:lvl1pPr>
          </a:lstStyle>
          <a:p>
            <a:r>
              <a:rPr lang="de-DE" dirty="0"/>
              <a:t>August</a:t>
            </a:r>
            <a:r>
              <a:rPr dirty="0"/>
              <a:t> 202</a:t>
            </a:r>
            <a:r>
              <a:rPr lang="de-DE" dirty="0"/>
              <a:t>6</a:t>
            </a:r>
            <a:r>
              <a:rPr dirty="0"/>
              <a:t>, CC BY-SA 4.0</a:t>
            </a:r>
          </a:p>
        </p:txBody>
      </p:sp>
      <p:sp>
        <p:nvSpPr>
          <p:cNvPr id="111"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92500" lnSpcReduction="10000"/>
          </a:bodyPr>
          <a:lstStyle>
            <a:lvl1pPr>
              <a:spcBef>
                <a:spcPts val="600"/>
              </a:spcBef>
            </a:lvl1pPr>
          </a:lstStyle>
          <a:p>
            <a:fld id="{86CB4B4D-7CA3-9044-876B-883B54F8677D}" type="slidenum">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Footer Placeholder 7"/>
          <p:cNvSpPr txBox="1"/>
          <p:nvPr/>
        </p:nvSpPr>
        <p:spPr>
          <a:xfrm>
            <a:off x="3550919" y="6356350"/>
            <a:ext cx="33375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spcBef>
                <a:spcPts val="600"/>
              </a:spcBef>
              <a:defRPr sz="1200">
                <a:solidFill>
                  <a:srgbClr val="888888"/>
                </a:solidFill>
              </a:defRPr>
            </a:lvl1pPr>
          </a:lstStyle>
          <a:p>
            <a:r>
              <a:t>Testing scientific code, v16.0</a:t>
            </a:r>
          </a:p>
        </p:txBody>
      </p:sp>
      <p:pic>
        <p:nvPicPr>
          <p:cNvPr id="114" name="Picture 2" descr="Picture 2"/>
          <p:cNvPicPr>
            <a:picLocks noChangeAspect="1"/>
          </p:cNvPicPr>
          <p:nvPr/>
        </p:nvPicPr>
        <p:blipFill>
          <a:blip r:embed="rId3"/>
          <a:srcRect l="1"/>
          <a:stretch>
            <a:fillRect/>
          </a:stretch>
        </p:blipFill>
        <p:spPr>
          <a:xfrm>
            <a:off x="6734260" y="9"/>
            <a:ext cx="5457741" cy="6857991"/>
          </a:xfrm>
          <a:custGeom>
            <a:avLst/>
            <a:gdLst/>
            <a:ahLst/>
            <a:cxnLst>
              <a:cxn ang="0">
                <a:pos x="wd2" y="hd2"/>
              </a:cxn>
              <a:cxn ang="5400000">
                <a:pos x="wd2" y="hd2"/>
              </a:cxn>
              <a:cxn ang="10800000">
                <a:pos x="wd2" y="hd2"/>
              </a:cxn>
              <a:cxn ang="16200000">
                <a:pos x="wd2" y="hd2"/>
              </a:cxn>
            </a:cxnLst>
            <a:rect l="0" t="0" r="r" b="b"/>
            <a:pathLst>
              <a:path w="21547" h="21600" extrusionOk="0">
                <a:moveTo>
                  <a:pt x="3776" y="0"/>
                </a:moveTo>
                <a:lnTo>
                  <a:pt x="4191" y="138"/>
                </a:lnTo>
                <a:cubicBezTo>
                  <a:pt x="4373" y="199"/>
                  <a:pt x="4554" y="258"/>
                  <a:pt x="4738" y="309"/>
                </a:cubicBezTo>
                <a:cubicBezTo>
                  <a:pt x="4686" y="422"/>
                  <a:pt x="4633" y="400"/>
                  <a:pt x="4580" y="389"/>
                </a:cubicBezTo>
                <a:cubicBezTo>
                  <a:pt x="4265" y="343"/>
                  <a:pt x="3938" y="309"/>
                  <a:pt x="3634" y="184"/>
                </a:cubicBezTo>
                <a:cubicBezTo>
                  <a:pt x="3560" y="161"/>
                  <a:pt x="3477" y="161"/>
                  <a:pt x="3446" y="240"/>
                </a:cubicBezTo>
                <a:cubicBezTo>
                  <a:pt x="3393" y="354"/>
                  <a:pt x="3466" y="422"/>
                  <a:pt x="3540" y="479"/>
                </a:cubicBezTo>
                <a:cubicBezTo>
                  <a:pt x="3666" y="581"/>
                  <a:pt x="3814" y="559"/>
                  <a:pt x="3950" y="570"/>
                </a:cubicBezTo>
                <a:cubicBezTo>
                  <a:pt x="4328" y="627"/>
                  <a:pt x="4507" y="785"/>
                  <a:pt x="4591" y="1149"/>
                </a:cubicBezTo>
                <a:cubicBezTo>
                  <a:pt x="4265" y="1001"/>
                  <a:pt x="3939" y="1183"/>
                  <a:pt x="3624" y="1081"/>
                </a:cubicBezTo>
                <a:cubicBezTo>
                  <a:pt x="3540" y="1059"/>
                  <a:pt x="3413" y="1093"/>
                  <a:pt x="3455" y="1218"/>
                </a:cubicBezTo>
                <a:cubicBezTo>
                  <a:pt x="3497" y="1331"/>
                  <a:pt x="3634" y="1421"/>
                  <a:pt x="3392" y="1399"/>
                </a:cubicBezTo>
                <a:cubicBezTo>
                  <a:pt x="3214" y="1387"/>
                  <a:pt x="3161" y="1251"/>
                  <a:pt x="3109" y="1104"/>
                </a:cubicBezTo>
                <a:cubicBezTo>
                  <a:pt x="3067" y="1024"/>
                  <a:pt x="2951" y="978"/>
                  <a:pt x="2867" y="1024"/>
                </a:cubicBezTo>
                <a:cubicBezTo>
                  <a:pt x="2762" y="1069"/>
                  <a:pt x="2794" y="1194"/>
                  <a:pt x="2794" y="1285"/>
                </a:cubicBezTo>
                <a:cubicBezTo>
                  <a:pt x="2783" y="1455"/>
                  <a:pt x="2868" y="1535"/>
                  <a:pt x="3015" y="1569"/>
                </a:cubicBezTo>
                <a:cubicBezTo>
                  <a:pt x="3193" y="1614"/>
                  <a:pt x="3371" y="1671"/>
                  <a:pt x="3602" y="1739"/>
                </a:cubicBezTo>
                <a:cubicBezTo>
                  <a:pt x="3350" y="1852"/>
                  <a:pt x="3162" y="1830"/>
                  <a:pt x="2972" y="1739"/>
                </a:cubicBezTo>
                <a:cubicBezTo>
                  <a:pt x="2741" y="1637"/>
                  <a:pt x="2436" y="1501"/>
                  <a:pt x="2247" y="1626"/>
                </a:cubicBezTo>
                <a:cubicBezTo>
                  <a:pt x="1963" y="1808"/>
                  <a:pt x="1733" y="1694"/>
                  <a:pt x="1481" y="1660"/>
                </a:cubicBezTo>
                <a:cubicBezTo>
                  <a:pt x="955" y="1592"/>
                  <a:pt x="1281" y="1489"/>
                  <a:pt x="755" y="1432"/>
                </a:cubicBezTo>
                <a:cubicBezTo>
                  <a:pt x="545" y="1410"/>
                  <a:pt x="325" y="1319"/>
                  <a:pt x="21" y="1444"/>
                </a:cubicBezTo>
                <a:cubicBezTo>
                  <a:pt x="1397" y="2102"/>
                  <a:pt x="2047" y="2056"/>
                  <a:pt x="3276" y="2862"/>
                </a:cubicBezTo>
                <a:cubicBezTo>
                  <a:pt x="3224" y="2942"/>
                  <a:pt x="3172" y="2909"/>
                  <a:pt x="3120" y="2898"/>
                </a:cubicBezTo>
                <a:cubicBezTo>
                  <a:pt x="3036" y="2886"/>
                  <a:pt x="2931" y="2840"/>
                  <a:pt x="2910" y="2988"/>
                </a:cubicBezTo>
                <a:cubicBezTo>
                  <a:pt x="2899" y="3101"/>
                  <a:pt x="2961" y="3159"/>
                  <a:pt x="3066" y="3170"/>
                </a:cubicBezTo>
                <a:cubicBezTo>
                  <a:pt x="3371" y="3215"/>
                  <a:pt x="3644" y="3374"/>
                  <a:pt x="3917" y="3510"/>
                </a:cubicBezTo>
                <a:cubicBezTo>
                  <a:pt x="4043" y="3567"/>
                  <a:pt x="4181" y="3647"/>
                  <a:pt x="4129" y="3851"/>
                </a:cubicBezTo>
                <a:cubicBezTo>
                  <a:pt x="4024" y="3908"/>
                  <a:pt x="3950" y="3828"/>
                  <a:pt x="3866" y="3816"/>
                </a:cubicBezTo>
                <a:cubicBezTo>
                  <a:pt x="3781" y="3805"/>
                  <a:pt x="3581" y="3851"/>
                  <a:pt x="3634" y="3885"/>
                </a:cubicBezTo>
                <a:cubicBezTo>
                  <a:pt x="3875" y="4010"/>
                  <a:pt x="3435" y="4316"/>
                  <a:pt x="3729" y="4316"/>
                </a:cubicBezTo>
                <a:cubicBezTo>
                  <a:pt x="4212" y="4316"/>
                  <a:pt x="4475" y="4861"/>
                  <a:pt x="4937" y="4872"/>
                </a:cubicBezTo>
                <a:cubicBezTo>
                  <a:pt x="5011" y="4873"/>
                  <a:pt x="5042" y="4974"/>
                  <a:pt x="5042" y="5054"/>
                </a:cubicBezTo>
                <a:cubicBezTo>
                  <a:pt x="5042" y="5156"/>
                  <a:pt x="4968" y="5167"/>
                  <a:pt x="4895" y="5179"/>
                </a:cubicBezTo>
                <a:cubicBezTo>
                  <a:pt x="4779" y="5190"/>
                  <a:pt x="4653" y="5055"/>
                  <a:pt x="4506" y="5248"/>
                </a:cubicBezTo>
                <a:cubicBezTo>
                  <a:pt x="4779" y="5361"/>
                  <a:pt x="5064" y="5474"/>
                  <a:pt x="5053" y="5860"/>
                </a:cubicBezTo>
                <a:cubicBezTo>
                  <a:pt x="5053" y="5962"/>
                  <a:pt x="5168" y="6007"/>
                  <a:pt x="5252" y="6030"/>
                </a:cubicBezTo>
                <a:cubicBezTo>
                  <a:pt x="5399" y="6075"/>
                  <a:pt x="5514" y="6144"/>
                  <a:pt x="5598" y="6291"/>
                </a:cubicBezTo>
                <a:cubicBezTo>
                  <a:pt x="5598" y="6325"/>
                  <a:pt x="5598" y="6348"/>
                  <a:pt x="5598" y="6382"/>
                </a:cubicBezTo>
                <a:cubicBezTo>
                  <a:pt x="5577" y="6734"/>
                  <a:pt x="5367" y="6723"/>
                  <a:pt x="5136" y="6666"/>
                </a:cubicBezTo>
                <a:cubicBezTo>
                  <a:pt x="4863" y="6598"/>
                  <a:pt x="4591" y="6461"/>
                  <a:pt x="4296" y="6586"/>
                </a:cubicBezTo>
                <a:cubicBezTo>
                  <a:pt x="4706" y="6757"/>
                  <a:pt x="5158" y="6768"/>
                  <a:pt x="5536" y="7006"/>
                </a:cubicBezTo>
                <a:cubicBezTo>
                  <a:pt x="4128" y="7052"/>
                  <a:pt x="2889" y="6291"/>
                  <a:pt x="1523" y="5996"/>
                </a:cubicBezTo>
                <a:cubicBezTo>
                  <a:pt x="1565" y="6189"/>
                  <a:pt x="1681" y="6235"/>
                  <a:pt x="1775" y="6258"/>
                </a:cubicBezTo>
                <a:cubicBezTo>
                  <a:pt x="2280" y="6405"/>
                  <a:pt x="2720" y="6700"/>
                  <a:pt x="3182" y="6950"/>
                </a:cubicBezTo>
                <a:cubicBezTo>
                  <a:pt x="3371" y="7052"/>
                  <a:pt x="3508" y="7166"/>
                  <a:pt x="3582" y="7381"/>
                </a:cubicBezTo>
                <a:cubicBezTo>
                  <a:pt x="3645" y="7586"/>
                  <a:pt x="3771" y="7677"/>
                  <a:pt x="4002" y="7620"/>
                </a:cubicBezTo>
                <a:cubicBezTo>
                  <a:pt x="4191" y="7575"/>
                  <a:pt x="4391" y="7597"/>
                  <a:pt x="4591" y="7620"/>
                </a:cubicBezTo>
                <a:cubicBezTo>
                  <a:pt x="4812" y="7643"/>
                  <a:pt x="5063" y="7870"/>
                  <a:pt x="5011" y="7995"/>
                </a:cubicBezTo>
                <a:cubicBezTo>
                  <a:pt x="4906" y="8199"/>
                  <a:pt x="4727" y="8096"/>
                  <a:pt x="4580" y="8074"/>
                </a:cubicBezTo>
                <a:cubicBezTo>
                  <a:pt x="4401" y="8051"/>
                  <a:pt x="4075" y="7995"/>
                  <a:pt x="4075" y="8018"/>
                </a:cubicBezTo>
                <a:cubicBezTo>
                  <a:pt x="3960" y="8528"/>
                  <a:pt x="3697" y="8142"/>
                  <a:pt x="3508" y="8142"/>
                </a:cubicBezTo>
                <a:cubicBezTo>
                  <a:pt x="3330" y="8142"/>
                  <a:pt x="3151" y="8085"/>
                  <a:pt x="2983" y="8040"/>
                </a:cubicBezTo>
                <a:cubicBezTo>
                  <a:pt x="2763" y="7983"/>
                  <a:pt x="2562" y="8085"/>
                  <a:pt x="2352" y="8108"/>
                </a:cubicBezTo>
                <a:cubicBezTo>
                  <a:pt x="2163" y="8130"/>
                  <a:pt x="2269" y="8426"/>
                  <a:pt x="2153" y="8551"/>
                </a:cubicBezTo>
                <a:cubicBezTo>
                  <a:pt x="2132" y="8585"/>
                  <a:pt x="2111" y="8585"/>
                  <a:pt x="2090" y="8585"/>
                </a:cubicBezTo>
                <a:cubicBezTo>
                  <a:pt x="2027" y="9471"/>
                  <a:pt x="923" y="9255"/>
                  <a:pt x="923" y="9289"/>
                </a:cubicBezTo>
                <a:cubicBezTo>
                  <a:pt x="828" y="9346"/>
                  <a:pt x="714" y="9209"/>
                  <a:pt x="599" y="9345"/>
                </a:cubicBezTo>
                <a:cubicBezTo>
                  <a:pt x="1092" y="9969"/>
                  <a:pt x="1849" y="10117"/>
                  <a:pt x="2521" y="10582"/>
                </a:cubicBezTo>
                <a:cubicBezTo>
                  <a:pt x="1964" y="10741"/>
                  <a:pt x="1638" y="10197"/>
                  <a:pt x="1229" y="10265"/>
                </a:cubicBezTo>
                <a:cubicBezTo>
                  <a:pt x="1029" y="10435"/>
                  <a:pt x="1628" y="10708"/>
                  <a:pt x="1050" y="10788"/>
                </a:cubicBezTo>
                <a:cubicBezTo>
                  <a:pt x="1302" y="10935"/>
                  <a:pt x="1481" y="11082"/>
                  <a:pt x="1659" y="11252"/>
                </a:cubicBezTo>
                <a:cubicBezTo>
                  <a:pt x="1964" y="11559"/>
                  <a:pt x="2027" y="11764"/>
                  <a:pt x="1880" y="12172"/>
                </a:cubicBezTo>
                <a:cubicBezTo>
                  <a:pt x="1786" y="12445"/>
                  <a:pt x="1649" y="12695"/>
                  <a:pt x="1775" y="13012"/>
                </a:cubicBezTo>
                <a:cubicBezTo>
                  <a:pt x="1859" y="13228"/>
                  <a:pt x="1827" y="13376"/>
                  <a:pt x="1512" y="13274"/>
                </a:cubicBezTo>
                <a:cubicBezTo>
                  <a:pt x="1176" y="13172"/>
                  <a:pt x="1050" y="13364"/>
                  <a:pt x="1135" y="13750"/>
                </a:cubicBezTo>
                <a:cubicBezTo>
                  <a:pt x="1187" y="14000"/>
                  <a:pt x="1134" y="14079"/>
                  <a:pt x="903" y="14045"/>
                </a:cubicBezTo>
                <a:cubicBezTo>
                  <a:pt x="651" y="14011"/>
                  <a:pt x="409" y="13853"/>
                  <a:pt x="94" y="13932"/>
                </a:cubicBezTo>
                <a:cubicBezTo>
                  <a:pt x="346" y="14387"/>
                  <a:pt x="881" y="14250"/>
                  <a:pt x="1175" y="14681"/>
                </a:cubicBezTo>
                <a:cubicBezTo>
                  <a:pt x="829" y="14681"/>
                  <a:pt x="556" y="14681"/>
                  <a:pt x="304" y="14590"/>
                </a:cubicBezTo>
                <a:cubicBezTo>
                  <a:pt x="199" y="14556"/>
                  <a:pt x="84" y="14511"/>
                  <a:pt x="21" y="14648"/>
                </a:cubicBezTo>
                <a:cubicBezTo>
                  <a:pt x="-53" y="14806"/>
                  <a:pt x="93" y="14862"/>
                  <a:pt x="177" y="14885"/>
                </a:cubicBezTo>
                <a:cubicBezTo>
                  <a:pt x="419" y="14964"/>
                  <a:pt x="608" y="15146"/>
                  <a:pt x="818" y="15294"/>
                </a:cubicBezTo>
                <a:cubicBezTo>
                  <a:pt x="1270" y="15612"/>
                  <a:pt x="1764" y="15884"/>
                  <a:pt x="2142" y="16406"/>
                </a:cubicBezTo>
                <a:cubicBezTo>
                  <a:pt x="1669" y="16270"/>
                  <a:pt x="1312" y="15953"/>
                  <a:pt x="860" y="15896"/>
                </a:cubicBezTo>
                <a:cubicBezTo>
                  <a:pt x="1249" y="16373"/>
                  <a:pt x="1742" y="16691"/>
                  <a:pt x="2205" y="17042"/>
                </a:cubicBezTo>
                <a:cubicBezTo>
                  <a:pt x="2341" y="17145"/>
                  <a:pt x="2478" y="17213"/>
                  <a:pt x="2499" y="17429"/>
                </a:cubicBezTo>
                <a:cubicBezTo>
                  <a:pt x="2562" y="17849"/>
                  <a:pt x="2731" y="18190"/>
                  <a:pt x="3109" y="18371"/>
                </a:cubicBezTo>
                <a:cubicBezTo>
                  <a:pt x="3109" y="18371"/>
                  <a:pt x="3088" y="18438"/>
                  <a:pt x="3077" y="18472"/>
                </a:cubicBezTo>
                <a:cubicBezTo>
                  <a:pt x="2846" y="18484"/>
                  <a:pt x="2667" y="18234"/>
                  <a:pt x="2383" y="18325"/>
                </a:cubicBezTo>
                <a:cubicBezTo>
                  <a:pt x="2667" y="18666"/>
                  <a:pt x="2899" y="18961"/>
                  <a:pt x="3287" y="19120"/>
                </a:cubicBezTo>
                <a:cubicBezTo>
                  <a:pt x="3603" y="19245"/>
                  <a:pt x="3992" y="19325"/>
                  <a:pt x="4223" y="19734"/>
                </a:cubicBezTo>
                <a:cubicBezTo>
                  <a:pt x="3960" y="19813"/>
                  <a:pt x="3760" y="19711"/>
                  <a:pt x="3560" y="19642"/>
                </a:cubicBezTo>
                <a:cubicBezTo>
                  <a:pt x="3255" y="19529"/>
                  <a:pt x="2951" y="19404"/>
                  <a:pt x="2647" y="19290"/>
                </a:cubicBezTo>
                <a:cubicBezTo>
                  <a:pt x="2531" y="19245"/>
                  <a:pt x="2405" y="19222"/>
                  <a:pt x="2332" y="19426"/>
                </a:cubicBezTo>
                <a:cubicBezTo>
                  <a:pt x="2720" y="19472"/>
                  <a:pt x="2952" y="19745"/>
                  <a:pt x="3193" y="20006"/>
                </a:cubicBezTo>
                <a:cubicBezTo>
                  <a:pt x="3330" y="20154"/>
                  <a:pt x="3445" y="20346"/>
                  <a:pt x="3687" y="20278"/>
                </a:cubicBezTo>
                <a:cubicBezTo>
                  <a:pt x="3813" y="20243"/>
                  <a:pt x="3896" y="20346"/>
                  <a:pt x="3886" y="20482"/>
                </a:cubicBezTo>
                <a:cubicBezTo>
                  <a:pt x="3833" y="20959"/>
                  <a:pt x="4138" y="21118"/>
                  <a:pt x="4453" y="21209"/>
                </a:cubicBezTo>
                <a:cubicBezTo>
                  <a:pt x="4684" y="21277"/>
                  <a:pt x="4903" y="21379"/>
                  <a:pt x="5117" y="21492"/>
                </a:cubicBezTo>
                <a:lnTo>
                  <a:pt x="5312" y="21600"/>
                </a:lnTo>
                <a:lnTo>
                  <a:pt x="21547" y="21600"/>
                </a:lnTo>
                <a:lnTo>
                  <a:pt x="21547" y="0"/>
                </a:lnTo>
                <a:lnTo>
                  <a:pt x="3776" y="0"/>
                </a:lnTo>
                <a:close/>
              </a:path>
            </a:pathLst>
          </a:custGeom>
          <a:ln w="12700">
            <a:miter lim="400000"/>
          </a:ln>
        </p:spPr>
      </p:pic>
      <p:sp>
        <p:nvSpPr>
          <p:cNvPr id="115" name="Title 1"/>
          <p:cNvSpPr txBox="1">
            <a:spLocks noGrp="1"/>
          </p:cNvSpPr>
          <p:nvPr>
            <p:ph type="title"/>
          </p:nvPr>
        </p:nvSpPr>
        <p:spPr>
          <a:xfrm>
            <a:off x="407368" y="365125"/>
            <a:ext cx="7057998" cy="975642"/>
          </a:xfrm>
          <a:prstGeom prst="rect">
            <a:avLst/>
          </a:prstGeom>
        </p:spPr>
        <p:txBody>
          <a:bodyPr/>
          <a:lstStyle/>
          <a:p>
            <a:r>
              <a:t>How to reach enlightenment</a:t>
            </a:r>
          </a:p>
        </p:txBody>
      </p:sp>
      <p:sp>
        <p:nvSpPr>
          <p:cNvPr id="116" name="Content Placeholder 5"/>
          <p:cNvSpPr txBox="1">
            <a:spLocks noGrp="1"/>
          </p:cNvSpPr>
          <p:nvPr>
            <p:ph type="body" sz="half" idx="1"/>
          </p:nvPr>
        </p:nvSpPr>
        <p:spPr>
          <a:xfrm>
            <a:off x="638180" y="1556791"/>
            <a:ext cx="5457821" cy="4620173"/>
          </a:xfrm>
          <a:prstGeom prst="rect">
            <a:avLst/>
          </a:prstGeom>
        </p:spPr>
        <p:txBody>
          <a:bodyPr/>
          <a:lstStyle/>
          <a:p>
            <a:pPr>
              <a:defRPr sz="2400"/>
            </a:pPr>
            <a:r>
              <a:t>How do we get to the blessed state of </a:t>
            </a:r>
            <a:r>
              <a:rPr b="1"/>
              <a:t>confidence</a:t>
            </a:r>
            <a:r>
              <a:t> and </a:t>
            </a:r>
            <a:r>
              <a:rPr b="1"/>
              <a:t>efficiency</a:t>
            </a:r>
            <a:r>
              <a:t>?</a:t>
            </a:r>
          </a:p>
          <a:p>
            <a:pPr>
              <a:defRPr sz="2400"/>
            </a:pPr>
            <a:r>
              <a:t>Being a Python expert is not sufficient, good programming practices make a big difference</a:t>
            </a:r>
          </a:p>
          <a:p>
            <a:pPr>
              <a:defRPr sz="2400"/>
            </a:pPr>
            <a:r>
              <a:t>We can learn a lot from the development methods developed for commercial and open source software</a:t>
            </a:r>
          </a:p>
        </p:txBody>
      </p:sp>
      <p:sp>
        <p:nvSpPr>
          <p:cNvPr id="117" name="Date Placeholder 6"/>
          <p:cNvSpPr txBox="1"/>
          <p:nvPr/>
        </p:nvSpPr>
        <p:spPr>
          <a:xfrm>
            <a:off x="883919" y="6356350"/>
            <a:ext cx="24993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spcBef>
                <a:spcPts val="600"/>
              </a:spcBef>
              <a:defRPr sz="1200">
                <a:solidFill>
                  <a:srgbClr val="888888"/>
                </a:solidFill>
              </a:defRPr>
            </a:lvl1pPr>
          </a:lstStyle>
          <a:p>
            <a:r>
              <a:rPr lang="de-DE" dirty="0"/>
              <a:t>August 2026, CC BY-SA 4.0</a:t>
            </a:r>
          </a:p>
        </p:txBody>
      </p:sp>
      <p:sp>
        <p:nvSpPr>
          <p:cNvPr id="118" name="Slide Number Placeholder 8"/>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92500" lnSpcReduction="10000"/>
          </a:bodyPr>
          <a:lstStyle>
            <a:lvl1pPr>
              <a:spcBef>
                <a:spcPts val="600"/>
              </a:spcBef>
              <a:defRPr>
                <a:solidFill>
                  <a:srgbClr val="FFFFFF"/>
                </a:solidFill>
              </a:defRPr>
            </a:lvl1p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123" name="Title 1"/>
          <p:cNvSpPr txBox="1">
            <a:spLocks noGrp="1"/>
          </p:cNvSpPr>
          <p:nvPr>
            <p:ph type="title"/>
          </p:nvPr>
        </p:nvSpPr>
        <p:spPr>
          <a:xfrm>
            <a:off x="838200" y="365125"/>
            <a:ext cx="10515600" cy="903634"/>
          </a:xfrm>
          <a:prstGeom prst="rect">
            <a:avLst/>
          </a:prstGeom>
        </p:spPr>
        <p:txBody>
          <a:bodyPr/>
          <a:lstStyle/>
          <a:p>
            <a:r>
              <a:t>Outline</a:t>
            </a:r>
          </a:p>
        </p:txBody>
      </p:sp>
      <p:sp>
        <p:nvSpPr>
          <p:cNvPr id="124" name="Content Placeholder 2"/>
          <p:cNvSpPr txBox="1">
            <a:spLocks noGrp="1"/>
          </p:cNvSpPr>
          <p:nvPr>
            <p:ph type="body" idx="1"/>
          </p:nvPr>
        </p:nvSpPr>
        <p:spPr>
          <a:xfrm>
            <a:off x="838200" y="1412775"/>
            <a:ext cx="10515600" cy="4764189"/>
          </a:xfrm>
          <a:prstGeom prst="rect">
            <a:avLst/>
          </a:prstGeom>
        </p:spPr>
        <p:txBody>
          <a:bodyPr/>
          <a:lstStyle/>
          <a:p>
            <a:r>
              <a:rPr dirty="0"/>
              <a:t>The agile programming cycle</a:t>
            </a:r>
          </a:p>
          <a:p>
            <a:r>
              <a:rPr dirty="0"/>
              <a:t>Testing scientific code basics</a:t>
            </a:r>
          </a:p>
          <a:p>
            <a:r>
              <a:rPr dirty="0"/>
              <a:t>Testing patterns for scientific code</a:t>
            </a:r>
          </a:p>
          <a:p>
            <a:r>
              <a:rPr dirty="0"/>
              <a:t>Debugging</a:t>
            </a:r>
          </a:p>
          <a:p>
            <a:r>
              <a:rPr dirty="0"/>
              <a:t>Continuous Integration</a:t>
            </a:r>
          </a:p>
        </p:txBody>
      </p:sp>
      <p:sp>
        <p:nvSpPr>
          <p:cNvPr id="125"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126"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129" name="Title 1"/>
          <p:cNvSpPr txBox="1">
            <a:spLocks noGrp="1"/>
          </p:cNvSpPr>
          <p:nvPr>
            <p:ph type="title"/>
          </p:nvPr>
        </p:nvSpPr>
        <p:spPr>
          <a:xfrm>
            <a:off x="838200" y="365125"/>
            <a:ext cx="10515600" cy="903634"/>
          </a:xfrm>
          <a:prstGeom prst="rect">
            <a:avLst/>
          </a:prstGeom>
        </p:spPr>
        <p:txBody>
          <a:bodyPr/>
          <a:lstStyle/>
          <a:p>
            <a:r>
              <a:t>Warm-up project</a:t>
            </a:r>
          </a:p>
        </p:txBody>
      </p:sp>
      <p:sp>
        <p:nvSpPr>
          <p:cNvPr id="130" name="Content Placeholder 2"/>
          <p:cNvSpPr txBox="1">
            <a:spLocks noGrp="1"/>
          </p:cNvSpPr>
          <p:nvPr>
            <p:ph type="body" idx="1"/>
          </p:nvPr>
        </p:nvSpPr>
        <p:spPr>
          <a:xfrm>
            <a:off x="838200" y="1412775"/>
            <a:ext cx="10802416" cy="4764189"/>
          </a:xfrm>
          <a:prstGeom prst="rect">
            <a:avLst/>
          </a:prstGeom>
        </p:spPr>
        <p:txBody>
          <a:bodyPr/>
          <a:lstStyle/>
          <a:p>
            <a:r>
              <a:rPr dirty="0"/>
              <a:t>Go to the directory called </a:t>
            </a:r>
            <a:r>
              <a:rPr sz="2400" dirty="0" err="1">
                <a:latin typeface="Consolas"/>
                <a:ea typeface="Consolas"/>
                <a:cs typeface="Consolas"/>
                <a:sym typeface="Consolas"/>
              </a:rPr>
              <a:t>hands_on</a:t>
            </a:r>
            <a:r>
              <a:rPr sz="2400" dirty="0">
                <a:latin typeface="Consolas"/>
                <a:ea typeface="Consolas"/>
                <a:cs typeface="Consolas"/>
                <a:sym typeface="Consolas"/>
              </a:rPr>
              <a:t>/</a:t>
            </a:r>
            <a:r>
              <a:rPr sz="2400" dirty="0" err="1">
                <a:latin typeface="Consolas"/>
                <a:ea typeface="Consolas"/>
                <a:cs typeface="Consolas"/>
                <a:sym typeface="Consolas"/>
              </a:rPr>
              <a:t>local_maxima</a:t>
            </a:r>
            <a:r>
              <a:rPr sz="2400" dirty="0">
                <a:latin typeface="Consolas"/>
                <a:ea typeface="Consolas"/>
                <a:cs typeface="Consolas"/>
                <a:sym typeface="Consolas"/>
              </a:rPr>
              <a:t> </a:t>
            </a:r>
          </a:p>
          <a:p>
            <a:r>
              <a:rPr dirty="0"/>
              <a:t>In the file called </a:t>
            </a:r>
            <a:r>
              <a:rPr sz="2400" dirty="0" err="1">
                <a:latin typeface="Consolas"/>
                <a:ea typeface="Consolas"/>
                <a:cs typeface="Consolas"/>
                <a:sym typeface="Consolas"/>
              </a:rPr>
              <a:t>local_maxima.py</a:t>
            </a:r>
            <a:r>
              <a:rPr dirty="0"/>
              <a:t>, write a function </a:t>
            </a:r>
            <a:r>
              <a:rPr sz="2400" dirty="0" err="1">
                <a:latin typeface="Consolas"/>
                <a:ea typeface="Consolas"/>
                <a:cs typeface="Consolas"/>
                <a:sym typeface="Consolas"/>
              </a:rPr>
              <a:t>find_maxima</a:t>
            </a:r>
            <a:r>
              <a:rPr sz="2400" dirty="0">
                <a:latin typeface="Consolas"/>
                <a:ea typeface="Consolas"/>
                <a:cs typeface="Consolas"/>
                <a:sym typeface="Consolas"/>
              </a:rPr>
              <a:t> </a:t>
            </a:r>
            <a:r>
              <a:rPr dirty="0"/>
              <a:t>that finds the indices of local maxima in a list of numbers</a:t>
            </a:r>
            <a:br>
              <a:rPr dirty="0"/>
            </a:br>
            <a:endParaRPr dirty="0"/>
          </a:p>
          <a:p>
            <a:pPr marL="0" indent="0">
              <a:buSzTx/>
              <a:buNone/>
              <a:defRPr sz="3200"/>
            </a:pPr>
            <a:br>
              <a:rPr dirty="0"/>
            </a:br>
            <a:endParaRPr dirty="0"/>
          </a:p>
        </p:txBody>
      </p:sp>
      <p:sp>
        <p:nvSpPr>
          <p:cNvPr id="131"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132"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grpSp>
        <p:nvGrpSpPr>
          <p:cNvPr id="136" name="Group 10"/>
          <p:cNvGrpSpPr/>
          <p:nvPr/>
        </p:nvGrpSpPr>
        <p:grpSpPr>
          <a:xfrm>
            <a:off x="911424" y="3067105"/>
            <a:ext cx="4208098" cy="3134064"/>
            <a:chOff x="0" y="0"/>
            <a:chExt cx="4208097" cy="3134063"/>
          </a:xfrm>
        </p:grpSpPr>
        <p:pic>
          <p:nvPicPr>
            <p:cNvPr id="133" name="Picture 9" descr="Picture 9"/>
            <p:cNvPicPr>
              <a:picLocks noChangeAspect="1"/>
            </p:cNvPicPr>
            <p:nvPr/>
          </p:nvPicPr>
          <p:blipFill>
            <a:blip r:embed="rId3"/>
            <a:stretch>
              <a:fillRect/>
            </a:stretch>
          </p:blipFill>
          <p:spPr>
            <a:xfrm>
              <a:off x="0" y="0"/>
              <a:ext cx="4208098" cy="3134064"/>
            </a:xfrm>
            <a:prstGeom prst="rect">
              <a:avLst/>
            </a:prstGeom>
            <a:ln w="12700" cap="flat">
              <a:noFill/>
              <a:miter lim="400000"/>
            </a:ln>
            <a:effectLst/>
          </p:spPr>
        </p:pic>
        <p:sp>
          <p:nvSpPr>
            <p:cNvPr id="134" name="Oval 4"/>
            <p:cNvSpPr/>
            <p:nvPr/>
          </p:nvSpPr>
          <p:spPr>
            <a:xfrm>
              <a:off x="1280527" y="2625837"/>
              <a:ext cx="348005" cy="348005"/>
            </a:xfrm>
            <a:prstGeom prst="ellipse">
              <a:avLst/>
            </a:prstGeom>
            <a:noFill/>
            <a:ln w="28575" cap="flat">
              <a:solidFill>
                <a:srgbClr val="FF0000"/>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135" name="Oval 8"/>
            <p:cNvSpPr/>
            <p:nvPr/>
          </p:nvSpPr>
          <p:spPr>
            <a:xfrm>
              <a:off x="3069280" y="2625837"/>
              <a:ext cx="348005" cy="348005"/>
            </a:xfrm>
            <a:prstGeom prst="ellipse">
              <a:avLst/>
            </a:prstGeom>
            <a:noFill/>
            <a:ln w="28575" cap="flat">
              <a:solidFill>
                <a:srgbClr val="FF0000"/>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137" name="TextBox 11"/>
          <p:cNvSpPr txBox="1"/>
          <p:nvPr/>
        </p:nvSpPr>
        <p:spPr>
          <a:xfrm>
            <a:off x="5709671" y="3163970"/>
            <a:ext cx="6187772" cy="1564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2400"/>
            </a:pPr>
            <a:r>
              <a:t>For example, </a:t>
            </a:r>
            <a:br/>
            <a:r>
              <a:rPr>
                <a:latin typeface="Consolas"/>
                <a:ea typeface="Consolas"/>
                <a:cs typeface="Consolas"/>
                <a:sym typeface="Consolas"/>
              </a:rPr>
              <a:t>find_maxima([1, 3, -2, 0, 2, 1]) </a:t>
            </a:r>
            <a:br>
              <a:rPr>
                <a:latin typeface="Consolas"/>
                <a:ea typeface="Consolas"/>
                <a:cs typeface="Consolas"/>
                <a:sym typeface="Consolas"/>
              </a:rPr>
            </a:br>
            <a:r>
              <a:t>should return</a:t>
            </a:r>
            <a:br/>
            <a:r>
              <a:rPr>
                <a:latin typeface="Consolas"/>
                <a:ea typeface="Consolas"/>
                <a:cs typeface="Consolas"/>
                <a:sym typeface="Consolas"/>
              </a:rPr>
              <a:t>[1, 4]</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142" name="Title 1"/>
          <p:cNvSpPr txBox="1">
            <a:spLocks noGrp="1"/>
          </p:cNvSpPr>
          <p:nvPr>
            <p:ph type="title"/>
          </p:nvPr>
        </p:nvSpPr>
        <p:spPr>
          <a:xfrm>
            <a:off x="838200" y="365125"/>
            <a:ext cx="10515600" cy="903634"/>
          </a:xfrm>
          <a:prstGeom prst="rect">
            <a:avLst/>
          </a:prstGeom>
        </p:spPr>
        <p:txBody>
          <a:bodyPr/>
          <a:lstStyle/>
          <a:p>
            <a:r>
              <a:t>Warm-up project</a:t>
            </a:r>
          </a:p>
        </p:txBody>
      </p:sp>
      <p:sp>
        <p:nvSpPr>
          <p:cNvPr id="143" name="Content Placeholder 2"/>
          <p:cNvSpPr txBox="1">
            <a:spLocks noGrp="1"/>
          </p:cNvSpPr>
          <p:nvPr>
            <p:ph type="body" idx="1"/>
          </p:nvPr>
        </p:nvSpPr>
        <p:spPr>
          <a:xfrm>
            <a:off x="838200" y="1412775"/>
            <a:ext cx="10515600" cy="4764189"/>
          </a:xfrm>
          <a:prstGeom prst="rect">
            <a:avLst/>
          </a:prstGeom>
        </p:spPr>
        <p:txBody>
          <a:bodyPr/>
          <a:lstStyle/>
          <a:p>
            <a:r>
              <a:rPr dirty="0"/>
              <a:t>Write a function </a:t>
            </a:r>
            <a:r>
              <a:rPr dirty="0" err="1">
                <a:latin typeface="Consolas"/>
                <a:ea typeface="Consolas"/>
                <a:cs typeface="Consolas"/>
                <a:sym typeface="Consolas"/>
              </a:rPr>
              <a:t>find_maxima</a:t>
            </a:r>
            <a:r>
              <a:rPr dirty="0">
                <a:latin typeface="Consolas"/>
                <a:ea typeface="Consolas"/>
                <a:cs typeface="Consolas"/>
                <a:sym typeface="Consolas"/>
              </a:rPr>
              <a:t> </a:t>
            </a:r>
            <a:r>
              <a:rPr dirty="0"/>
              <a:t>that finds the indices of local maxima in a list of numbers</a:t>
            </a:r>
            <a:br>
              <a:rPr dirty="0"/>
            </a:br>
            <a:endParaRPr dirty="0"/>
          </a:p>
          <a:p>
            <a:r>
              <a:rPr dirty="0"/>
              <a:t>Check your solution with these inputs:</a:t>
            </a:r>
          </a:p>
          <a:p>
            <a:pPr marL="685800" lvl="1" indent="-228600">
              <a:spcBef>
                <a:spcPts val="500"/>
              </a:spcBef>
              <a:defRPr sz="2400"/>
            </a:pPr>
            <a:r>
              <a:rPr dirty="0"/>
              <a:t>Input: [1, 3, -2, 0, 2, 1] 		Expected result: [1, 4]</a:t>
            </a:r>
          </a:p>
          <a:p>
            <a:pPr marL="685800" lvl="1" indent="-228600">
              <a:spcBef>
                <a:spcPts val="500"/>
              </a:spcBef>
              <a:defRPr sz="2400"/>
            </a:pPr>
            <a:r>
              <a:rPr dirty="0"/>
              <a:t>Input: [4, 2, 1, 3, 1, 5]		Expected result: [0, 3, 5]</a:t>
            </a:r>
          </a:p>
          <a:p>
            <a:pPr marL="685800" lvl="1" indent="-228600">
              <a:spcBef>
                <a:spcPts val="500"/>
              </a:spcBef>
              <a:defRPr sz="2400"/>
            </a:pPr>
            <a:r>
              <a:rPr dirty="0"/>
              <a:t>Input: []				Expected result: []</a:t>
            </a:r>
          </a:p>
          <a:p>
            <a:pPr marL="685800" lvl="1" indent="-228600">
              <a:spcBef>
                <a:spcPts val="500"/>
              </a:spcBef>
              <a:defRPr sz="2400"/>
            </a:pPr>
            <a:r>
              <a:rPr dirty="0"/>
              <a:t>Input: [1, 2, 2, 1]			Expected result: [1] (or [2], or [1, 2])</a:t>
            </a:r>
          </a:p>
          <a:p>
            <a:pPr marL="685800" lvl="1" indent="-228600">
              <a:spcBef>
                <a:spcPts val="500"/>
              </a:spcBef>
              <a:defRPr sz="2400"/>
            </a:pPr>
            <a:r>
              <a:rPr dirty="0"/>
              <a:t>Input: [1, 2, 2, 3, 1]		Expected result: [3]</a:t>
            </a:r>
          </a:p>
        </p:txBody>
      </p:sp>
      <p:sp>
        <p:nvSpPr>
          <p:cNvPr id="144"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145"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Footer Placeholder 4"/>
          <p:cNvSpPr txBox="1"/>
          <p:nvPr/>
        </p:nvSpPr>
        <p:spPr>
          <a:xfrm>
            <a:off x="4084319" y="6356350"/>
            <a:ext cx="40233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defTabSz="914400">
              <a:spcBef>
                <a:spcPts val="600"/>
              </a:spcBef>
              <a:defRPr sz="1200">
                <a:solidFill>
                  <a:srgbClr val="FFFFFF"/>
                </a:solidFill>
              </a:defRPr>
            </a:lvl1pPr>
          </a:lstStyle>
          <a:p>
            <a:r>
              <a:t>Testing scientific code, v16.0</a:t>
            </a:r>
          </a:p>
        </p:txBody>
      </p:sp>
      <p:sp>
        <p:nvSpPr>
          <p:cNvPr id="148" name="Rectangle 6157"/>
          <p:cNvSpPr/>
          <p:nvPr/>
        </p:nvSpPr>
        <p:spPr>
          <a:xfrm>
            <a:off x="0" y="-1"/>
            <a:ext cx="12192000" cy="6858001"/>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149" name="Picture 2" descr="Picture 2"/>
          <p:cNvPicPr>
            <a:picLocks noChangeAspect="1"/>
          </p:cNvPicPr>
          <p:nvPr/>
        </p:nvPicPr>
        <p:blipFill>
          <a:blip r:embed="rId3">
            <a:alphaModFix amt="50000"/>
          </a:blip>
          <a:stretch>
            <a:fillRect/>
          </a:stretch>
        </p:blipFill>
        <p:spPr>
          <a:xfrm>
            <a:off x="19" y="1"/>
            <a:ext cx="12191981" cy="6858000"/>
          </a:xfrm>
          <a:prstGeom prst="rect">
            <a:avLst/>
          </a:prstGeom>
          <a:ln w="12700">
            <a:miter lim="400000"/>
          </a:ln>
        </p:spPr>
      </p:pic>
      <p:sp>
        <p:nvSpPr>
          <p:cNvPr id="150" name="Date Placeholder 1"/>
          <p:cNvSpPr txBox="1"/>
          <p:nvPr/>
        </p:nvSpPr>
        <p:spPr>
          <a:xfrm>
            <a:off x="883919" y="6356350"/>
            <a:ext cx="26517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defTabSz="914400">
              <a:spcBef>
                <a:spcPts val="600"/>
              </a:spcBef>
              <a:defRPr sz="1200">
                <a:solidFill>
                  <a:srgbClr val="FFFFFF"/>
                </a:solidFill>
              </a:defRPr>
            </a:lvl1pPr>
          </a:lstStyle>
          <a:p>
            <a:r>
              <a:rPr lang="de-DE" dirty="0"/>
              <a:t>August 2026, CC BY-SA 4.0</a:t>
            </a:r>
          </a:p>
        </p:txBody>
      </p:sp>
      <p:sp>
        <p:nvSpPr>
          <p:cNvPr id="151" name="Slide Number Placeholder 2"/>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92500" lnSpcReduction="10000"/>
          </a:bodyPr>
          <a:lstStyle>
            <a:lvl1pPr defTabSz="914400">
              <a:spcBef>
                <a:spcPts val="600"/>
              </a:spcBef>
            </a:lvl1pPr>
          </a:lstStyle>
          <a:p>
            <a:fld id="{86CB4B4D-7CA3-9044-876B-883B54F8677D}" type="slidenum">
              <a:t>7</a:t>
            </a:fld>
            <a:endParaRPr/>
          </a:p>
        </p:txBody>
      </p:sp>
      <p:sp>
        <p:nvSpPr>
          <p:cNvPr id="152" name="TextBox 3"/>
          <p:cNvSpPr txBox="1"/>
          <p:nvPr/>
        </p:nvSpPr>
        <p:spPr>
          <a:xfrm>
            <a:off x="1569719" y="1122361"/>
            <a:ext cx="9052562" cy="12265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normAutofit/>
          </a:bodyPr>
          <a:lstStyle>
            <a:lvl1pPr algn="ctr" defTabSz="914400">
              <a:lnSpc>
                <a:spcPct val="90000"/>
              </a:lnSpc>
              <a:spcBef>
                <a:spcPts val="600"/>
              </a:spcBef>
              <a:defRPr sz="6000">
                <a:solidFill>
                  <a:srgbClr val="FFFFFF"/>
                </a:solidFill>
                <a:latin typeface="Calibri Light"/>
                <a:ea typeface="Calibri Light"/>
                <a:cs typeface="Calibri Light"/>
                <a:sym typeface="Calibri Light"/>
              </a:defRPr>
            </a:lvl1pPr>
          </a:lstStyle>
          <a:p>
            <a:r>
              <a:t>The agile programming cycle</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Footer Placeholder 2"/>
          <p:cNvSpPr txBox="1"/>
          <p:nvPr/>
        </p:nvSpPr>
        <p:spPr>
          <a:xfrm>
            <a:off x="4084319" y="6414760"/>
            <a:ext cx="4023362" cy="2483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gn="ctr">
              <a:defRPr sz="1200">
                <a:solidFill>
                  <a:srgbClr val="888888"/>
                </a:solidFill>
              </a:defRPr>
            </a:lvl1pPr>
          </a:lstStyle>
          <a:p>
            <a:r>
              <a:t>Testing scientific code, v16.0</a:t>
            </a:r>
          </a:p>
        </p:txBody>
      </p:sp>
      <p:sp>
        <p:nvSpPr>
          <p:cNvPr id="157" name="Rectangle 2"/>
          <p:cNvSpPr txBox="1">
            <a:spLocks noGrp="1"/>
          </p:cNvSpPr>
          <p:nvPr>
            <p:ph type="title"/>
          </p:nvPr>
        </p:nvSpPr>
        <p:spPr>
          <a:xfrm>
            <a:off x="838200" y="365125"/>
            <a:ext cx="10515600" cy="903634"/>
          </a:xfrm>
          <a:prstGeom prst="rect">
            <a:avLst/>
          </a:prstGeom>
        </p:spPr>
        <p:txBody>
          <a:bodyPr/>
          <a:lstStyle/>
          <a:p>
            <a:r>
              <a:t>The agile development cycle</a:t>
            </a:r>
          </a:p>
        </p:txBody>
      </p:sp>
      <p:sp>
        <p:nvSpPr>
          <p:cNvPr id="158" name="Date Placeholder 1"/>
          <p:cNvSpPr txBox="1"/>
          <p:nvPr/>
        </p:nvSpPr>
        <p:spPr>
          <a:xfrm>
            <a:off x="883919" y="6400413"/>
            <a:ext cx="2651762"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159"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grpSp>
        <p:nvGrpSpPr>
          <p:cNvPr id="181" name="Group 6"/>
          <p:cNvGrpSpPr/>
          <p:nvPr/>
        </p:nvGrpSpPr>
        <p:grpSpPr>
          <a:xfrm>
            <a:off x="1919536" y="1298321"/>
            <a:ext cx="4680527" cy="4823951"/>
            <a:chOff x="0" y="0"/>
            <a:chExt cx="4680526" cy="4823950"/>
          </a:xfrm>
        </p:grpSpPr>
        <p:grpSp>
          <p:nvGrpSpPr>
            <p:cNvPr id="179" name="Diagram 16"/>
            <p:cNvGrpSpPr/>
            <p:nvPr/>
          </p:nvGrpSpPr>
          <p:grpSpPr>
            <a:xfrm>
              <a:off x="829242" y="0"/>
              <a:ext cx="3851285" cy="4823951"/>
              <a:chOff x="0" y="0"/>
              <a:chExt cx="3851284" cy="4823950"/>
            </a:xfrm>
          </p:grpSpPr>
          <p:grpSp>
            <p:nvGrpSpPr>
              <p:cNvPr id="162" name="Group"/>
              <p:cNvGrpSpPr/>
              <p:nvPr/>
            </p:nvGrpSpPr>
            <p:grpSpPr>
              <a:xfrm>
                <a:off x="34855" y="0"/>
                <a:ext cx="3781573" cy="682930"/>
                <a:chOff x="0" y="0"/>
                <a:chExt cx="3781571" cy="682929"/>
              </a:xfrm>
            </p:grpSpPr>
            <p:sp>
              <p:nvSpPr>
                <p:cNvPr id="160" name="Rounded Rectangle"/>
                <p:cNvSpPr/>
                <p:nvPr/>
              </p:nvSpPr>
              <p:spPr>
                <a:xfrm>
                  <a:off x="0" y="0"/>
                  <a:ext cx="3781572" cy="682930"/>
                </a:xfrm>
                <a:prstGeom prst="roundRect">
                  <a:avLst>
                    <a:gd name="adj" fmla="val 10000"/>
                  </a:avLst>
                </a:prstGeom>
                <a:solidFill>
                  <a:srgbClr val="FFFFFF"/>
                </a:solidFill>
                <a:ln w="38100" cap="flat">
                  <a:solidFill>
                    <a:srgbClr val="FF00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161" name="Pick your next feature"/>
                <p:cNvSpPr txBox="1"/>
                <p:nvPr/>
              </p:nvSpPr>
              <p:spPr>
                <a:xfrm>
                  <a:off x="20002" y="99509"/>
                  <a:ext cx="3741568" cy="48391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algn="ctr" defTabSz="1066800">
                    <a:lnSpc>
                      <a:spcPct val="90000"/>
                    </a:lnSpc>
                    <a:spcBef>
                      <a:spcPts val="1000"/>
                    </a:spcBef>
                    <a:defRPr sz="2400"/>
                  </a:lvl1pPr>
                </a:lstStyle>
                <a:p>
                  <a:r>
                    <a:t>Pick your next feature</a:t>
                  </a:r>
                </a:p>
              </p:txBody>
            </p:sp>
          </p:grpSp>
          <p:sp>
            <p:nvSpPr>
              <p:cNvPr id="163" name="Arrow"/>
              <p:cNvSpPr/>
              <p:nvPr/>
            </p:nvSpPr>
            <p:spPr>
              <a:xfrm rot="5400000">
                <a:off x="1797593" y="700003"/>
                <a:ext cx="256099" cy="307319"/>
              </a:xfrm>
              <a:prstGeom prst="rightArrow">
                <a:avLst>
                  <a:gd name="adj1" fmla="val 60000"/>
                  <a:gd name="adj2" fmla="val 50000"/>
                </a:avLst>
              </a:prstGeom>
              <a:solidFill>
                <a:srgbClr val="FFFFFF"/>
              </a:solidFill>
              <a:ln w="38100" cap="flat">
                <a:solidFill>
                  <a:srgbClr val="FF0000"/>
                </a:solidFill>
                <a:prstDash val="solid"/>
                <a:round/>
              </a:ln>
              <a:effectLst/>
            </p:spPr>
            <p:txBody>
              <a:bodyPr wrap="square" lIns="45719" tIns="45719" rIns="45719" bIns="45719" numCol="1" anchor="ctr">
                <a:noAutofit/>
              </a:bodyPr>
              <a:lstStyle/>
              <a:p>
                <a:pPr algn="ctr" defTabSz="488950">
                  <a:lnSpc>
                    <a:spcPct val="90000"/>
                  </a:lnSpc>
                  <a:spcBef>
                    <a:spcPts val="700"/>
                  </a:spcBef>
                  <a:defRPr sz="1100">
                    <a:solidFill>
                      <a:srgbClr val="FFFFFF"/>
                    </a:solidFill>
                  </a:defRPr>
                </a:pPr>
                <a:endParaRPr/>
              </a:p>
            </p:txBody>
          </p:sp>
          <p:grpSp>
            <p:nvGrpSpPr>
              <p:cNvPr id="166" name="Group"/>
              <p:cNvGrpSpPr/>
              <p:nvPr/>
            </p:nvGrpSpPr>
            <p:grpSpPr>
              <a:xfrm>
                <a:off x="0" y="980949"/>
                <a:ext cx="3851285" cy="769820"/>
                <a:chOff x="0" y="0"/>
                <a:chExt cx="3851284" cy="769818"/>
              </a:xfrm>
            </p:grpSpPr>
            <p:sp>
              <p:nvSpPr>
                <p:cNvPr id="164" name="Rounded Rectangle"/>
                <p:cNvSpPr/>
                <p:nvPr/>
              </p:nvSpPr>
              <p:spPr>
                <a:xfrm>
                  <a:off x="0" y="43444"/>
                  <a:ext cx="3851285"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sz="2400"/>
                  </a:pPr>
                  <a:endParaRPr/>
                </a:p>
              </p:txBody>
            </p:sp>
            <p:sp>
              <p:nvSpPr>
                <p:cNvPr id="165" name="Write tests  to check that feature works"/>
                <p:cNvSpPr txBox="1"/>
                <p:nvPr/>
              </p:nvSpPr>
              <p:spPr>
                <a:xfrm>
                  <a:off x="20001" y="0"/>
                  <a:ext cx="3811282" cy="7698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p>
                  <a:pPr algn="ctr" defTabSz="1066800">
                    <a:lnSpc>
                      <a:spcPct val="90000"/>
                    </a:lnSpc>
                    <a:spcBef>
                      <a:spcPts val="1000"/>
                    </a:spcBef>
                    <a:defRPr sz="2400"/>
                  </a:pPr>
                  <a:r>
                    <a:t>Write tests </a:t>
                  </a:r>
                  <a:br/>
                  <a:r>
                    <a:rPr sz="2000"/>
                    <a:t>to check that feature works </a:t>
                  </a:r>
                </a:p>
              </p:txBody>
            </p:sp>
          </p:grpSp>
          <p:sp>
            <p:nvSpPr>
              <p:cNvPr id="167" name="Arrow"/>
              <p:cNvSpPr/>
              <p:nvPr/>
            </p:nvSpPr>
            <p:spPr>
              <a:xfrm rot="5400000">
                <a:off x="1797593" y="1724397"/>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grpSp>
            <p:nvGrpSpPr>
              <p:cNvPr id="170" name="Group"/>
              <p:cNvGrpSpPr/>
              <p:nvPr/>
            </p:nvGrpSpPr>
            <p:grpSpPr>
              <a:xfrm>
                <a:off x="15201" y="2005343"/>
                <a:ext cx="3820882" cy="769820"/>
                <a:chOff x="0" y="0"/>
                <a:chExt cx="3820880" cy="769818"/>
              </a:xfrm>
            </p:grpSpPr>
            <p:sp>
              <p:nvSpPr>
                <p:cNvPr id="168" name="Rounded Rectangle"/>
                <p:cNvSpPr/>
                <p:nvPr/>
              </p:nvSpPr>
              <p:spPr>
                <a:xfrm>
                  <a:off x="0" y="43444"/>
                  <a:ext cx="3820881"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169" name="Write simplest code  that makes tests pass"/>
                <p:cNvSpPr txBox="1"/>
                <p:nvPr/>
              </p:nvSpPr>
              <p:spPr>
                <a:xfrm>
                  <a:off x="20001" y="0"/>
                  <a:ext cx="3780878" cy="7698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p>
                  <a:pPr algn="ctr" defTabSz="1066800">
                    <a:lnSpc>
                      <a:spcPct val="90000"/>
                    </a:lnSpc>
                    <a:spcBef>
                      <a:spcPts val="1000"/>
                    </a:spcBef>
                    <a:defRPr sz="2400"/>
                  </a:pPr>
                  <a:r>
                    <a:t>Write simplest code </a:t>
                  </a:r>
                  <a:br/>
                  <a:r>
                    <a:rPr sz="2000"/>
                    <a:t>that makes tests pass</a:t>
                  </a:r>
                </a:p>
              </p:txBody>
            </p:sp>
          </p:grpSp>
          <p:sp>
            <p:nvSpPr>
              <p:cNvPr id="171" name="Arrow"/>
              <p:cNvSpPr/>
              <p:nvPr/>
            </p:nvSpPr>
            <p:spPr>
              <a:xfrm rot="5400000">
                <a:off x="1797593" y="2748791"/>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grpSp>
            <p:nvGrpSpPr>
              <p:cNvPr id="174" name="Group"/>
              <p:cNvGrpSpPr/>
              <p:nvPr/>
            </p:nvGrpSpPr>
            <p:grpSpPr>
              <a:xfrm>
                <a:off x="15201" y="3029737"/>
                <a:ext cx="3820882" cy="769820"/>
                <a:chOff x="0" y="0"/>
                <a:chExt cx="3820880" cy="769818"/>
              </a:xfrm>
            </p:grpSpPr>
            <p:sp>
              <p:nvSpPr>
                <p:cNvPr id="172" name="Rounded Rectangle"/>
                <p:cNvSpPr/>
                <p:nvPr/>
              </p:nvSpPr>
              <p:spPr>
                <a:xfrm>
                  <a:off x="0" y="43444"/>
                  <a:ext cx="3820881"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173" name="Run tests and debug  until all tests pass"/>
                <p:cNvSpPr txBox="1"/>
                <p:nvPr/>
              </p:nvSpPr>
              <p:spPr>
                <a:xfrm>
                  <a:off x="20001" y="0"/>
                  <a:ext cx="3780878" cy="7698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p>
                  <a:pPr algn="ctr" defTabSz="1066800">
                    <a:lnSpc>
                      <a:spcPct val="90000"/>
                    </a:lnSpc>
                    <a:spcBef>
                      <a:spcPts val="1000"/>
                    </a:spcBef>
                    <a:defRPr sz="2400"/>
                  </a:pPr>
                  <a:r>
                    <a:t>Run tests and debug </a:t>
                  </a:r>
                  <a:br/>
                  <a:r>
                    <a:rPr sz="2000"/>
                    <a:t>until </a:t>
                  </a:r>
                  <a:r>
                    <a:rPr sz="2000" i="1"/>
                    <a:t>all</a:t>
                  </a:r>
                  <a:r>
                    <a:rPr sz="2000"/>
                    <a:t> tests pass</a:t>
                  </a:r>
                </a:p>
              </p:txBody>
            </p:sp>
          </p:grpSp>
          <p:sp>
            <p:nvSpPr>
              <p:cNvPr id="175" name="Arrow"/>
              <p:cNvSpPr/>
              <p:nvPr/>
            </p:nvSpPr>
            <p:spPr>
              <a:xfrm rot="5400000">
                <a:off x="1797593" y="3773185"/>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grpSp>
            <p:nvGrpSpPr>
              <p:cNvPr id="178" name="Group"/>
              <p:cNvGrpSpPr/>
              <p:nvPr/>
            </p:nvGrpSpPr>
            <p:grpSpPr>
              <a:xfrm>
                <a:off x="15201" y="4054132"/>
                <a:ext cx="3820882" cy="769819"/>
                <a:chOff x="0" y="0"/>
                <a:chExt cx="3820880" cy="769818"/>
              </a:xfrm>
            </p:grpSpPr>
            <p:sp>
              <p:nvSpPr>
                <p:cNvPr id="176" name="Rounded Rectangle"/>
                <p:cNvSpPr/>
                <p:nvPr/>
              </p:nvSpPr>
              <p:spPr>
                <a:xfrm>
                  <a:off x="0" y="43444"/>
                  <a:ext cx="3820881"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177" name="Refactor and optimize  only if necessary"/>
                <p:cNvSpPr txBox="1"/>
                <p:nvPr/>
              </p:nvSpPr>
              <p:spPr>
                <a:xfrm>
                  <a:off x="20001" y="0"/>
                  <a:ext cx="3780878" cy="7698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p>
                  <a:pPr algn="ctr" defTabSz="1066800">
                    <a:lnSpc>
                      <a:spcPct val="90000"/>
                    </a:lnSpc>
                    <a:spcBef>
                      <a:spcPts val="1000"/>
                    </a:spcBef>
                    <a:defRPr sz="2400"/>
                  </a:pPr>
                  <a:r>
                    <a:t>Refactor and optimize </a:t>
                  </a:r>
                  <a:br/>
                  <a:r>
                    <a:rPr sz="2000"/>
                    <a:t>only if necessary</a:t>
                  </a:r>
                </a:p>
              </p:txBody>
            </p:sp>
          </p:grpSp>
        </p:grpSp>
        <p:sp>
          <p:nvSpPr>
            <p:cNvPr id="180" name="U-Turn Arrow 17"/>
            <p:cNvSpPr/>
            <p:nvPr/>
          </p:nvSpPr>
          <p:spPr>
            <a:xfrm rot="16200000">
              <a:off x="-1800201" y="1914656"/>
              <a:ext cx="4392490" cy="79208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9450"/>
                  </a:lnTo>
                  <a:cubicBezTo>
                    <a:pt x="0" y="4231"/>
                    <a:pt x="763" y="0"/>
                    <a:pt x="1704" y="0"/>
                  </a:cubicBezTo>
                  <a:lnTo>
                    <a:pt x="19438" y="0"/>
                  </a:lnTo>
                  <a:cubicBezTo>
                    <a:pt x="20379" y="0"/>
                    <a:pt x="21142" y="4231"/>
                    <a:pt x="21142" y="9450"/>
                  </a:cubicBezTo>
                  <a:lnTo>
                    <a:pt x="21142" y="16200"/>
                  </a:lnTo>
                  <a:lnTo>
                    <a:pt x="21600" y="16200"/>
                  </a:lnTo>
                  <a:lnTo>
                    <a:pt x="20655" y="21600"/>
                  </a:lnTo>
                  <a:lnTo>
                    <a:pt x="19710" y="16200"/>
                  </a:lnTo>
                  <a:lnTo>
                    <a:pt x="20168" y="16200"/>
                  </a:lnTo>
                  <a:lnTo>
                    <a:pt x="20168" y="9450"/>
                  </a:lnTo>
                  <a:cubicBezTo>
                    <a:pt x="20168" y="7213"/>
                    <a:pt x="19841" y="5400"/>
                    <a:pt x="19438" y="5400"/>
                  </a:cubicBezTo>
                  <a:lnTo>
                    <a:pt x="1704" y="5400"/>
                  </a:lnTo>
                  <a:cubicBezTo>
                    <a:pt x="1301" y="5400"/>
                    <a:pt x="974" y="7213"/>
                    <a:pt x="974" y="9450"/>
                  </a:cubicBezTo>
                  <a:lnTo>
                    <a:pt x="974" y="21600"/>
                  </a:lnTo>
                  <a:close/>
                </a:path>
              </a:pathLst>
            </a:custGeom>
            <a:solidFill>
              <a:srgbClr val="FFFFFF"/>
            </a:solidFill>
            <a:ln w="38100" cap="flat">
              <a:solidFill>
                <a:srgbClr val="FF0000"/>
              </a:solidFill>
              <a:prstDash val="solid"/>
              <a:miter lim="800000"/>
            </a:ln>
            <a:effectLst/>
          </p:spPr>
          <p:txBody>
            <a:bodyPr wrap="square" lIns="45719" tIns="45719" rIns="45719" bIns="45719" numCol="1" anchor="ctr">
              <a:noAutofit/>
            </a:bodyPr>
            <a:lstStyle/>
            <a:p>
              <a:pPr algn="ctr">
                <a:defRPr sz="2800"/>
              </a:pPr>
              <a:endParaRPr/>
            </a:p>
          </p:txBody>
        </p:sp>
      </p:grpSp>
      <p:sp>
        <p:nvSpPr>
          <p:cNvPr id="182" name="U-Turn Arrow 18"/>
          <p:cNvSpPr/>
          <p:nvPr/>
        </p:nvSpPr>
        <p:spPr>
          <a:xfrm rot="16200000" flipV="1">
            <a:off x="6312024" y="4869160"/>
            <a:ext cx="1296145" cy="57606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12977"/>
                </a:lnTo>
                <a:cubicBezTo>
                  <a:pt x="0" y="5810"/>
                  <a:pt x="2582" y="0"/>
                  <a:pt x="5768" y="0"/>
                </a:cubicBezTo>
                <a:lnTo>
                  <a:pt x="14894" y="0"/>
                </a:lnTo>
                <a:cubicBezTo>
                  <a:pt x="18079" y="0"/>
                  <a:pt x="20661" y="5810"/>
                  <a:pt x="20661" y="12977"/>
                </a:cubicBezTo>
                <a:lnTo>
                  <a:pt x="20661" y="15080"/>
                </a:lnTo>
                <a:lnTo>
                  <a:pt x="21600" y="15080"/>
                </a:lnTo>
                <a:lnTo>
                  <a:pt x="19200" y="21600"/>
                </a:lnTo>
                <a:lnTo>
                  <a:pt x="16800" y="15080"/>
                </a:lnTo>
                <a:lnTo>
                  <a:pt x="17739" y="15080"/>
                </a:lnTo>
                <a:lnTo>
                  <a:pt x="17739" y="12977"/>
                </a:lnTo>
                <a:cubicBezTo>
                  <a:pt x="17739" y="9442"/>
                  <a:pt x="16465" y="6576"/>
                  <a:pt x="14894" y="6576"/>
                </a:cubicBezTo>
                <a:lnTo>
                  <a:pt x="5768" y="6576"/>
                </a:lnTo>
                <a:cubicBezTo>
                  <a:pt x="4196" y="6576"/>
                  <a:pt x="2923" y="9442"/>
                  <a:pt x="2923" y="12977"/>
                </a:cubicBezTo>
                <a:lnTo>
                  <a:pt x="2923" y="21600"/>
                </a:lnTo>
                <a:close/>
              </a:path>
            </a:pathLst>
          </a:custGeom>
          <a:solidFill>
            <a:srgbClr val="FFFFFF"/>
          </a:solidFill>
          <a:ln w="38100">
            <a:solidFill>
              <a:srgbClr val="0ECC00"/>
            </a:solidFill>
            <a:miter/>
          </a:ln>
        </p:spPr>
        <p:txBody>
          <a:bodyPr lIns="45719" rIns="45719" anchor="ctr"/>
          <a:lstStyle/>
          <a:p>
            <a:pPr algn="ctr">
              <a:defRPr sz="2800"/>
            </a:pPr>
            <a:endParaRPr/>
          </a:p>
        </p:txBody>
      </p:sp>
      <p:pic>
        <p:nvPicPr>
          <p:cNvPr id="183" name="Picture 6" descr="Picture 6"/>
          <p:cNvPicPr>
            <a:picLocks noChangeAspect="1"/>
          </p:cNvPicPr>
          <p:nvPr/>
        </p:nvPicPr>
        <p:blipFill>
          <a:blip r:embed="rId3"/>
          <a:stretch>
            <a:fillRect/>
          </a:stretch>
        </p:blipFill>
        <p:spPr>
          <a:xfrm flipH="1">
            <a:off x="9727702" y="4149080"/>
            <a:ext cx="2386137" cy="2386137"/>
          </a:xfrm>
          <a:prstGeom prst="rect">
            <a:avLst/>
          </a:prstGeom>
          <a:ln w="12700">
            <a:miter lim="400000"/>
          </a:ln>
        </p:spPr>
      </p:pic>
    </p:spTree>
    <p:extLst>
      <p:ext uri="{BB962C8B-B14F-4D97-AF65-F5344CB8AC3E}">
        <p14:creationId xmlns:p14="http://schemas.microsoft.com/office/powerpoint/2010/main" val="39934060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Footer Placeholder 2"/>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188" name="Rectangle 2"/>
          <p:cNvSpPr txBox="1">
            <a:spLocks noGrp="1"/>
          </p:cNvSpPr>
          <p:nvPr>
            <p:ph type="title"/>
          </p:nvPr>
        </p:nvSpPr>
        <p:spPr>
          <a:xfrm>
            <a:off x="838200" y="365125"/>
            <a:ext cx="10515600" cy="903634"/>
          </a:xfrm>
          <a:prstGeom prst="rect">
            <a:avLst/>
          </a:prstGeom>
        </p:spPr>
        <p:txBody>
          <a:bodyPr/>
          <a:lstStyle/>
          <a:p>
            <a:r>
              <a:t>Python tools for agile development</a:t>
            </a:r>
          </a:p>
        </p:txBody>
      </p:sp>
      <p:sp>
        <p:nvSpPr>
          <p:cNvPr id="189" name="Date Placeholder 1"/>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190"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
        <p:nvSpPr>
          <p:cNvPr id="191" name="TextBox 10"/>
          <p:cNvSpPr txBox="1"/>
          <p:nvPr/>
        </p:nvSpPr>
        <p:spPr>
          <a:xfrm>
            <a:off x="7581880" y="2420890"/>
            <a:ext cx="1778537" cy="40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latin typeface="Consolas"/>
                <a:ea typeface="Consolas"/>
                <a:cs typeface="Consolas"/>
                <a:sym typeface="Consolas"/>
              </a:defRPr>
            </a:lvl1pPr>
          </a:lstStyle>
          <a:p>
            <a:r>
              <a:t>pytest</a:t>
            </a:r>
          </a:p>
        </p:txBody>
      </p:sp>
      <p:sp>
        <p:nvSpPr>
          <p:cNvPr id="192" name="TextBox 11"/>
          <p:cNvSpPr txBox="1"/>
          <p:nvPr/>
        </p:nvSpPr>
        <p:spPr>
          <a:xfrm>
            <a:off x="7581880" y="4509122"/>
            <a:ext cx="2147705" cy="408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latin typeface="Consolas"/>
                <a:ea typeface="Consolas"/>
                <a:cs typeface="Consolas"/>
                <a:sym typeface="Consolas"/>
              </a:defRPr>
            </a:lvl1pPr>
          </a:lstStyle>
          <a:p>
            <a:r>
              <a:t>pdb</a:t>
            </a:r>
          </a:p>
        </p:txBody>
      </p:sp>
      <p:sp>
        <p:nvSpPr>
          <p:cNvPr id="193" name="TextBox 12"/>
          <p:cNvSpPr txBox="1"/>
          <p:nvPr/>
        </p:nvSpPr>
        <p:spPr>
          <a:xfrm>
            <a:off x="7581880" y="5175486"/>
            <a:ext cx="2644865" cy="1043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2100">
                <a:latin typeface="Consolas"/>
                <a:ea typeface="Consolas"/>
                <a:cs typeface="Consolas"/>
                <a:sym typeface="Consolas"/>
              </a:defRPr>
            </a:pPr>
            <a:r>
              <a:t>timeit</a:t>
            </a:r>
          </a:p>
          <a:p>
            <a:pPr>
              <a:defRPr sz="2100">
                <a:latin typeface="Consolas"/>
                <a:ea typeface="Consolas"/>
                <a:cs typeface="Consolas"/>
                <a:sym typeface="Consolas"/>
              </a:defRPr>
            </a:pPr>
            <a:r>
              <a:t>cProfile</a:t>
            </a:r>
          </a:p>
          <a:p>
            <a:pPr>
              <a:defRPr sz="2100">
                <a:latin typeface="Consolas"/>
                <a:ea typeface="Consolas"/>
                <a:cs typeface="Consolas"/>
                <a:sym typeface="Consolas"/>
              </a:defRPr>
            </a:pPr>
            <a:r>
              <a:t>line_profiler</a:t>
            </a:r>
          </a:p>
        </p:txBody>
      </p:sp>
      <p:grpSp>
        <p:nvGrpSpPr>
          <p:cNvPr id="215" name="Group 6"/>
          <p:cNvGrpSpPr/>
          <p:nvPr/>
        </p:nvGrpSpPr>
        <p:grpSpPr>
          <a:xfrm>
            <a:off x="1919536" y="1298321"/>
            <a:ext cx="4680527" cy="4823951"/>
            <a:chOff x="0" y="0"/>
            <a:chExt cx="4680526" cy="4823950"/>
          </a:xfrm>
        </p:grpSpPr>
        <p:grpSp>
          <p:nvGrpSpPr>
            <p:cNvPr id="213" name="Diagram 16"/>
            <p:cNvGrpSpPr/>
            <p:nvPr/>
          </p:nvGrpSpPr>
          <p:grpSpPr>
            <a:xfrm>
              <a:off x="829242" y="0"/>
              <a:ext cx="3851285" cy="4823951"/>
              <a:chOff x="0" y="0"/>
              <a:chExt cx="3851284" cy="4823950"/>
            </a:xfrm>
          </p:grpSpPr>
          <p:grpSp>
            <p:nvGrpSpPr>
              <p:cNvPr id="196" name="Group"/>
              <p:cNvGrpSpPr/>
              <p:nvPr/>
            </p:nvGrpSpPr>
            <p:grpSpPr>
              <a:xfrm>
                <a:off x="34855" y="0"/>
                <a:ext cx="3781573" cy="682930"/>
                <a:chOff x="0" y="0"/>
                <a:chExt cx="3781571" cy="682929"/>
              </a:xfrm>
            </p:grpSpPr>
            <p:sp>
              <p:nvSpPr>
                <p:cNvPr id="194" name="Rounded Rectangle"/>
                <p:cNvSpPr/>
                <p:nvPr/>
              </p:nvSpPr>
              <p:spPr>
                <a:xfrm>
                  <a:off x="0" y="0"/>
                  <a:ext cx="3781572" cy="682930"/>
                </a:xfrm>
                <a:prstGeom prst="roundRect">
                  <a:avLst>
                    <a:gd name="adj" fmla="val 10000"/>
                  </a:avLst>
                </a:prstGeom>
                <a:solidFill>
                  <a:srgbClr val="FFFFFF"/>
                </a:solidFill>
                <a:ln w="38100" cap="flat">
                  <a:solidFill>
                    <a:srgbClr val="FF00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195" name="Pick your next feature"/>
                <p:cNvSpPr txBox="1"/>
                <p:nvPr/>
              </p:nvSpPr>
              <p:spPr>
                <a:xfrm>
                  <a:off x="20002" y="99509"/>
                  <a:ext cx="3741568" cy="4839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lgn="ctr" defTabSz="1066800">
                    <a:lnSpc>
                      <a:spcPct val="90000"/>
                    </a:lnSpc>
                    <a:spcBef>
                      <a:spcPts val="1000"/>
                    </a:spcBef>
                    <a:defRPr sz="2400"/>
                  </a:lvl1pPr>
                </a:lstStyle>
                <a:p>
                  <a:r>
                    <a:t>Pick your next feature</a:t>
                  </a:r>
                </a:p>
              </p:txBody>
            </p:sp>
          </p:grpSp>
          <p:sp>
            <p:nvSpPr>
              <p:cNvPr id="197" name="Arrow"/>
              <p:cNvSpPr/>
              <p:nvPr/>
            </p:nvSpPr>
            <p:spPr>
              <a:xfrm rot="5400000">
                <a:off x="1797593" y="700003"/>
                <a:ext cx="256099" cy="307319"/>
              </a:xfrm>
              <a:prstGeom prst="rightArrow">
                <a:avLst>
                  <a:gd name="adj1" fmla="val 60000"/>
                  <a:gd name="adj2" fmla="val 50000"/>
                </a:avLst>
              </a:prstGeom>
              <a:solidFill>
                <a:srgbClr val="FFFFFF"/>
              </a:solidFill>
              <a:ln w="38100" cap="flat">
                <a:solidFill>
                  <a:srgbClr val="FF0000"/>
                </a:solidFill>
                <a:prstDash val="solid"/>
                <a:round/>
              </a:ln>
              <a:effectLst/>
            </p:spPr>
            <p:txBody>
              <a:bodyPr wrap="square" lIns="45719" tIns="45719" rIns="45719" bIns="45719" numCol="1" anchor="ctr">
                <a:noAutofit/>
              </a:bodyPr>
              <a:lstStyle/>
              <a:p>
                <a:pPr algn="ctr" defTabSz="488950">
                  <a:lnSpc>
                    <a:spcPct val="90000"/>
                  </a:lnSpc>
                  <a:spcBef>
                    <a:spcPts val="700"/>
                  </a:spcBef>
                  <a:defRPr sz="1100">
                    <a:solidFill>
                      <a:srgbClr val="FFFFFF"/>
                    </a:solidFill>
                  </a:defRPr>
                </a:pPr>
                <a:endParaRPr/>
              </a:p>
            </p:txBody>
          </p:sp>
          <p:grpSp>
            <p:nvGrpSpPr>
              <p:cNvPr id="200" name="Group"/>
              <p:cNvGrpSpPr/>
              <p:nvPr/>
            </p:nvGrpSpPr>
            <p:grpSpPr>
              <a:xfrm>
                <a:off x="0" y="980949"/>
                <a:ext cx="3851285" cy="769820"/>
                <a:chOff x="0" y="0"/>
                <a:chExt cx="3851284" cy="769818"/>
              </a:xfrm>
            </p:grpSpPr>
            <p:sp>
              <p:nvSpPr>
                <p:cNvPr id="198" name="Rounded Rectangle"/>
                <p:cNvSpPr/>
                <p:nvPr/>
              </p:nvSpPr>
              <p:spPr>
                <a:xfrm>
                  <a:off x="0" y="43444"/>
                  <a:ext cx="3851285"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sz="2400"/>
                  </a:pPr>
                  <a:endParaRPr/>
                </a:p>
              </p:txBody>
            </p:sp>
            <p:sp>
              <p:nvSpPr>
                <p:cNvPr id="199" name="Write tests  to check that feature works"/>
                <p:cNvSpPr txBox="1"/>
                <p:nvPr/>
              </p:nvSpPr>
              <p:spPr>
                <a:xfrm>
                  <a:off x="20001" y="0"/>
                  <a:ext cx="3811282" cy="76981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p>
                  <a:pPr algn="ctr" defTabSz="1066800">
                    <a:lnSpc>
                      <a:spcPct val="90000"/>
                    </a:lnSpc>
                    <a:spcBef>
                      <a:spcPts val="1000"/>
                    </a:spcBef>
                    <a:defRPr sz="2400"/>
                  </a:pPr>
                  <a:r>
                    <a:t>Write tests </a:t>
                  </a:r>
                  <a:br/>
                  <a:r>
                    <a:rPr sz="2000"/>
                    <a:t>to check that feature works </a:t>
                  </a:r>
                </a:p>
              </p:txBody>
            </p:sp>
          </p:grpSp>
          <p:sp>
            <p:nvSpPr>
              <p:cNvPr id="201" name="Arrow"/>
              <p:cNvSpPr/>
              <p:nvPr/>
            </p:nvSpPr>
            <p:spPr>
              <a:xfrm rot="5400000">
                <a:off x="1797593" y="1724397"/>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grpSp>
            <p:nvGrpSpPr>
              <p:cNvPr id="204" name="Group"/>
              <p:cNvGrpSpPr/>
              <p:nvPr/>
            </p:nvGrpSpPr>
            <p:grpSpPr>
              <a:xfrm>
                <a:off x="15201" y="2005343"/>
                <a:ext cx="3820882" cy="769820"/>
                <a:chOff x="0" y="0"/>
                <a:chExt cx="3820880" cy="769818"/>
              </a:xfrm>
            </p:grpSpPr>
            <p:sp>
              <p:nvSpPr>
                <p:cNvPr id="202" name="Rounded Rectangle"/>
                <p:cNvSpPr/>
                <p:nvPr/>
              </p:nvSpPr>
              <p:spPr>
                <a:xfrm>
                  <a:off x="0" y="43444"/>
                  <a:ext cx="3820881"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203" name="Write simplest code  that makes tests pass"/>
                <p:cNvSpPr txBox="1"/>
                <p:nvPr/>
              </p:nvSpPr>
              <p:spPr>
                <a:xfrm>
                  <a:off x="20001" y="0"/>
                  <a:ext cx="3780878" cy="76981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p>
                  <a:pPr algn="ctr" defTabSz="1066800">
                    <a:lnSpc>
                      <a:spcPct val="90000"/>
                    </a:lnSpc>
                    <a:spcBef>
                      <a:spcPts val="1000"/>
                    </a:spcBef>
                    <a:defRPr sz="2400"/>
                  </a:pPr>
                  <a:r>
                    <a:t>Write simplest code </a:t>
                  </a:r>
                  <a:br/>
                  <a:r>
                    <a:rPr sz="2000"/>
                    <a:t>that makes tests pass</a:t>
                  </a:r>
                </a:p>
              </p:txBody>
            </p:sp>
          </p:grpSp>
          <p:sp>
            <p:nvSpPr>
              <p:cNvPr id="205" name="Arrow"/>
              <p:cNvSpPr/>
              <p:nvPr/>
            </p:nvSpPr>
            <p:spPr>
              <a:xfrm rot="5400000">
                <a:off x="1797593" y="2748791"/>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grpSp>
            <p:nvGrpSpPr>
              <p:cNvPr id="208" name="Group"/>
              <p:cNvGrpSpPr/>
              <p:nvPr/>
            </p:nvGrpSpPr>
            <p:grpSpPr>
              <a:xfrm>
                <a:off x="15201" y="3029737"/>
                <a:ext cx="3820882" cy="769820"/>
                <a:chOff x="0" y="0"/>
                <a:chExt cx="3820880" cy="769818"/>
              </a:xfrm>
            </p:grpSpPr>
            <p:sp>
              <p:nvSpPr>
                <p:cNvPr id="206" name="Rounded Rectangle"/>
                <p:cNvSpPr/>
                <p:nvPr/>
              </p:nvSpPr>
              <p:spPr>
                <a:xfrm>
                  <a:off x="0" y="43444"/>
                  <a:ext cx="3820881"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207" name="Run tests and debug  until all tests pass"/>
                <p:cNvSpPr txBox="1"/>
                <p:nvPr/>
              </p:nvSpPr>
              <p:spPr>
                <a:xfrm>
                  <a:off x="20001" y="0"/>
                  <a:ext cx="3780878" cy="76981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p>
                  <a:pPr algn="ctr" defTabSz="1066800">
                    <a:lnSpc>
                      <a:spcPct val="90000"/>
                    </a:lnSpc>
                    <a:spcBef>
                      <a:spcPts val="1000"/>
                    </a:spcBef>
                    <a:defRPr sz="2400"/>
                  </a:pPr>
                  <a:r>
                    <a:t>Run tests and debug </a:t>
                  </a:r>
                  <a:br/>
                  <a:r>
                    <a:rPr sz="2000"/>
                    <a:t>until </a:t>
                  </a:r>
                  <a:r>
                    <a:rPr sz="2000" i="1"/>
                    <a:t>all</a:t>
                  </a:r>
                  <a:r>
                    <a:rPr sz="2000"/>
                    <a:t> tests pass</a:t>
                  </a:r>
                </a:p>
              </p:txBody>
            </p:sp>
          </p:grpSp>
          <p:sp>
            <p:nvSpPr>
              <p:cNvPr id="209" name="Arrow"/>
              <p:cNvSpPr/>
              <p:nvPr/>
            </p:nvSpPr>
            <p:spPr>
              <a:xfrm rot="5400000">
                <a:off x="1797593" y="3773185"/>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grpSp>
            <p:nvGrpSpPr>
              <p:cNvPr id="212" name="Group"/>
              <p:cNvGrpSpPr/>
              <p:nvPr/>
            </p:nvGrpSpPr>
            <p:grpSpPr>
              <a:xfrm>
                <a:off x="15201" y="4054132"/>
                <a:ext cx="3820882" cy="769819"/>
                <a:chOff x="0" y="0"/>
                <a:chExt cx="3820880" cy="769818"/>
              </a:xfrm>
            </p:grpSpPr>
            <p:sp>
              <p:nvSpPr>
                <p:cNvPr id="210" name="Rounded Rectangle"/>
                <p:cNvSpPr/>
                <p:nvPr/>
              </p:nvSpPr>
              <p:spPr>
                <a:xfrm>
                  <a:off x="0" y="43444"/>
                  <a:ext cx="3820881" cy="682930"/>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a:solidFill>
                        <a:srgbClr val="FFFFFF"/>
                      </a:solidFill>
                    </a:defRPr>
                  </a:pPr>
                  <a:endParaRPr/>
                </a:p>
              </p:txBody>
            </p:sp>
            <p:sp>
              <p:nvSpPr>
                <p:cNvPr id="211" name="Refactor and optimize  only if necessary"/>
                <p:cNvSpPr txBox="1"/>
                <p:nvPr/>
              </p:nvSpPr>
              <p:spPr>
                <a:xfrm>
                  <a:off x="20001" y="0"/>
                  <a:ext cx="3780878" cy="76981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p>
                  <a:pPr algn="ctr" defTabSz="1066800">
                    <a:lnSpc>
                      <a:spcPct val="90000"/>
                    </a:lnSpc>
                    <a:spcBef>
                      <a:spcPts val="1000"/>
                    </a:spcBef>
                    <a:defRPr sz="2400"/>
                  </a:pPr>
                  <a:r>
                    <a:t>Refactor and optimize </a:t>
                  </a:r>
                  <a:br/>
                  <a:r>
                    <a:rPr sz="2000"/>
                    <a:t>only if necessary</a:t>
                  </a:r>
                </a:p>
              </p:txBody>
            </p:sp>
          </p:grpSp>
        </p:grpSp>
        <p:sp>
          <p:nvSpPr>
            <p:cNvPr id="214" name="U-Turn Arrow 17"/>
            <p:cNvSpPr/>
            <p:nvPr/>
          </p:nvSpPr>
          <p:spPr>
            <a:xfrm rot="16200000">
              <a:off x="-1800201" y="1914656"/>
              <a:ext cx="4392490" cy="79208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9450"/>
                  </a:lnTo>
                  <a:cubicBezTo>
                    <a:pt x="0" y="4231"/>
                    <a:pt x="763" y="0"/>
                    <a:pt x="1704" y="0"/>
                  </a:cubicBezTo>
                  <a:lnTo>
                    <a:pt x="19438" y="0"/>
                  </a:lnTo>
                  <a:cubicBezTo>
                    <a:pt x="20379" y="0"/>
                    <a:pt x="21142" y="4231"/>
                    <a:pt x="21142" y="9450"/>
                  </a:cubicBezTo>
                  <a:lnTo>
                    <a:pt x="21142" y="16200"/>
                  </a:lnTo>
                  <a:lnTo>
                    <a:pt x="21600" y="16200"/>
                  </a:lnTo>
                  <a:lnTo>
                    <a:pt x="20655" y="21600"/>
                  </a:lnTo>
                  <a:lnTo>
                    <a:pt x="19710" y="16200"/>
                  </a:lnTo>
                  <a:lnTo>
                    <a:pt x="20168" y="16200"/>
                  </a:lnTo>
                  <a:lnTo>
                    <a:pt x="20168" y="9450"/>
                  </a:lnTo>
                  <a:cubicBezTo>
                    <a:pt x="20168" y="7213"/>
                    <a:pt x="19841" y="5400"/>
                    <a:pt x="19438" y="5400"/>
                  </a:cubicBezTo>
                  <a:lnTo>
                    <a:pt x="1704" y="5400"/>
                  </a:lnTo>
                  <a:cubicBezTo>
                    <a:pt x="1301" y="5400"/>
                    <a:pt x="974" y="7213"/>
                    <a:pt x="974" y="9450"/>
                  </a:cubicBezTo>
                  <a:lnTo>
                    <a:pt x="974" y="21600"/>
                  </a:lnTo>
                  <a:close/>
                </a:path>
              </a:pathLst>
            </a:custGeom>
            <a:solidFill>
              <a:srgbClr val="FFFFFF"/>
            </a:solidFill>
            <a:ln w="38100" cap="flat">
              <a:solidFill>
                <a:srgbClr val="FF0000"/>
              </a:solidFill>
              <a:prstDash val="solid"/>
              <a:miter lim="800000"/>
            </a:ln>
            <a:effectLst/>
          </p:spPr>
          <p:txBody>
            <a:bodyPr wrap="square" lIns="45719" tIns="45719" rIns="45719" bIns="45719" numCol="1" anchor="ctr">
              <a:noAutofit/>
            </a:bodyPr>
            <a:lstStyle/>
            <a:p>
              <a:pPr algn="ctr">
                <a:defRPr sz="2800"/>
              </a:pPr>
              <a:endParaRPr/>
            </a:p>
          </p:txBody>
        </p:sp>
      </p:grpSp>
      <p:sp>
        <p:nvSpPr>
          <p:cNvPr id="216" name="U-Turn Arrow 18"/>
          <p:cNvSpPr/>
          <p:nvPr/>
        </p:nvSpPr>
        <p:spPr>
          <a:xfrm rot="16200000" flipV="1">
            <a:off x="6312024" y="4869160"/>
            <a:ext cx="1296145" cy="57606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12977"/>
                </a:lnTo>
                <a:cubicBezTo>
                  <a:pt x="0" y="5810"/>
                  <a:pt x="2582" y="0"/>
                  <a:pt x="5768" y="0"/>
                </a:cubicBezTo>
                <a:lnTo>
                  <a:pt x="14894" y="0"/>
                </a:lnTo>
                <a:cubicBezTo>
                  <a:pt x="18079" y="0"/>
                  <a:pt x="20661" y="5810"/>
                  <a:pt x="20661" y="12977"/>
                </a:cubicBezTo>
                <a:lnTo>
                  <a:pt x="20661" y="15080"/>
                </a:lnTo>
                <a:lnTo>
                  <a:pt x="21600" y="15080"/>
                </a:lnTo>
                <a:lnTo>
                  <a:pt x="19200" y="21600"/>
                </a:lnTo>
                <a:lnTo>
                  <a:pt x="16800" y="15080"/>
                </a:lnTo>
                <a:lnTo>
                  <a:pt x="17739" y="15080"/>
                </a:lnTo>
                <a:lnTo>
                  <a:pt x="17739" y="12977"/>
                </a:lnTo>
                <a:cubicBezTo>
                  <a:pt x="17739" y="9442"/>
                  <a:pt x="16465" y="6576"/>
                  <a:pt x="14894" y="6576"/>
                </a:cubicBezTo>
                <a:lnTo>
                  <a:pt x="5768" y="6576"/>
                </a:lnTo>
                <a:cubicBezTo>
                  <a:pt x="4196" y="6576"/>
                  <a:pt x="2923" y="9442"/>
                  <a:pt x="2923" y="12977"/>
                </a:cubicBezTo>
                <a:lnTo>
                  <a:pt x="2923" y="21600"/>
                </a:lnTo>
                <a:close/>
              </a:path>
            </a:pathLst>
          </a:custGeom>
          <a:solidFill>
            <a:srgbClr val="FFFFFF"/>
          </a:solidFill>
          <a:ln w="38100">
            <a:solidFill>
              <a:srgbClr val="0ECC00"/>
            </a:solidFill>
            <a:miter/>
          </a:ln>
        </p:spPr>
        <p:txBody>
          <a:bodyPr lIns="45719" rIns="45719" anchor="ctr"/>
          <a:lstStyle/>
          <a:p>
            <a:pPr algn="ctr">
              <a:defRPr sz="2800"/>
            </a:pPr>
            <a:endParaRPr/>
          </a:p>
        </p:txBody>
      </p:sp>
      <p:pic>
        <p:nvPicPr>
          <p:cNvPr id="217" name="Picture 6" descr="Picture 6"/>
          <p:cNvPicPr>
            <a:picLocks noChangeAspect="1"/>
          </p:cNvPicPr>
          <p:nvPr/>
        </p:nvPicPr>
        <p:blipFill>
          <a:blip r:embed="rId3"/>
          <a:stretch>
            <a:fillRect/>
          </a:stretch>
        </p:blipFill>
        <p:spPr>
          <a:xfrm flipH="1">
            <a:off x="9727702" y="4149080"/>
            <a:ext cx="2386137" cy="2386137"/>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Footer Placeholder 4"/>
          <p:cNvSpPr txBox="1"/>
          <p:nvPr/>
        </p:nvSpPr>
        <p:spPr>
          <a:xfrm>
            <a:off x="4084319" y="6356350"/>
            <a:ext cx="40233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defTabSz="914400">
              <a:spcBef>
                <a:spcPts val="600"/>
              </a:spcBef>
              <a:defRPr sz="1200">
                <a:solidFill>
                  <a:srgbClr val="FFFFFF"/>
                </a:solidFill>
              </a:defRPr>
            </a:lvl1pPr>
          </a:lstStyle>
          <a:p>
            <a:r>
              <a:t>Testing scientific code, v16.0</a:t>
            </a:r>
          </a:p>
        </p:txBody>
      </p:sp>
      <p:sp>
        <p:nvSpPr>
          <p:cNvPr id="222" name="Rectangle 10246"/>
          <p:cNvSpPr/>
          <p:nvPr/>
        </p:nvSpPr>
        <p:spPr>
          <a:xfrm>
            <a:off x="0" y="-1"/>
            <a:ext cx="12192000" cy="6858001"/>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223" name="Picture 2" descr="Picture 2"/>
          <p:cNvPicPr>
            <a:picLocks noChangeAspect="1"/>
          </p:cNvPicPr>
          <p:nvPr/>
        </p:nvPicPr>
        <p:blipFill>
          <a:blip r:embed="rId3">
            <a:alphaModFix amt="50000"/>
          </a:blip>
          <a:stretch>
            <a:fillRect/>
          </a:stretch>
        </p:blipFill>
        <p:spPr>
          <a:xfrm>
            <a:off x="19" y="1"/>
            <a:ext cx="12191981" cy="6858000"/>
          </a:xfrm>
          <a:prstGeom prst="rect">
            <a:avLst/>
          </a:prstGeom>
          <a:ln w="12700">
            <a:miter lim="400000"/>
          </a:ln>
        </p:spPr>
      </p:pic>
      <p:sp>
        <p:nvSpPr>
          <p:cNvPr id="224" name="Date Placeholder 1"/>
          <p:cNvSpPr txBox="1"/>
          <p:nvPr/>
        </p:nvSpPr>
        <p:spPr>
          <a:xfrm>
            <a:off x="883919" y="6356350"/>
            <a:ext cx="26517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defTabSz="914400">
              <a:spcBef>
                <a:spcPts val="600"/>
              </a:spcBef>
              <a:defRPr sz="1200">
                <a:solidFill>
                  <a:srgbClr val="FFFFFF"/>
                </a:solidFill>
              </a:defRPr>
            </a:lvl1pPr>
          </a:lstStyle>
          <a:p>
            <a:r>
              <a:rPr lang="de-DE" dirty="0"/>
              <a:t>August 2026, CC BY-SA 4.0</a:t>
            </a:r>
          </a:p>
        </p:txBody>
      </p:sp>
      <p:sp>
        <p:nvSpPr>
          <p:cNvPr id="225" name="Slide Number Placeholder 2"/>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92500" lnSpcReduction="10000"/>
          </a:bodyPr>
          <a:lstStyle>
            <a:lvl1pPr defTabSz="914400">
              <a:spcBef>
                <a:spcPts val="600"/>
              </a:spcBef>
            </a:lvl1pPr>
          </a:lstStyle>
          <a:p>
            <a:fld id="{86CB4B4D-7CA3-9044-876B-883B54F8677D}" type="slidenum">
              <a:t>10</a:t>
            </a:fld>
            <a:endParaRPr/>
          </a:p>
        </p:txBody>
      </p:sp>
      <p:sp>
        <p:nvSpPr>
          <p:cNvPr id="226" name="TextBox 5"/>
          <p:cNvSpPr txBox="1"/>
          <p:nvPr/>
        </p:nvSpPr>
        <p:spPr>
          <a:xfrm>
            <a:off x="1569719" y="1122361"/>
            <a:ext cx="9052562" cy="12265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normAutofit/>
          </a:bodyPr>
          <a:lstStyle>
            <a:lvl1pPr algn="ctr" defTabSz="914400">
              <a:lnSpc>
                <a:spcPct val="90000"/>
              </a:lnSpc>
              <a:spcBef>
                <a:spcPts val="600"/>
              </a:spcBef>
              <a:defRPr sz="6000">
                <a:solidFill>
                  <a:srgbClr val="FFFFFF"/>
                </a:solidFill>
                <a:latin typeface="Calibri Light"/>
                <a:ea typeface="Calibri Light"/>
                <a:cs typeface="Calibri Light"/>
                <a:sym typeface="Calibri Light"/>
              </a:defRPr>
            </a:lvl1pPr>
          </a:lstStyle>
          <a:p>
            <a:r>
              <a:t>Why test scientific code?</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229" name="Title 1"/>
          <p:cNvSpPr txBox="1">
            <a:spLocks noGrp="1"/>
          </p:cNvSpPr>
          <p:nvPr>
            <p:ph type="title"/>
          </p:nvPr>
        </p:nvSpPr>
        <p:spPr>
          <a:xfrm>
            <a:off x="838200" y="365125"/>
            <a:ext cx="10515600" cy="903634"/>
          </a:xfrm>
          <a:prstGeom prst="rect">
            <a:avLst/>
          </a:prstGeom>
        </p:spPr>
        <p:txBody>
          <a:bodyPr/>
          <a:lstStyle/>
          <a:p>
            <a:r>
              <a:t>Why write tests at all?</a:t>
            </a:r>
          </a:p>
        </p:txBody>
      </p:sp>
      <p:sp>
        <p:nvSpPr>
          <p:cNvPr id="230" name="Content Placeholder 2"/>
          <p:cNvSpPr txBox="1">
            <a:spLocks noGrp="1"/>
          </p:cNvSpPr>
          <p:nvPr>
            <p:ph type="body" idx="1"/>
          </p:nvPr>
        </p:nvSpPr>
        <p:spPr>
          <a:xfrm>
            <a:off x="838200" y="1412775"/>
            <a:ext cx="10515600" cy="5001985"/>
          </a:xfrm>
          <a:prstGeom prst="rect">
            <a:avLst/>
          </a:prstGeom>
        </p:spPr>
        <p:txBody>
          <a:bodyPr>
            <a:normAutofit/>
          </a:bodyPr>
          <a:lstStyle/>
          <a:p>
            <a:pPr>
              <a:defRPr b="1"/>
            </a:pPr>
            <a:r>
              <a:rPr dirty="0"/>
              <a:t>Confidence while </a:t>
            </a:r>
            <a:r>
              <a:rPr lang="en-US" dirty="0"/>
              <a:t>re-using code</a:t>
            </a:r>
            <a:r>
              <a:rPr dirty="0"/>
              <a:t>:</a:t>
            </a:r>
          </a:p>
          <a:p>
            <a:pPr marL="685800" lvl="1" indent="-228600">
              <a:spcBef>
                <a:spcPts val="500"/>
              </a:spcBef>
              <a:defRPr sz="2400"/>
            </a:pPr>
            <a:r>
              <a:rPr dirty="0"/>
              <a:t>Write the code once and use it confidently everywhere else: </a:t>
            </a:r>
            <a:br>
              <a:rPr dirty="0"/>
            </a:br>
            <a:r>
              <a:rPr dirty="0">
                <a:solidFill>
                  <a:srgbClr val="FF1148"/>
                </a:solidFill>
              </a:rPr>
              <a:t>avoid the </a:t>
            </a:r>
            <a:r>
              <a:rPr i="1" dirty="0">
                <a:solidFill>
                  <a:srgbClr val="FF1148"/>
                </a:solidFill>
              </a:rPr>
              <a:t>negative result</a:t>
            </a:r>
            <a:r>
              <a:rPr dirty="0">
                <a:solidFill>
                  <a:srgbClr val="FF1148"/>
                </a:solidFill>
              </a:rPr>
              <a:t> effect!</a:t>
            </a:r>
          </a:p>
          <a:p>
            <a:pPr>
              <a:defRPr b="1"/>
            </a:pPr>
            <a:r>
              <a:rPr lang="de-DE" dirty="0"/>
              <a:t>Confidence </a:t>
            </a:r>
            <a:r>
              <a:rPr lang="de-DE" dirty="0" err="1"/>
              <a:t>while</a:t>
            </a:r>
            <a:r>
              <a:rPr lang="de-DE" dirty="0"/>
              <a:t> </a:t>
            </a:r>
            <a:r>
              <a:rPr lang="de-DE" dirty="0" err="1"/>
              <a:t>editing</a:t>
            </a:r>
            <a:r>
              <a:rPr lang="de-DE" dirty="0"/>
              <a:t> code:</a:t>
            </a:r>
          </a:p>
          <a:p>
            <a:pPr marL="685800" lvl="1">
              <a:spcBef>
                <a:spcPts val="500"/>
              </a:spcBef>
              <a:defRPr sz="2400"/>
            </a:pPr>
            <a:r>
              <a:rPr lang="de-DE" dirty="0" err="1"/>
              <a:t>When</a:t>
            </a:r>
            <a:r>
              <a:rPr lang="de-DE" dirty="0"/>
              <a:t> </a:t>
            </a:r>
            <a:r>
              <a:rPr lang="de-DE" dirty="0" err="1"/>
              <a:t>you</a:t>
            </a:r>
            <a:r>
              <a:rPr lang="de-DE" dirty="0"/>
              <a:t> </a:t>
            </a:r>
            <a:r>
              <a:rPr lang="de-DE" dirty="0" err="1"/>
              <a:t>have</a:t>
            </a:r>
            <a:r>
              <a:rPr lang="de-DE" dirty="0"/>
              <a:t> </a:t>
            </a:r>
            <a:r>
              <a:rPr lang="de-DE" dirty="0" err="1"/>
              <a:t>tests</a:t>
            </a:r>
            <a:r>
              <a:rPr lang="de-DE" dirty="0"/>
              <a:t>, </a:t>
            </a:r>
            <a:r>
              <a:rPr lang="de-DE" dirty="0" err="1"/>
              <a:t>you</a:t>
            </a:r>
            <a:r>
              <a:rPr lang="de-DE" dirty="0"/>
              <a:t> </a:t>
            </a:r>
            <a:r>
              <a:rPr lang="de-DE" dirty="0" err="1"/>
              <a:t>can</a:t>
            </a:r>
            <a:r>
              <a:rPr lang="de-DE" dirty="0"/>
              <a:t> </a:t>
            </a:r>
            <a:r>
              <a:rPr lang="de-DE" dirty="0" err="1"/>
              <a:t>change</a:t>
            </a:r>
            <a:r>
              <a:rPr lang="de-DE" dirty="0"/>
              <a:t> </a:t>
            </a:r>
            <a:r>
              <a:rPr lang="de-DE" dirty="0" err="1"/>
              <a:t>any</a:t>
            </a:r>
            <a:r>
              <a:rPr lang="de-DE" dirty="0"/>
              <a:t> </a:t>
            </a:r>
            <a:r>
              <a:rPr lang="de-DE" dirty="0" err="1"/>
              <a:t>part</a:t>
            </a:r>
            <a:r>
              <a:rPr lang="de-DE" dirty="0"/>
              <a:t> </a:t>
            </a:r>
            <a:r>
              <a:rPr lang="de-DE" dirty="0" err="1"/>
              <a:t>of</a:t>
            </a:r>
            <a:r>
              <a:rPr lang="de-DE" dirty="0"/>
              <a:t> </a:t>
            </a:r>
            <a:r>
              <a:rPr lang="de-DE" dirty="0" err="1"/>
              <a:t>your</a:t>
            </a:r>
            <a:r>
              <a:rPr lang="de-DE" dirty="0"/>
              <a:t> code and </a:t>
            </a:r>
            <a:r>
              <a:rPr lang="de-DE" dirty="0" err="1"/>
              <a:t>you</a:t>
            </a:r>
            <a:r>
              <a:rPr lang="de-DE" dirty="0"/>
              <a:t> will </a:t>
            </a:r>
            <a:r>
              <a:rPr lang="de-DE" dirty="0" err="1"/>
              <a:t>be</a:t>
            </a:r>
            <a:r>
              <a:rPr lang="de-DE" dirty="0"/>
              <a:t> </a:t>
            </a:r>
            <a:r>
              <a:rPr lang="de-DE" dirty="0" err="1"/>
              <a:t>confident</a:t>
            </a:r>
            <a:r>
              <a:rPr lang="de-DE" dirty="0"/>
              <a:t> </a:t>
            </a:r>
            <a:r>
              <a:rPr lang="de-DE" dirty="0" err="1"/>
              <a:t>that</a:t>
            </a:r>
            <a:r>
              <a:rPr lang="de-DE" dirty="0"/>
              <a:t> </a:t>
            </a:r>
            <a:r>
              <a:rPr lang="de-DE" dirty="0" err="1"/>
              <a:t>you</a:t>
            </a:r>
            <a:r>
              <a:rPr lang="de-DE" dirty="0"/>
              <a:t> </a:t>
            </a:r>
            <a:r>
              <a:rPr lang="de-DE" dirty="0" err="1"/>
              <a:t>have</a:t>
            </a:r>
            <a:r>
              <a:rPr lang="de-DE" dirty="0"/>
              <a:t> not </a:t>
            </a:r>
            <a:r>
              <a:rPr lang="de-DE" dirty="0" err="1"/>
              <a:t>changed</a:t>
            </a:r>
            <a:r>
              <a:rPr lang="de-DE" dirty="0"/>
              <a:t> </a:t>
            </a:r>
            <a:r>
              <a:rPr lang="de-DE" dirty="0" err="1"/>
              <a:t>the</a:t>
            </a:r>
            <a:r>
              <a:rPr lang="de-DE" dirty="0"/>
              <a:t> </a:t>
            </a:r>
            <a:r>
              <a:rPr lang="de-DE" dirty="0" err="1"/>
              <a:t>result</a:t>
            </a:r>
            <a:endParaRPr lang="de-DE" dirty="0"/>
          </a:p>
          <a:p>
            <a:pPr marL="1196339" lvl="2">
              <a:spcBef>
                <a:spcPts val="500"/>
              </a:spcBef>
              <a:defRPr sz="2400"/>
            </a:pPr>
            <a:r>
              <a:rPr lang="de-DE" dirty="0" err="1"/>
              <a:t>change</a:t>
            </a:r>
            <a:r>
              <a:rPr lang="de-DE" dirty="0"/>
              <a:t> </a:t>
            </a:r>
            <a:r>
              <a:rPr lang="de-DE" dirty="0" err="1"/>
              <a:t>any</a:t>
            </a:r>
            <a:r>
              <a:rPr lang="de-DE" dirty="0"/>
              <a:t> </a:t>
            </a:r>
            <a:r>
              <a:rPr lang="de-DE" dirty="0" err="1"/>
              <a:t>line</a:t>
            </a:r>
            <a:r>
              <a:rPr lang="de-DE" dirty="0"/>
              <a:t> in </a:t>
            </a:r>
            <a:r>
              <a:rPr lang="de-DE" dirty="0" err="1"/>
              <a:t>the</a:t>
            </a:r>
            <a:r>
              <a:rPr lang="de-DE" dirty="0"/>
              <a:t> code </a:t>
            </a:r>
          </a:p>
          <a:p>
            <a:pPr marL="1196339" lvl="2">
              <a:spcBef>
                <a:spcPts val="500"/>
              </a:spcBef>
              <a:defRPr sz="2400"/>
            </a:pPr>
            <a:r>
              <a:rPr lang="en-US" dirty="0"/>
              <a:t>Refactor to improve readability/speed/memory usage</a:t>
            </a:r>
            <a:endParaRPr dirty="0"/>
          </a:p>
          <a:p>
            <a:pPr>
              <a:defRPr b="1"/>
            </a:pPr>
            <a:r>
              <a:rPr dirty="0"/>
              <a:t>Confidence in correctness:</a:t>
            </a:r>
          </a:p>
          <a:p>
            <a:pPr marL="685800" lvl="1" indent="-228600">
              <a:spcBef>
                <a:spcPts val="500"/>
              </a:spcBef>
              <a:defRPr sz="2400"/>
            </a:pPr>
            <a:r>
              <a:rPr dirty="0"/>
              <a:t>Correctness is main requirement for scientific code</a:t>
            </a:r>
          </a:p>
          <a:p>
            <a:pPr marL="685800" lvl="1" indent="-228600">
              <a:spcBef>
                <a:spcPts val="500"/>
              </a:spcBef>
              <a:defRPr sz="2400"/>
            </a:pPr>
            <a:r>
              <a:rPr dirty="0"/>
              <a:t>You </a:t>
            </a:r>
            <a:r>
              <a:rPr b="1" dirty="0"/>
              <a:t>must</a:t>
            </a:r>
            <a:r>
              <a:rPr dirty="0"/>
              <a:t> have a strategy to ensure correctness</a:t>
            </a:r>
          </a:p>
        </p:txBody>
      </p:sp>
      <p:sp>
        <p:nvSpPr>
          <p:cNvPr id="231"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232"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Footer Placeholder 5"/>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237" name="Title 1"/>
          <p:cNvSpPr txBox="1">
            <a:spLocks noGrp="1"/>
          </p:cNvSpPr>
          <p:nvPr>
            <p:ph type="title"/>
          </p:nvPr>
        </p:nvSpPr>
        <p:spPr>
          <a:xfrm>
            <a:off x="838200" y="365125"/>
            <a:ext cx="10515600" cy="903634"/>
          </a:xfrm>
          <a:prstGeom prst="rect">
            <a:avLst/>
          </a:prstGeom>
        </p:spPr>
        <p:txBody>
          <a:bodyPr/>
          <a:lstStyle/>
          <a:p>
            <a:r>
              <a:t>Effect of software bugs in science</a:t>
            </a:r>
          </a:p>
        </p:txBody>
      </p:sp>
      <p:sp>
        <p:nvSpPr>
          <p:cNvPr id="238" name="Date Placeholder 4"/>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239" name="Slide Number Placeholder 2"/>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grpSp>
        <p:nvGrpSpPr>
          <p:cNvPr id="246" name="Group 19"/>
          <p:cNvGrpSpPr/>
          <p:nvPr/>
        </p:nvGrpSpPr>
        <p:grpSpPr>
          <a:xfrm>
            <a:off x="2954090" y="1268761"/>
            <a:ext cx="5734197" cy="3724560"/>
            <a:chOff x="0" y="0"/>
            <a:chExt cx="5734195" cy="3724558"/>
          </a:xfrm>
        </p:grpSpPr>
        <p:grpSp>
          <p:nvGrpSpPr>
            <p:cNvPr id="242" name="Group 11"/>
            <p:cNvGrpSpPr/>
            <p:nvPr/>
          </p:nvGrpSpPr>
          <p:grpSpPr>
            <a:xfrm>
              <a:off x="563899" y="0"/>
              <a:ext cx="5170297" cy="3312369"/>
              <a:chOff x="0" y="0"/>
              <a:chExt cx="5170296" cy="3312368"/>
            </a:xfrm>
          </p:grpSpPr>
          <p:sp>
            <p:nvSpPr>
              <p:cNvPr id="240" name="Straight Arrow Connector 8"/>
              <p:cNvSpPr/>
              <p:nvPr/>
            </p:nvSpPr>
            <p:spPr>
              <a:xfrm flipV="1">
                <a:off x="0" y="-1"/>
                <a:ext cx="1" cy="3305109"/>
              </a:xfrm>
              <a:prstGeom prst="line">
                <a:avLst/>
              </a:prstGeom>
              <a:noFill/>
              <a:ln w="28575" cap="flat">
                <a:solidFill>
                  <a:srgbClr val="000000"/>
                </a:solidFill>
                <a:prstDash val="solid"/>
                <a:miter lim="800000"/>
                <a:tailEnd type="triangle" w="med" len="med"/>
              </a:ln>
              <a:effectLst/>
            </p:spPr>
            <p:txBody>
              <a:bodyPr wrap="square" lIns="45719" tIns="45719" rIns="45719" bIns="45719" numCol="1" anchor="t">
                <a:noAutofit/>
              </a:bodyPr>
              <a:lstStyle/>
              <a:p>
                <a:endParaRPr/>
              </a:p>
            </p:txBody>
          </p:sp>
          <p:sp>
            <p:nvSpPr>
              <p:cNvPr id="241" name="Straight Arrow Connector 9"/>
              <p:cNvSpPr/>
              <p:nvPr/>
            </p:nvSpPr>
            <p:spPr>
              <a:xfrm flipV="1">
                <a:off x="-1" y="3305108"/>
                <a:ext cx="5170298" cy="7261"/>
              </a:xfrm>
              <a:prstGeom prst="line">
                <a:avLst/>
              </a:prstGeom>
              <a:noFill/>
              <a:ln w="28575" cap="flat">
                <a:solidFill>
                  <a:srgbClr val="000000"/>
                </a:solidFill>
                <a:prstDash val="solid"/>
                <a:miter lim="800000"/>
                <a:tailEnd type="triangle" w="med" len="med"/>
              </a:ln>
              <a:effectLst/>
            </p:spPr>
            <p:txBody>
              <a:bodyPr wrap="square" lIns="45719" tIns="45719" rIns="45719" bIns="45719" numCol="1" anchor="t">
                <a:noAutofit/>
              </a:bodyPr>
              <a:lstStyle/>
              <a:p>
                <a:endParaRPr/>
              </a:p>
            </p:txBody>
          </p:sp>
        </p:grpSp>
        <p:sp>
          <p:nvSpPr>
            <p:cNvPr id="243" name="TextBox 12"/>
            <p:cNvSpPr txBox="1"/>
            <p:nvPr/>
          </p:nvSpPr>
          <p:spPr>
            <a:xfrm rot="16200000">
              <a:off x="-520334" y="1430151"/>
              <a:ext cx="1380849" cy="34018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a:lvl1pPr>
            </a:lstStyle>
            <a:p>
              <a:r>
                <a:t>frequency</a:t>
              </a:r>
            </a:p>
          </p:txBody>
        </p:sp>
        <p:sp>
          <p:nvSpPr>
            <p:cNvPr id="244" name="TextBox 13"/>
            <p:cNvSpPr txBox="1"/>
            <p:nvPr/>
          </p:nvSpPr>
          <p:spPr>
            <a:xfrm>
              <a:off x="2533722" y="3384376"/>
              <a:ext cx="1714595" cy="34018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lvl1pPr algn="ctr">
                <a:defRPr sz="2000"/>
              </a:lvl1pPr>
            </a:lstStyle>
            <a:p>
              <a:r>
                <a:t>bug severity</a:t>
              </a:r>
            </a:p>
          </p:txBody>
        </p:sp>
        <p:sp>
          <p:nvSpPr>
            <p:cNvPr id="245" name="Freeform 18"/>
            <p:cNvSpPr/>
            <p:nvPr/>
          </p:nvSpPr>
          <p:spPr>
            <a:xfrm>
              <a:off x="711622" y="216024"/>
              <a:ext cx="4957820" cy="2952330"/>
            </a:xfrm>
            <a:custGeom>
              <a:avLst/>
              <a:gdLst/>
              <a:ahLst/>
              <a:cxnLst>
                <a:cxn ang="0">
                  <a:pos x="wd2" y="hd2"/>
                </a:cxn>
                <a:cxn ang="5400000">
                  <a:pos x="wd2" y="hd2"/>
                </a:cxn>
                <a:cxn ang="10800000">
                  <a:pos x="wd2" y="hd2"/>
                </a:cxn>
                <a:cxn ang="16200000">
                  <a:pos x="wd2" y="hd2"/>
                </a:cxn>
              </a:cxnLst>
              <a:rect l="0" t="0" r="r" b="b"/>
              <a:pathLst>
                <a:path w="21600" h="21576" extrusionOk="0">
                  <a:moveTo>
                    <a:pt x="0" y="0"/>
                  </a:moveTo>
                  <a:cubicBezTo>
                    <a:pt x="300" y="7204"/>
                    <a:pt x="600" y="14408"/>
                    <a:pt x="4200" y="18004"/>
                  </a:cubicBezTo>
                  <a:cubicBezTo>
                    <a:pt x="7800" y="21600"/>
                    <a:pt x="21600" y="21576"/>
                    <a:pt x="21600" y="21576"/>
                  </a:cubicBezTo>
                </a:path>
              </a:pathLst>
            </a:custGeom>
            <a:noFill/>
            <a:ln w="38100" cap="flat">
              <a:solidFill>
                <a:srgbClr val="FF0000"/>
              </a:solidFill>
              <a:prstDash val="solid"/>
              <a:miter lim="800000"/>
            </a:ln>
            <a:effectLst/>
          </p:spPr>
          <p:txBody>
            <a:bodyPr wrap="square" lIns="45719" tIns="45719" rIns="45719" bIns="45719" numCol="1" anchor="ctr">
              <a:noAutofit/>
            </a:bodyPr>
            <a:lstStyle/>
            <a:p>
              <a:pPr algn="ctr"/>
              <a:endParaRPr/>
            </a:p>
          </p:txBody>
        </p:sp>
      </p:grpSp>
      <p:grpSp>
        <p:nvGrpSpPr>
          <p:cNvPr id="249" name="Group 27"/>
          <p:cNvGrpSpPr/>
          <p:nvPr/>
        </p:nvGrpSpPr>
        <p:grpSpPr>
          <a:xfrm>
            <a:off x="3261400" y="4797154"/>
            <a:ext cx="1420728" cy="1273260"/>
            <a:chOff x="0" y="0"/>
            <a:chExt cx="1420727" cy="1273259"/>
          </a:xfrm>
        </p:grpSpPr>
        <p:sp>
          <p:nvSpPr>
            <p:cNvPr id="247" name="Straight Arrow Connector 21"/>
            <p:cNvSpPr/>
            <p:nvPr/>
          </p:nvSpPr>
          <p:spPr>
            <a:xfrm flipV="1">
              <a:off x="674359" y="0"/>
              <a:ext cx="1" cy="576065"/>
            </a:xfrm>
            <a:prstGeom prst="line">
              <a:avLst/>
            </a:prstGeom>
            <a:noFill/>
            <a:ln w="12700" cap="flat">
              <a:solidFill>
                <a:srgbClr val="000000"/>
              </a:solidFill>
              <a:prstDash val="solid"/>
              <a:miter lim="800000"/>
              <a:tailEnd type="triangle" w="med" len="med"/>
            </a:ln>
            <a:effectLst/>
          </p:spPr>
          <p:txBody>
            <a:bodyPr wrap="square" lIns="45719" tIns="45719" rIns="45719" bIns="45719" numCol="1" anchor="t">
              <a:noAutofit/>
            </a:bodyPr>
            <a:lstStyle/>
            <a:p>
              <a:endParaRPr/>
            </a:p>
          </p:txBody>
        </p:sp>
        <p:sp>
          <p:nvSpPr>
            <p:cNvPr id="248" name="TextBox 24"/>
            <p:cNvSpPr txBox="1"/>
            <p:nvPr/>
          </p:nvSpPr>
          <p:spPr>
            <a:xfrm>
              <a:off x="0" y="648072"/>
              <a:ext cx="1420728" cy="6251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r>
                <a:t>oops, wrong labels!</a:t>
              </a:r>
            </a:p>
          </p:txBody>
        </p:sp>
      </p:grpSp>
      <p:grpSp>
        <p:nvGrpSpPr>
          <p:cNvPr id="252" name="Group 28"/>
          <p:cNvGrpSpPr/>
          <p:nvPr/>
        </p:nvGrpSpPr>
        <p:grpSpPr>
          <a:xfrm>
            <a:off x="4845575" y="4797154"/>
            <a:ext cx="1492737" cy="1273261"/>
            <a:chOff x="0" y="0"/>
            <a:chExt cx="1492736" cy="1273259"/>
          </a:xfrm>
        </p:grpSpPr>
        <p:sp>
          <p:nvSpPr>
            <p:cNvPr id="250" name="Straight Arrow Connector 22"/>
            <p:cNvSpPr/>
            <p:nvPr/>
          </p:nvSpPr>
          <p:spPr>
            <a:xfrm flipV="1">
              <a:off x="674359" y="0"/>
              <a:ext cx="1" cy="576065"/>
            </a:xfrm>
            <a:prstGeom prst="line">
              <a:avLst/>
            </a:prstGeom>
            <a:noFill/>
            <a:ln w="12700" cap="flat">
              <a:solidFill>
                <a:srgbClr val="000000"/>
              </a:solidFill>
              <a:prstDash val="solid"/>
              <a:miter lim="800000"/>
              <a:tailEnd type="triangle" w="med" len="med"/>
            </a:ln>
            <a:effectLst/>
          </p:spPr>
          <p:txBody>
            <a:bodyPr wrap="square" lIns="45719" tIns="45719" rIns="45719" bIns="45719" numCol="1" anchor="t">
              <a:noAutofit/>
            </a:bodyPr>
            <a:lstStyle/>
            <a:p>
              <a:endParaRPr/>
            </a:p>
          </p:txBody>
        </p:sp>
        <p:sp>
          <p:nvSpPr>
            <p:cNvPr id="251" name="TextBox 25"/>
            <p:cNvSpPr txBox="1"/>
            <p:nvPr/>
          </p:nvSpPr>
          <p:spPr>
            <a:xfrm>
              <a:off x="0" y="648072"/>
              <a:ext cx="1492736" cy="6251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r>
                <a:t>need to send </a:t>
              </a:r>
              <a:r>
                <a:rPr i="1"/>
                <a:t>errata corrige</a:t>
              </a:r>
            </a:p>
          </p:txBody>
        </p:sp>
      </p:grpSp>
      <p:grpSp>
        <p:nvGrpSpPr>
          <p:cNvPr id="255" name="Group 29"/>
          <p:cNvGrpSpPr/>
          <p:nvPr/>
        </p:nvGrpSpPr>
        <p:grpSpPr>
          <a:xfrm>
            <a:off x="7509872" y="4797152"/>
            <a:ext cx="1492737" cy="981160"/>
            <a:chOff x="0" y="0"/>
            <a:chExt cx="1492736" cy="981158"/>
          </a:xfrm>
        </p:grpSpPr>
        <p:sp>
          <p:nvSpPr>
            <p:cNvPr id="253" name="Straight Arrow Connector 23"/>
            <p:cNvSpPr/>
            <p:nvPr/>
          </p:nvSpPr>
          <p:spPr>
            <a:xfrm flipV="1">
              <a:off x="746367" y="0"/>
              <a:ext cx="1" cy="576065"/>
            </a:xfrm>
            <a:prstGeom prst="line">
              <a:avLst/>
            </a:prstGeom>
            <a:noFill/>
            <a:ln w="12700" cap="flat">
              <a:solidFill>
                <a:srgbClr val="000000"/>
              </a:solidFill>
              <a:prstDash val="solid"/>
              <a:miter lim="800000"/>
              <a:tailEnd type="triangle" w="med" len="med"/>
            </a:ln>
            <a:effectLst/>
          </p:spPr>
          <p:txBody>
            <a:bodyPr wrap="square" lIns="45719" tIns="45719" rIns="45719" bIns="45719" numCol="1" anchor="t">
              <a:noAutofit/>
            </a:bodyPr>
            <a:lstStyle/>
            <a:p>
              <a:endParaRPr/>
            </a:p>
          </p:txBody>
        </p:sp>
        <p:sp>
          <p:nvSpPr>
            <p:cNvPr id="254" name="TextBox 26"/>
            <p:cNvSpPr txBox="1"/>
            <p:nvPr/>
          </p:nvSpPr>
          <p:spPr>
            <a:xfrm>
              <a:off x="0" y="648071"/>
              <a:ext cx="1492736" cy="33308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r>
                <a:t>end of career</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1" animBg="1" advAuto="0"/>
      <p:bldP spid="252" grpId="2" animBg="1" advAuto="0"/>
      <p:bldP spid="255" grpId="3"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Footer Placeholder 5"/>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260" name="Title 6"/>
          <p:cNvSpPr txBox="1">
            <a:spLocks noGrp="1"/>
          </p:cNvSpPr>
          <p:nvPr>
            <p:ph type="title"/>
          </p:nvPr>
        </p:nvSpPr>
        <p:spPr>
          <a:xfrm>
            <a:off x="838200" y="365125"/>
            <a:ext cx="10515600" cy="903634"/>
          </a:xfrm>
          <a:prstGeom prst="rect">
            <a:avLst/>
          </a:prstGeom>
        </p:spPr>
        <p:txBody>
          <a:bodyPr/>
          <a:lstStyle/>
          <a:p>
            <a:r>
              <a:t>The unfortunate story of Geoffrey Chang</a:t>
            </a:r>
          </a:p>
        </p:txBody>
      </p:sp>
      <p:sp>
        <p:nvSpPr>
          <p:cNvPr id="261" name="Date Placeholder 4"/>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262" name="Slide Number Placeholder 2"/>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pic>
        <p:nvPicPr>
          <p:cNvPr id="263" name="Picture 7" descr="Picture 7"/>
          <p:cNvPicPr>
            <a:picLocks noChangeAspect="1"/>
          </p:cNvPicPr>
          <p:nvPr/>
        </p:nvPicPr>
        <p:blipFill>
          <a:blip r:embed="rId3"/>
          <a:stretch>
            <a:fillRect/>
          </a:stretch>
        </p:blipFill>
        <p:spPr>
          <a:xfrm>
            <a:off x="923962" y="2636911"/>
            <a:ext cx="5314876" cy="2232249"/>
          </a:xfrm>
          <a:prstGeom prst="rect">
            <a:avLst/>
          </a:prstGeom>
          <a:ln w="12700">
            <a:miter lim="400000"/>
          </a:ln>
        </p:spPr>
      </p:pic>
      <p:pic>
        <p:nvPicPr>
          <p:cNvPr id="264" name="Picture 9" descr="Picture 9"/>
          <p:cNvPicPr>
            <a:picLocks noChangeAspect="1"/>
          </p:cNvPicPr>
          <p:nvPr/>
        </p:nvPicPr>
        <p:blipFill>
          <a:blip r:embed="rId4"/>
          <a:stretch>
            <a:fillRect/>
          </a:stretch>
        </p:blipFill>
        <p:spPr>
          <a:xfrm>
            <a:off x="7320136" y="2636911"/>
            <a:ext cx="3589819" cy="3779382"/>
          </a:xfrm>
          <a:prstGeom prst="rect">
            <a:avLst/>
          </a:prstGeom>
          <a:ln w="12700">
            <a:miter lim="400000"/>
          </a:ln>
        </p:spPr>
      </p:pic>
      <p:sp>
        <p:nvSpPr>
          <p:cNvPr id="265" name="TextBox 1"/>
          <p:cNvSpPr txBox="1"/>
          <p:nvPr/>
        </p:nvSpPr>
        <p:spPr>
          <a:xfrm>
            <a:off x="1388584" y="1377940"/>
            <a:ext cx="9414832" cy="6449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000"/>
            </a:lvl1pPr>
          </a:lstStyle>
          <a:p>
            <a:r>
              <a:t>Science, Dec 2006: 5 high-profile retractions (3x Science, PNAS, J. Mol. Biol.) because ”an in-house data reduction program introduced a change in sign for anomalous differences” </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Footer Placeholder 5"/>
          <p:cNvSpPr txBox="1"/>
          <p:nvPr/>
        </p:nvSpPr>
        <p:spPr>
          <a:xfrm>
            <a:off x="4084320" y="6414760"/>
            <a:ext cx="4023360"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285" name="Title 6"/>
          <p:cNvSpPr txBox="1">
            <a:spLocks noGrp="1"/>
          </p:cNvSpPr>
          <p:nvPr>
            <p:ph type="title"/>
          </p:nvPr>
        </p:nvSpPr>
        <p:spPr>
          <a:xfrm>
            <a:off x="838200" y="365125"/>
            <a:ext cx="10515600" cy="903634"/>
          </a:xfrm>
          <a:prstGeom prst="rect">
            <a:avLst/>
          </a:prstGeom>
        </p:spPr>
        <p:txBody>
          <a:bodyPr/>
          <a:lstStyle/>
          <a:p>
            <a:r>
              <a:t>2024 CrowdStrike incident</a:t>
            </a:r>
          </a:p>
        </p:txBody>
      </p:sp>
      <p:sp>
        <p:nvSpPr>
          <p:cNvPr id="286" name="Date Placeholder 4"/>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287" name="Slide Number Placeholder 2"/>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14</a:t>
            </a:fld>
            <a:endParaRPr/>
          </a:p>
        </p:txBody>
      </p:sp>
      <p:sp>
        <p:nvSpPr>
          <p:cNvPr id="288" name="TextBox 1"/>
          <p:cNvSpPr txBox="1"/>
          <p:nvPr/>
        </p:nvSpPr>
        <p:spPr>
          <a:xfrm>
            <a:off x="1388584" y="1377940"/>
            <a:ext cx="9414832" cy="10156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2000"/>
            </a:pPr>
            <a:r>
              <a:rPr lang="en-US" dirty="0"/>
              <a:t>A software update by </a:t>
            </a:r>
            <a:r>
              <a:rPr dirty="0"/>
              <a:t>CrowdStrike resulted in 8.5 million Microsoft Windows-based systems crashing, unable to restart (across hospitals, airports, companies, …)</a:t>
            </a:r>
          </a:p>
          <a:p>
            <a:pPr>
              <a:defRPr sz="2000"/>
            </a:pPr>
            <a:r>
              <a:rPr dirty="0"/>
              <a:t>—&gt; largest outage in the history of information technology</a:t>
            </a:r>
          </a:p>
        </p:txBody>
      </p:sp>
      <p:pic>
        <p:nvPicPr>
          <p:cNvPr id="289" name="Screenshot 2024-08-13 at 21.29.20.png" descr="Screenshot 2024-08-13 at 21.29.20.png"/>
          <p:cNvPicPr>
            <a:picLocks noChangeAspect="1"/>
          </p:cNvPicPr>
          <p:nvPr/>
        </p:nvPicPr>
        <p:blipFill>
          <a:blip r:embed="rId3"/>
          <a:stretch>
            <a:fillRect/>
          </a:stretch>
        </p:blipFill>
        <p:spPr>
          <a:xfrm>
            <a:off x="8136125" y="2540774"/>
            <a:ext cx="3555471" cy="3831570"/>
          </a:xfrm>
          <a:prstGeom prst="rect">
            <a:avLst/>
          </a:prstGeom>
          <a:ln w="12700">
            <a:miter lim="400000"/>
          </a:ln>
        </p:spPr>
      </p:pic>
      <p:sp>
        <p:nvSpPr>
          <p:cNvPr id="290" name="TextBox 1"/>
          <p:cNvSpPr txBox="1"/>
          <p:nvPr/>
        </p:nvSpPr>
        <p:spPr>
          <a:xfrm>
            <a:off x="1388584" y="2874307"/>
            <a:ext cx="6585835" cy="19389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defRPr sz="2000"/>
            </a:pPr>
            <a:r>
              <a:rPr dirty="0"/>
              <a:t>They changed one array from 20 entries to 21 entries, which caused a fatal error. </a:t>
            </a:r>
          </a:p>
          <a:p>
            <a:pPr>
              <a:defRPr sz="2000"/>
            </a:pPr>
            <a:endParaRPr dirty="0"/>
          </a:p>
          <a:p>
            <a:pPr>
              <a:defRPr sz="2000"/>
            </a:pPr>
            <a:r>
              <a:rPr dirty="0"/>
              <a:t>They </a:t>
            </a:r>
            <a:r>
              <a:rPr lang="en-US" dirty="0"/>
              <a:t>did not test this change properly:</a:t>
            </a:r>
            <a:endParaRPr dirty="0"/>
          </a:p>
          <a:p>
            <a:pPr marL="200526" indent="-200526">
              <a:buSzPct val="100000"/>
              <a:buChar char="-"/>
              <a:defRPr sz="2000"/>
            </a:pPr>
            <a:r>
              <a:rPr dirty="0"/>
              <a:t>their unit tests only tested the </a:t>
            </a:r>
            <a:r>
              <a:rPr lang="en-US" dirty="0"/>
              <a:t>most basic case (</a:t>
            </a:r>
            <a:r>
              <a:rPr dirty="0"/>
              <a:t>happy path</a:t>
            </a:r>
            <a:r>
              <a:rPr lang="en-US" dirty="0"/>
              <a:t>)</a:t>
            </a:r>
            <a:r>
              <a:rPr dirty="0"/>
              <a:t> </a:t>
            </a:r>
          </a:p>
          <a:p>
            <a:pPr marL="200526" indent="-200526">
              <a:buSzPct val="100000"/>
              <a:buChar char="-"/>
              <a:defRPr sz="2000"/>
            </a:pPr>
            <a:r>
              <a:rPr dirty="0"/>
              <a:t>their manual test only tested valid data</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Footer Placeholder 4"/>
          <p:cNvSpPr txBox="1"/>
          <p:nvPr/>
        </p:nvSpPr>
        <p:spPr>
          <a:xfrm>
            <a:off x="4084319" y="6356350"/>
            <a:ext cx="40233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defTabSz="914400">
              <a:spcBef>
                <a:spcPts val="600"/>
              </a:spcBef>
              <a:defRPr sz="1200">
                <a:solidFill>
                  <a:srgbClr val="FFFFFF"/>
                </a:solidFill>
              </a:defRPr>
            </a:lvl1pPr>
          </a:lstStyle>
          <a:p>
            <a:r>
              <a:t>Testing scientific code, v16.0</a:t>
            </a:r>
          </a:p>
        </p:txBody>
      </p:sp>
      <p:sp>
        <p:nvSpPr>
          <p:cNvPr id="295" name="Rectangle 7174"/>
          <p:cNvSpPr/>
          <p:nvPr/>
        </p:nvSpPr>
        <p:spPr>
          <a:xfrm>
            <a:off x="0" y="-1"/>
            <a:ext cx="12192000" cy="6858001"/>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296" name="Picture 2" descr="Picture 2"/>
          <p:cNvPicPr>
            <a:picLocks noChangeAspect="1"/>
          </p:cNvPicPr>
          <p:nvPr/>
        </p:nvPicPr>
        <p:blipFill>
          <a:blip r:embed="rId3">
            <a:alphaModFix amt="50000"/>
          </a:blip>
          <a:stretch>
            <a:fillRect/>
          </a:stretch>
        </p:blipFill>
        <p:spPr>
          <a:xfrm>
            <a:off x="19" y="1"/>
            <a:ext cx="12191981" cy="6858000"/>
          </a:xfrm>
          <a:prstGeom prst="rect">
            <a:avLst/>
          </a:prstGeom>
          <a:ln w="12700">
            <a:miter lim="400000"/>
          </a:ln>
        </p:spPr>
      </p:pic>
      <p:sp>
        <p:nvSpPr>
          <p:cNvPr id="297" name="TextBox 6"/>
          <p:cNvSpPr txBox="1"/>
          <p:nvPr/>
        </p:nvSpPr>
        <p:spPr>
          <a:xfrm>
            <a:off x="1569719" y="1122361"/>
            <a:ext cx="9052562" cy="12265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normAutofit/>
          </a:bodyPr>
          <a:lstStyle>
            <a:lvl1pPr algn="ctr" defTabSz="914400">
              <a:lnSpc>
                <a:spcPct val="90000"/>
              </a:lnSpc>
              <a:spcBef>
                <a:spcPts val="600"/>
              </a:spcBef>
              <a:defRPr sz="6000">
                <a:solidFill>
                  <a:srgbClr val="FFFFFF"/>
                </a:solidFill>
                <a:latin typeface="Calibri Light"/>
                <a:ea typeface="Calibri Light"/>
                <a:cs typeface="Calibri Light"/>
                <a:sym typeface="Calibri Light"/>
              </a:defRPr>
            </a:lvl1pPr>
          </a:lstStyle>
          <a:p>
            <a:r>
              <a:t>Testing basics</a:t>
            </a:r>
          </a:p>
        </p:txBody>
      </p:sp>
      <p:sp>
        <p:nvSpPr>
          <p:cNvPr id="298" name="Date Placeholder 1"/>
          <p:cNvSpPr txBox="1"/>
          <p:nvPr/>
        </p:nvSpPr>
        <p:spPr>
          <a:xfrm>
            <a:off x="883919" y="6356350"/>
            <a:ext cx="26517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defTabSz="914400">
              <a:spcBef>
                <a:spcPts val="600"/>
              </a:spcBef>
              <a:defRPr sz="1200">
                <a:solidFill>
                  <a:srgbClr val="FFFFFF"/>
                </a:solidFill>
              </a:defRPr>
            </a:lvl1pPr>
          </a:lstStyle>
          <a:p>
            <a:r>
              <a:rPr lang="de-DE" dirty="0"/>
              <a:t>August 2026, CC BY-SA 4.0</a:t>
            </a:r>
          </a:p>
        </p:txBody>
      </p:sp>
      <p:sp>
        <p:nvSpPr>
          <p:cNvPr id="299" name="Slide Number Placeholder 2"/>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92500" lnSpcReduction="10000"/>
          </a:bodyPr>
          <a:lstStyle>
            <a:lvl1pPr defTabSz="914400">
              <a:spcBef>
                <a:spcPts val="600"/>
              </a:spcBef>
            </a:lvl1pPr>
          </a:lstStyle>
          <a:p>
            <a:fld id="{86CB4B4D-7CA3-9044-876B-883B54F8677D}" type="slidenum">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Footer Placeholder 4"/>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02" name="Title 1"/>
          <p:cNvSpPr txBox="1">
            <a:spLocks noGrp="1"/>
          </p:cNvSpPr>
          <p:nvPr>
            <p:ph type="title"/>
          </p:nvPr>
        </p:nvSpPr>
        <p:spPr>
          <a:xfrm>
            <a:off x="838200" y="365125"/>
            <a:ext cx="10515600" cy="903634"/>
          </a:xfrm>
          <a:prstGeom prst="rect">
            <a:avLst/>
          </a:prstGeom>
        </p:spPr>
        <p:txBody>
          <a:bodyPr/>
          <a:lstStyle/>
          <a:p>
            <a:r>
              <a:t>A test is just another function</a:t>
            </a:r>
          </a:p>
        </p:txBody>
      </p:sp>
      <p:sp>
        <p:nvSpPr>
          <p:cNvPr id="303" name="Content Placeholder 10"/>
          <p:cNvSpPr txBox="1">
            <a:spLocks noGrp="1"/>
          </p:cNvSpPr>
          <p:nvPr>
            <p:ph type="body" idx="1"/>
          </p:nvPr>
        </p:nvSpPr>
        <p:spPr>
          <a:xfrm>
            <a:off x="838200" y="1412775"/>
            <a:ext cx="10515600" cy="4764189"/>
          </a:xfrm>
          <a:prstGeom prst="rect">
            <a:avLst/>
          </a:prstGeom>
        </p:spPr>
        <p:txBody>
          <a:bodyPr/>
          <a:lstStyle/>
          <a:p>
            <a:r>
              <a:rPr dirty="0"/>
              <a:t>Imagine we wrote this new function, and we wanted to test it</a:t>
            </a:r>
          </a:p>
        </p:txBody>
      </p:sp>
      <p:sp>
        <p:nvSpPr>
          <p:cNvPr id="304" name="Date Placeholder 3"/>
          <p:cNvSpPr txBox="1"/>
          <p:nvPr/>
        </p:nvSpPr>
        <p:spPr>
          <a:xfrm>
            <a:off x="883919" y="6415802"/>
            <a:ext cx="2651762"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000">
                <a:solidFill>
                  <a:srgbClr val="888888"/>
                </a:solidFill>
              </a:defRPr>
            </a:lvl1pPr>
          </a:lstStyle>
          <a:p>
            <a:r>
              <a:rPr lang="de-DE" dirty="0"/>
              <a:t>August 2026, CC BY-SA 4.0</a:t>
            </a:r>
          </a:p>
        </p:txBody>
      </p:sp>
      <p:sp>
        <p:nvSpPr>
          <p:cNvPr id="305" name="Slide Number Placeholder 5"/>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sp>
        <p:nvSpPr>
          <p:cNvPr id="306" name="TextBox 9"/>
          <p:cNvSpPr txBox="1"/>
          <p:nvPr/>
        </p:nvSpPr>
        <p:spPr>
          <a:xfrm>
            <a:off x="3791744" y="2492896"/>
            <a:ext cx="4608513" cy="2021841"/>
          </a:xfrm>
          <a:prstGeom prst="rect">
            <a:avLst/>
          </a:prstGeom>
          <a:solidFill>
            <a:srgbClr val="F2F2F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600" b="1">
                <a:solidFill>
                  <a:srgbClr val="2D961E"/>
                </a:solidFill>
                <a:latin typeface="Menlo Regular"/>
                <a:ea typeface="Menlo Regular"/>
                <a:cs typeface="Menlo Regular"/>
                <a:sym typeface="Menlo Regular"/>
              </a:defRPr>
            </a:pPr>
            <a:r>
              <a:rPr dirty="0"/>
              <a:t>def</a:t>
            </a:r>
            <a:r>
              <a:rPr b="0" dirty="0">
                <a:solidFill>
                  <a:srgbClr val="000000"/>
                </a:solidFill>
              </a:rPr>
              <a:t> </a:t>
            </a:r>
            <a:r>
              <a:rPr b="0" dirty="0">
                <a:solidFill>
                  <a:srgbClr val="400BD9"/>
                </a:solidFill>
              </a:rPr>
              <a:t>times_3</a:t>
            </a:r>
            <a:r>
              <a:rPr b="0" dirty="0">
                <a:solidFill>
                  <a:srgbClr val="000000"/>
                </a:solidFill>
              </a:rPr>
              <a:t>(x):</a:t>
            </a:r>
            <a:endParaRPr dirty="0">
              <a:solidFill>
                <a:srgbClr val="400BD9"/>
              </a:solidFill>
            </a:endParaRPr>
          </a:p>
          <a:p>
            <a:pPr>
              <a:defRPr sz="1600" i="1">
                <a:solidFill>
                  <a:srgbClr val="9FA01C"/>
                </a:solidFill>
                <a:latin typeface="Menlo Regular"/>
                <a:ea typeface="Menlo Regular"/>
                <a:cs typeface="Menlo Regular"/>
                <a:sym typeface="Menlo Regular"/>
              </a:defRPr>
            </a:pPr>
            <a:r>
              <a:rPr dirty="0"/>
              <a:t>   """Multiply x by 3.</a:t>
            </a:r>
          </a:p>
          <a:p>
            <a:pPr>
              <a:defRPr sz="1600">
                <a:solidFill>
                  <a:srgbClr val="2FB41D"/>
                </a:solidFill>
                <a:latin typeface="Menlo Regular"/>
                <a:ea typeface="Menlo Regular"/>
                <a:cs typeface="Menlo Regular"/>
                <a:sym typeface="Menlo Regular"/>
              </a:defRPr>
            </a:pPr>
            <a:endParaRPr dirty="0"/>
          </a:p>
          <a:p>
            <a:pPr>
              <a:defRPr sz="1600" i="1">
                <a:solidFill>
                  <a:srgbClr val="9FA01C"/>
                </a:solidFill>
                <a:latin typeface="Menlo Regular"/>
                <a:ea typeface="Menlo Regular"/>
                <a:cs typeface="Menlo Regular"/>
                <a:sym typeface="Menlo Regular"/>
              </a:defRPr>
            </a:pPr>
            <a:r>
              <a:rPr dirty="0"/>
              <a:t>   Parameters</a:t>
            </a:r>
          </a:p>
          <a:p>
            <a:pPr>
              <a:defRPr sz="1600" i="1">
                <a:solidFill>
                  <a:srgbClr val="9FA01C"/>
                </a:solidFill>
                <a:latin typeface="Menlo Regular"/>
                <a:ea typeface="Menlo Regular"/>
                <a:cs typeface="Menlo Regular"/>
                <a:sym typeface="Menlo Regular"/>
              </a:defRPr>
            </a:pPr>
            <a:r>
              <a:rPr dirty="0"/>
              <a:t>   ----------</a:t>
            </a:r>
          </a:p>
          <a:p>
            <a:pPr>
              <a:defRPr sz="1600" i="1">
                <a:solidFill>
                  <a:srgbClr val="9FA01C"/>
                </a:solidFill>
                <a:latin typeface="Menlo Regular"/>
                <a:ea typeface="Menlo Regular"/>
                <a:cs typeface="Menlo Regular"/>
                <a:sym typeface="Menlo Regular"/>
              </a:defRPr>
            </a:pPr>
            <a:r>
              <a:rPr dirty="0"/>
              <a:t>   x : The item to multiply by 3.</a:t>
            </a:r>
          </a:p>
          <a:p>
            <a:pPr>
              <a:defRPr sz="1600" i="1">
                <a:solidFill>
                  <a:srgbClr val="9FA01C"/>
                </a:solidFill>
                <a:latin typeface="Menlo Regular"/>
                <a:ea typeface="Menlo Regular"/>
                <a:cs typeface="Menlo Regular"/>
                <a:sym typeface="Menlo Regular"/>
              </a:defRPr>
            </a:pPr>
            <a:r>
              <a:rPr dirty="0"/>
              <a:t>   """</a:t>
            </a:r>
            <a:endParaRPr dirty="0">
              <a:solidFill>
                <a:srgbClr val="2FB41D"/>
              </a:solidFill>
            </a:endParaRPr>
          </a:p>
          <a:p>
            <a:pPr>
              <a:defRPr sz="1600" b="1">
                <a:latin typeface="Menlo Regular"/>
                <a:ea typeface="Menlo Regular"/>
                <a:cs typeface="Menlo Regular"/>
                <a:sym typeface="Menlo Regular"/>
              </a:defRPr>
            </a:pPr>
            <a:r>
              <a:rPr dirty="0"/>
              <a:t>   </a:t>
            </a:r>
            <a:r>
              <a:rPr dirty="0">
                <a:solidFill>
                  <a:srgbClr val="2D961E"/>
                </a:solidFill>
              </a:rPr>
              <a:t>return</a:t>
            </a:r>
            <a:r>
              <a:rPr b="0" dirty="0"/>
              <a:t> x * </a:t>
            </a:r>
            <a:r>
              <a:rPr b="0" dirty="0">
                <a:solidFill>
                  <a:srgbClr val="2FB41D"/>
                </a:solidFill>
              </a:rPr>
              <a:t>3</a:t>
            </a:r>
          </a:p>
        </p:txBody>
      </p:sp>
      <p:sp>
        <p:nvSpPr>
          <p:cNvPr id="307" name="Rectangle 11"/>
          <p:cNvSpPr/>
          <p:nvPr/>
        </p:nvSpPr>
        <p:spPr>
          <a:xfrm>
            <a:off x="152400" y="136524"/>
            <a:ext cx="11848256" cy="6584951"/>
          </a:xfrm>
          <a:prstGeom prst="rect">
            <a:avLst/>
          </a:prstGeom>
          <a:ln w="165100">
            <a:solidFill>
              <a:srgbClr val="7030A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Footer Placeholder 5"/>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13" name="Title 1"/>
          <p:cNvSpPr txBox="1">
            <a:spLocks noGrp="1"/>
          </p:cNvSpPr>
          <p:nvPr>
            <p:ph type="title"/>
          </p:nvPr>
        </p:nvSpPr>
        <p:spPr>
          <a:xfrm>
            <a:off x="838200" y="365125"/>
            <a:ext cx="10515600" cy="903634"/>
          </a:xfrm>
          <a:prstGeom prst="rect">
            <a:avLst/>
          </a:prstGeom>
        </p:spPr>
        <p:txBody>
          <a:bodyPr/>
          <a:lstStyle/>
          <a:p>
            <a:r>
              <a:t>Testing frameworks</a:t>
            </a:r>
          </a:p>
        </p:txBody>
      </p:sp>
      <p:sp>
        <p:nvSpPr>
          <p:cNvPr id="314" name="Content Placeholder 2"/>
          <p:cNvSpPr txBox="1">
            <a:spLocks noGrp="1"/>
          </p:cNvSpPr>
          <p:nvPr>
            <p:ph type="body" idx="1"/>
          </p:nvPr>
        </p:nvSpPr>
        <p:spPr>
          <a:xfrm>
            <a:off x="838200" y="1412775"/>
            <a:ext cx="10515600" cy="4764189"/>
          </a:xfrm>
          <a:prstGeom prst="rect">
            <a:avLst/>
          </a:prstGeom>
        </p:spPr>
        <p:txBody>
          <a:bodyPr/>
          <a:lstStyle/>
          <a:p>
            <a:r>
              <a:t>The collection of tests written to test a package is called a “test suite”</a:t>
            </a:r>
          </a:p>
          <a:p>
            <a:r>
              <a:t>Execution of a test suite is automated: external software runs the tests and provides reports and statistics</a:t>
            </a:r>
          </a:p>
          <a:p>
            <a:r>
              <a:t>Main testing frameworks for python:</a:t>
            </a:r>
          </a:p>
          <a:p>
            <a:pPr marL="685800" lvl="1" indent="-228600">
              <a:spcBef>
                <a:spcPts val="500"/>
              </a:spcBef>
              <a:defRPr sz="2400"/>
            </a:pPr>
            <a:r>
              <a:t>unittest: in the standard library</a:t>
            </a:r>
          </a:p>
          <a:p>
            <a:pPr marL="685800" lvl="1" indent="-228600">
              <a:spcBef>
                <a:spcPts val="500"/>
              </a:spcBef>
              <a:defRPr sz="2400" b="1"/>
            </a:pPr>
            <a:r>
              <a:t>pytest: what is most commonly used</a:t>
            </a:r>
          </a:p>
        </p:txBody>
      </p:sp>
      <p:sp>
        <p:nvSpPr>
          <p:cNvPr id="315" name="Date Placeholder 4"/>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16"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
        <p:nvSpPr>
          <p:cNvPr id="317" name="TextBox 8"/>
          <p:cNvSpPr txBox="1"/>
          <p:nvPr/>
        </p:nvSpPr>
        <p:spPr>
          <a:xfrm>
            <a:off x="687114" y="4437112"/>
            <a:ext cx="10817772" cy="1513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00" b="1">
                <a:latin typeface="Menlo Regular"/>
                <a:ea typeface="Menlo Regular"/>
                <a:cs typeface="Menlo Regular"/>
                <a:sym typeface="Menlo Regular"/>
              </a:defRPr>
            </a:pPr>
            <a:r>
              <a:rPr dirty="0"/>
              <a:t>=============================================== test session starts ================================================</a:t>
            </a:r>
          </a:p>
          <a:p>
            <a:pPr>
              <a:defRPr sz="1200">
                <a:latin typeface="Menlo Regular"/>
                <a:ea typeface="Menlo Regular"/>
                <a:cs typeface="Menlo Regular"/>
                <a:sym typeface="Menlo Regular"/>
              </a:defRPr>
            </a:pPr>
            <a:r>
              <a:rPr dirty="0"/>
              <a:t>platform </a:t>
            </a:r>
            <a:r>
              <a:rPr dirty="0" err="1"/>
              <a:t>darwin</a:t>
            </a:r>
            <a:r>
              <a:rPr dirty="0"/>
              <a:t> -- Python 3.11.3, pytest-7.3.1, pluggy-1.0.0 </a:t>
            </a:r>
          </a:p>
          <a:p>
            <a:pPr>
              <a:defRPr sz="1200" b="1">
                <a:latin typeface="Menlo Regular"/>
                <a:ea typeface="Menlo Regular"/>
                <a:cs typeface="Menlo Regular"/>
                <a:sym typeface="Menlo Regular"/>
              </a:defRPr>
            </a:pPr>
            <a:r>
              <a:rPr dirty="0"/>
              <a:t>collected 2 items                                                                                                  </a:t>
            </a:r>
          </a:p>
          <a:p>
            <a:pPr>
              <a:defRPr sz="1200">
                <a:latin typeface="Menlo Regular"/>
                <a:ea typeface="Menlo Regular"/>
                <a:cs typeface="Menlo Regular"/>
                <a:sym typeface="Menlo Regular"/>
              </a:defRPr>
            </a:pPr>
            <a:endParaRPr dirty="0"/>
          </a:p>
          <a:p>
            <a:pPr>
              <a:defRPr sz="1200">
                <a:latin typeface="Menlo Regular"/>
                <a:ea typeface="Menlo Regular"/>
                <a:cs typeface="Menlo Regular"/>
                <a:sym typeface="Menlo Regular"/>
              </a:defRPr>
            </a:pPr>
            <a:r>
              <a:rPr dirty="0" err="1"/>
              <a:t>test_first.py</a:t>
            </a:r>
            <a:r>
              <a:rPr dirty="0"/>
              <a:t>::test_times_3_integer </a:t>
            </a:r>
            <a:r>
              <a:rPr dirty="0">
                <a:solidFill>
                  <a:srgbClr val="2FB41D"/>
                </a:solidFill>
              </a:rPr>
              <a:t>PASSED                                                                   [ 50%]</a:t>
            </a:r>
          </a:p>
          <a:p>
            <a:pPr>
              <a:defRPr sz="1200">
                <a:latin typeface="Menlo Regular"/>
                <a:ea typeface="Menlo Regular"/>
                <a:cs typeface="Menlo Regular"/>
                <a:sym typeface="Menlo Regular"/>
              </a:defRPr>
            </a:pPr>
            <a:r>
              <a:rPr dirty="0" err="1"/>
              <a:t>test_first.py</a:t>
            </a:r>
            <a:r>
              <a:rPr dirty="0"/>
              <a:t>::test_times_3_string </a:t>
            </a:r>
            <a:r>
              <a:rPr dirty="0">
                <a:solidFill>
                  <a:srgbClr val="2FB41D"/>
                </a:solidFill>
              </a:rPr>
              <a:t>PASSED                                                                    [100%]</a:t>
            </a:r>
          </a:p>
          <a:p>
            <a:pPr>
              <a:defRPr sz="1200">
                <a:latin typeface="Menlo Regular"/>
                <a:ea typeface="Menlo Regular"/>
                <a:cs typeface="Menlo Regular"/>
                <a:sym typeface="Menlo Regular"/>
              </a:defRPr>
            </a:pPr>
            <a:endParaRPr dirty="0">
              <a:solidFill>
                <a:srgbClr val="2FB41D"/>
              </a:solidFill>
            </a:endParaRPr>
          </a:p>
          <a:p>
            <a:pPr>
              <a:defRPr sz="1200">
                <a:solidFill>
                  <a:srgbClr val="2FB41D"/>
                </a:solidFill>
                <a:latin typeface="Menlo Regular"/>
                <a:ea typeface="Menlo Regular"/>
                <a:cs typeface="Menlo Regular"/>
                <a:sym typeface="Menlo Regular"/>
              </a:defRPr>
            </a:pPr>
            <a:r>
              <a:rPr dirty="0"/>
              <a:t>================================================ </a:t>
            </a:r>
            <a:r>
              <a:rPr b="1" dirty="0"/>
              <a:t>2 passed</a:t>
            </a:r>
            <a:r>
              <a:rPr dirty="0"/>
              <a:t> in 0.00s =================================================</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20" name="Title 5"/>
          <p:cNvSpPr txBox="1">
            <a:spLocks noGrp="1"/>
          </p:cNvSpPr>
          <p:nvPr>
            <p:ph type="title"/>
          </p:nvPr>
        </p:nvSpPr>
        <p:spPr>
          <a:xfrm>
            <a:off x="838200" y="365125"/>
            <a:ext cx="10515600" cy="903634"/>
          </a:xfrm>
          <a:prstGeom prst="rect">
            <a:avLst/>
          </a:prstGeom>
        </p:spPr>
        <p:txBody>
          <a:bodyPr/>
          <a:lstStyle/>
          <a:p>
            <a:r>
              <a:t>Hands-on!</a:t>
            </a:r>
          </a:p>
        </p:txBody>
      </p:sp>
      <p:sp>
        <p:nvSpPr>
          <p:cNvPr id="321" name="Content Placeholder 2"/>
          <p:cNvSpPr txBox="1">
            <a:spLocks noGrp="1"/>
          </p:cNvSpPr>
          <p:nvPr>
            <p:ph type="body" idx="1"/>
          </p:nvPr>
        </p:nvSpPr>
        <p:spPr>
          <a:xfrm>
            <a:off x="838200" y="1412775"/>
            <a:ext cx="10515600" cy="4764189"/>
          </a:xfrm>
          <a:prstGeom prst="rect">
            <a:avLst/>
          </a:prstGeom>
        </p:spPr>
        <p:txBody>
          <a:bodyPr>
            <a:normAutofit/>
          </a:bodyPr>
          <a:lstStyle/>
          <a:p>
            <a:r>
              <a:rPr dirty="0"/>
              <a:t>Go to </a:t>
            </a:r>
            <a:r>
              <a:rPr dirty="0" err="1">
                <a:latin typeface="Consolas"/>
                <a:ea typeface="Consolas"/>
                <a:cs typeface="Consolas"/>
                <a:sym typeface="Consolas"/>
              </a:rPr>
              <a:t>hands_on</a:t>
            </a:r>
            <a:r>
              <a:rPr lang="en-US" dirty="0">
                <a:latin typeface="Consolas"/>
                <a:ea typeface="Consolas"/>
                <a:cs typeface="Consolas"/>
                <a:sym typeface="Consolas"/>
              </a:rPr>
              <a:t>/</a:t>
            </a:r>
            <a:r>
              <a:rPr lang="de-DE" dirty="0" err="1">
                <a:latin typeface="Consolas"/>
                <a:ea typeface="Consolas"/>
                <a:cs typeface="Consolas"/>
                <a:sym typeface="Consolas"/>
              </a:rPr>
              <a:t>first</a:t>
            </a:r>
            <a:endParaRPr dirty="0">
              <a:latin typeface="Consolas"/>
              <a:ea typeface="Consolas"/>
              <a:cs typeface="Consolas"/>
              <a:sym typeface="Consolas"/>
            </a:endParaRPr>
          </a:p>
          <a:p>
            <a:pPr marL="514350" indent="-514350">
              <a:buFontTx/>
              <a:buAutoNum type="arabicPeriod"/>
            </a:pPr>
            <a:r>
              <a:rPr dirty="0"/>
              <a:t>Discover all tests in all subdirectories</a:t>
            </a:r>
            <a:br>
              <a:rPr dirty="0"/>
            </a:br>
            <a:r>
              <a:rPr dirty="0" err="1">
                <a:latin typeface="Consolas"/>
                <a:ea typeface="Consolas"/>
                <a:cs typeface="Consolas"/>
                <a:sym typeface="Consolas"/>
              </a:rPr>
              <a:t>pytest</a:t>
            </a:r>
            <a:r>
              <a:rPr dirty="0">
                <a:latin typeface="Consolas"/>
                <a:ea typeface="Consolas"/>
                <a:cs typeface="Consolas"/>
                <a:sym typeface="Consolas"/>
              </a:rPr>
              <a:t> </a:t>
            </a:r>
            <a:r>
              <a:rPr lang="de-DE" dirty="0">
                <a:latin typeface="Consolas"/>
                <a:ea typeface="Consolas"/>
                <a:cs typeface="Consolas"/>
                <a:sym typeface="Consolas"/>
              </a:rPr>
              <a:t>–</a:t>
            </a:r>
            <a:r>
              <a:rPr dirty="0">
                <a:latin typeface="Consolas"/>
                <a:ea typeface="Consolas"/>
                <a:cs typeface="Consolas"/>
                <a:sym typeface="Consolas"/>
              </a:rPr>
              <a:t>v</a:t>
            </a:r>
            <a:endParaRPr lang="en-US" dirty="0">
              <a:latin typeface="Consolas"/>
              <a:ea typeface="Consolas"/>
              <a:cs typeface="Consolas"/>
              <a:sym typeface="Consolas"/>
            </a:endParaRPr>
          </a:p>
          <a:p>
            <a:pPr marL="514350" indent="-514350">
              <a:buFont typeface="+mj-lt"/>
              <a:buAutoNum type="arabicPeriod" startAt="2"/>
            </a:pPr>
            <a:r>
              <a:rPr dirty="0"/>
              <a:t>Execute all tests in one module</a:t>
            </a:r>
            <a:br>
              <a:rPr dirty="0"/>
            </a:br>
            <a:r>
              <a:rPr dirty="0" err="1">
                <a:latin typeface="Consolas"/>
                <a:ea typeface="Consolas"/>
                <a:cs typeface="Consolas"/>
                <a:sym typeface="Consolas"/>
              </a:rPr>
              <a:t>pytest</a:t>
            </a:r>
            <a:r>
              <a:rPr dirty="0">
                <a:latin typeface="Consolas"/>
                <a:ea typeface="Consolas"/>
                <a:cs typeface="Consolas"/>
                <a:sym typeface="Consolas"/>
              </a:rPr>
              <a:t> -v </a:t>
            </a:r>
            <a:r>
              <a:rPr dirty="0" err="1">
                <a:latin typeface="Consolas"/>
                <a:ea typeface="Consolas"/>
                <a:cs typeface="Consolas"/>
                <a:sym typeface="Consolas"/>
              </a:rPr>
              <a:t>test_first.py</a:t>
            </a:r>
            <a:endParaRPr dirty="0">
              <a:latin typeface="Consolas"/>
              <a:ea typeface="Consolas"/>
              <a:cs typeface="Consolas"/>
              <a:sym typeface="Consolas"/>
            </a:endParaRPr>
          </a:p>
          <a:p>
            <a:pPr marL="514350" indent="-514350">
              <a:buFont typeface="+mj-lt"/>
              <a:buAutoNum type="arabicPeriod" startAt="2"/>
            </a:pPr>
            <a:r>
              <a:rPr dirty="0"/>
              <a:t>Execute one single test</a:t>
            </a:r>
            <a:br>
              <a:rPr dirty="0"/>
            </a:br>
            <a:r>
              <a:rPr dirty="0" err="1">
                <a:latin typeface="Consolas"/>
                <a:ea typeface="Consolas"/>
                <a:cs typeface="Consolas"/>
                <a:sym typeface="Consolas"/>
              </a:rPr>
              <a:t>pytest</a:t>
            </a:r>
            <a:r>
              <a:rPr dirty="0">
                <a:latin typeface="Consolas"/>
                <a:ea typeface="Consolas"/>
                <a:cs typeface="Consolas"/>
                <a:sym typeface="Consolas"/>
              </a:rPr>
              <a:t> -v </a:t>
            </a:r>
            <a:r>
              <a:rPr dirty="0" err="1">
                <a:latin typeface="Consolas"/>
                <a:ea typeface="Consolas"/>
                <a:cs typeface="Consolas"/>
                <a:sym typeface="Consolas"/>
              </a:rPr>
              <a:t>test_first.py</a:t>
            </a:r>
            <a:r>
              <a:rPr dirty="0">
                <a:latin typeface="Consolas"/>
                <a:ea typeface="Consolas"/>
                <a:cs typeface="Consolas"/>
                <a:sym typeface="Consolas"/>
              </a:rPr>
              <a:t>::test_times_3_string</a:t>
            </a:r>
          </a:p>
          <a:p>
            <a:pPr marL="514350" indent="-514350">
              <a:buFont typeface="+mj-lt"/>
              <a:buAutoNum type="arabicPeriod" startAt="2"/>
            </a:pPr>
            <a:r>
              <a:rPr dirty="0"/>
              <a:t>Look into </a:t>
            </a:r>
            <a:r>
              <a:rPr dirty="0" err="1"/>
              <a:t>test_first.py</a:t>
            </a:r>
            <a:r>
              <a:rPr dirty="0"/>
              <a:t>. What do you see?</a:t>
            </a:r>
          </a:p>
        </p:txBody>
      </p:sp>
      <p:sp>
        <p:nvSpPr>
          <p:cNvPr id="322" name="Date Placeholder 1"/>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23"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sp>
        <p:nvSpPr>
          <p:cNvPr id="2" name="Rectangle 6">
            <a:extLst>
              <a:ext uri="{FF2B5EF4-FFF2-40B4-BE49-F238E27FC236}">
                <a16:creationId xmlns:a16="http://schemas.microsoft.com/office/drawing/2014/main" id="{4884FD7D-75AC-21E1-9733-6130E4A621F9}"/>
              </a:ext>
            </a:extLst>
          </p:cNvPr>
          <p:cNvSpPr/>
          <p:nvPr/>
        </p:nvSpPr>
        <p:spPr>
          <a:xfrm>
            <a:off x="152400" y="136524"/>
            <a:ext cx="11848256" cy="6584951"/>
          </a:xfrm>
          <a:prstGeom prst="rect">
            <a:avLst/>
          </a:prstGeom>
          <a:ln w="165100">
            <a:solidFill>
              <a:srgbClr val="00B05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Footer Placeholder 2"/>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26" name="Rectangle 2"/>
          <p:cNvSpPr txBox="1">
            <a:spLocks noGrp="1"/>
          </p:cNvSpPr>
          <p:nvPr>
            <p:ph type="title"/>
          </p:nvPr>
        </p:nvSpPr>
        <p:spPr>
          <a:xfrm>
            <a:off x="838200" y="365125"/>
            <a:ext cx="10515600" cy="903634"/>
          </a:xfrm>
          <a:prstGeom prst="rect">
            <a:avLst/>
          </a:prstGeom>
        </p:spPr>
        <p:txBody>
          <a:bodyPr/>
          <a:lstStyle/>
          <a:p>
            <a:r>
              <a:t>Test suites in Python with pytest</a:t>
            </a:r>
          </a:p>
        </p:txBody>
      </p:sp>
      <p:sp>
        <p:nvSpPr>
          <p:cNvPr id="327" name="Rectangle 3"/>
          <p:cNvSpPr txBox="1">
            <a:spLocks noGrp="1"/>
          </p:cNvSpPr>
          <p:nvPr>
            <p:ph type="body" idx="1"/>
          </p:nvPr>
        </p:nvSpPr>
        <p:spPr>
          <a:xfrm>
            <a:off x="838200" y="1412775"/>
            <a:ext cx="10515600" cy="4764189"/>
          </a:xfrm>
          <a:prstGeom prst="rect">
            <a:avLst/>
          </a:prstGeom>
        </p:spPr>
        <p:txBody>
          <a:bodyPr/>
          <a:lstStyle/>
          <a:p>
            <a:r>
              <a:t>Writing tests with pytest is simple:</a:t>
            </a:r>
            <a:br/>
            <a:endParaRPr/>
          </a:p>
          <a:p>
            <a:pPr marL="685800" lvl="1" indent="-228600">
              <a:spcBef>
                <a:spcPts val="500"/>
              </a:spcBef>
              <a:defRPr sz="2400"/>
            </a:pPr>
            <a:r>
              <a:t>Tests are collected in files called </a:t>
            </a:r>
            <a:r>
              <a:rPr>
                <a:latin typeface="Consolas"/>
                <a:ea typeface="Consolas"/>
                <a:cs typeface="Consolas"/>
                <a:sym typeface="Consolas"/>
              </a:rPr>
              <a:t>test_abc.py </a:t>
            </a:r>
            <a:r>
              <a:t>, which usually contains tests for the functions defined in a corresponding module </a:t>
            </a:r>
            <a:r>
              <a:rPr>
                <a:latin typeface="Consolas"/>
                <a:ea typeface="Consolas"/>
                <a:cs typeface="Consolas"/>
                <a:sym typeface="Consolas"/>
              </a:rPr>
              <a:t>abc</a:t>
            </a:r>
            <a:br>
              <a:rPr>
                <a:latin typeface="Consolas"/>
                <a:ea typeface="Consolas"/>
                <a:cs typeface="Consolas"/>
                <a:sym typeface="Consolas"/>
              </a:rPr>
            </a:br>
            <a:endParaRPr>
              <a:latin typeface="Courier New"/>
              <a:ea typeface="Courier New"/>
              <a:cs typeface="Courier New"/>
              <a:sym typeface="Courier New"/>
            </a:endParaRPr>
          </a:p>
          <a:p>
            <a:pPr marL="685800" lvl="1" indent="-228600">
              <a:spcBef>
                <a:spcPts val="500"/>
              </a:spcBef>
              <a:defRPr sz="2400"/>
            </a:pPr>
            <a:r>
              <a:t>Each test is a function called </a:t>
            </a:r>
            <a:r>
              <a:rPr>
                <a:latin typeface="Consolas"/>
                <a:ea typeface="Consolas"/>
                <a:cs typeface="Consolas"/>
                <a:sym typeface="Consolas"/>
              </a:rPr>
              <a:t>test_jkl_feature</a:t>
            </a:r>
            <a:r>
              <a:t>, and usually it tests feature </a:t>
            </a:r>
            <a:r>
              <a:rPr>
                <a:latin typeface="Consolas"/>
                <a:ea typeface="Consolas"/>
                <a:cs typeface="Consolas"/>
                <a:sym typeface="Consolas"/>
              </a:rPr>
              <a:t>feature</a:t>
            </a:r>
            <a:r>
              <a:t> of a function called </a:t>
            </a:r>
            <a:r>
              <a:rPr>
                <a:latin typeface="Consolas"/>
                <a:ea typeface="Consolas"/>
                <a:cs typeface="Consolas"/>
                <a:sym typeface="Consolas"/>
              </a:rPr>
              <a:t>jkl</a:t>
            </a:r>
            <a:br>
              <a:rPr>
                <a:latin typeface="Consolas"/>
                <a:ea typeface="Consolas"/>
                <a:cs typeface="Consolas"/>
                <a:sym typeface="Consolas"/>
              </a:rPr>
            </a:br>
            <a:endParaRPr>
              <a:latin typeface="Consolas"/>
              <a:ea typeface="Consolas"/>
              <a:cs typeface="Consolas"/>
              <a:sym typeface="Consolas"/>
            </a:endParaRPr>
          </a:p>
          <a:p>
            <a:pPr marL="685800" lvl="1" indent="-228600">
              <a:spcBef>
                <a:spcPts val="500"/>
              </a:spcBef>
              <a:defRPr sz="2400"/>
            </a:pPr>
            <a:r>
              <a:t>Each test tests </a:t>
            </a:r>
            <a:r>
              <a:rPr b="1"/>
              <a:t>one feature </a:t>
            </a:r>
            <a:r>
              <a:t>in your code, and checks that it behaves correctly using “assertions”.  An exception is raised if it does not work as expected.</a:t>
            </a:r>
          </a:p>
        </p:txBody>
      </p:sp>
      <p:sp>
        <p:nvSpPr>
          <p:cNvPr id="328" name="Date Placeholder 1"/>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29"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 grpId="1"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Footer Placeholder 4"/>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32" name="Rectangle 2"/>
          <p:cNvSpPr txBox="1">
            <a:spLocks noGrp="1"/>
          </p:cNvSpPr>
          <p:nvPr>
            <p:ph type="title"/>
          </p:nvPr>
        </p:nvSpPr>
        <p:spPr>
          <a:xfrm>
            <a:off x="838200" y="365125"/>
            <a:ext cx="10515600" cy="903634"/>
          </a:xfrm>
          <a:prstGeom prst="rect">
            <a:avLst/>
          </a:prstGeom>
        </p:spPr>
        <p:txBody>
          <a:bodyPr/>
          <a:lstStyle/>
          <a:p>
            <a:r>
              <a:t>Assertions</a:t>
            </a:r>
          </a:p>
        </p:txBody>
      </p:sp>
      <p:sp>
        <p:nvSpPr>
          <p:cNvPr id="333" name="Content Placeholder 3"/>
          <p:cNvSpPr txBox="1">
            <a:spLocks noGrp="1"/>
          </p:cNvSpPr>
          <p:nvPr>
            <p:ph type="body" idx="1"/>
          </p:nvPr>
        </p:nvSpPr>
        <p:spPr>
          <a:xfrm>
            <a:off x="838200" y="1412775"/>
            <a:ext cx="10515600" cy="4764189"/>
          </a:xfrm>
          <a:prstGeom prst="rect">
            <a:avLst/>
          </a:prstGeom>
        </p:spPr>
        <p:txBody>
          <a:bodyPr/>
          <a:lstStyle/>
          <a:p>
            <a:pPr marL="273043" indent="-273043">
              <a:lnSpc>
                <a:spcPct val="108000"/>
              </a:lnSpc>
              <a:tabLst>
                <a:tab pos="3848100" algn="l"/>
              </a:tabLst>
              <a:defRPr sz="2500">
                <a:latin typeface="Consolas"/>
                <a:ea typeface="Consolas"/>
                <a:cs typeface="Consolas"/>
                <a:sym typeface="Consolas"/>
              </a:defRPr>
            </a:pPr>
            <a:r>
              <a:rPr dirty="0"/>
              <a:t>assert</a:t>
            </a:r>
            <a:r>
              <a:rPr dirty="0">
                <a:latin typeface="Calibri"/>
                <a:ea typeface="Calibri"/>
                <a:cs typeface="Calibri"/>
                <a:sym typeface="Calibri"/>
              </a:rPr>
              <a:t> statements check that some condition is met, and raise an exception otherwise</a:t>
            </a:r>
          </a:p>
          <a:p>
            <a:pPr marL="273043" indent="-273043">
              <a:lnSpc>
                <a:spcPct val="108000"/>
              </a:lnSpc>
              <a:tabLst>
                <a:tab pos="3848100" algn="l"/>
              </a:tabLst>
              <a:defRPr sz="2500"/>
            </a:pPr>
            <a:r>
              <a:rPr dirty="0"/>
              <a:t>Check that statement is true/false:</a:t>
            </a:r>
            <a:br>
              <a:rPr dirty="0"/>
            </a:br>
            <a:r>
              <a:rPr sz="1800" dirty="0">
                <a:solidFill>
                  <a:srgbClr val="7F007F"/>
                </a:solidFill>
                <a:latin typeface="Consolas"/>
                <a:ea typeface="Consolas"/>
                <a:cs typeface="Consolas"/>
                <a:sym typeface="Consolas"/>
              </a:rPr>
              <a:t>assert</a:t>
            </a:r>
            <a:r>
              <a:rPr sz="1800" dirty="0">
                <a:latin typeface="Consolas"/>
                <a:ea typeface="Consolas"/>
                <a:cs typeface="Consolas"/>
                <a:sym typeface="Consolas"/>
              </a:rPr>
              <a:t> </a:t>
            </a:r>
            <a:r>
              <a:rPr sz="1800" dirty="0">
                <a:solidFill>
                  <a:srgbClr val="8B2252"/>
                </a:solidFill>
                <a:latin typeface="Consolas"/>
                <a:ea typeface="Consolas"/>
                <a:cs typeface="Consolas"/>
                <a:sym typeface="Consolas"/>
              </a:rPr>
              <a:t>'Hi'</a:t>
            </a:r>
            <a:r>
              <a:rPr sz="1800" dirty="0">
                <a:latin typeface="Consolas"/>
                <a:ea typeface="Consolas"/>
                <a:cs typeface="Consolas"/>
                <a:sym typeface="Consolas"/>
              </a:rPr>
              <a:t>.</a:t>
            </a:r>
            <a:r>
              <a:rPr sz="1800" dirty="0" err="1">
                <a:latin typeface="Consolas"/>
                <a:ea typeface="Consolas"/>
                <a:cs typeface="Consolas"/>
                <a:sym typeface="Consolas"/>
              </a:rPr>
              <a:t>islower</a:t>
            </a:r>
            <a:r>
              <a:rPr sz="1800" dirty="0">
                <a:latin typeface="Consolas"/>
                <a:ea typeface="Consolas"/>
                <a:cs typeface="Consolas"/>
                <a:sym typeface="Consolas"/>
              </a:rPr>
              <a:t>()	</a:t>
            </a:r>
            <a:r>
              <a:rPr sz="1800" dirty="0">
                <a:solidFill>
                  <a:srgbClr val="FF0000"/>
                </a:solidFill>
                <a:latin typeface="Consolas"/>
                <a:ea typeface="Consolas"/>
                <a:cs typeface="Consolas"/>
                <a:sym typeface="Consolas"/>
              </a:rPr>
              <a:t>=&gt; fail</a:t>
            </a:r>
            <a:br>
              <a:rPr sz="1800" dirty="0">
                <a:solidFill>
                  <a:srgbClr val="FF0000"/>
                </a:solidFill>
                <a:latin typeface="Consolas"/>
                <a:ea typeface="Consolas"/>
                <a:cs typeface="Consolas"/>
                <a:sym typeface="Consolas"/>
              </a:rPr>
            </a:br>
            <a:r>
              <a:rPr sz="1800" dirty="0">
                <a:solidFill>
                  <a:srgbClr val="7F007F"/>
                </a:solidFill>
                <a:latin typeface="Consolas"/>
                <a:ea typeface="Consolas"/>
                <a:cs typeface="Consolas"/>
                <a:sym typeface="Consolas"/>
              </a:rPr>
              <a:t>assert</a:t>
            </a:r>
            <a:r>
              <a:rPr sz="1800" dirty="0">
                <a:latin typeface="Consolas"/>
                <a:ea typeface="Consolas"/>
                <a:cs typeface="Consolas"/>
                <a:sym typeface="Consolas"/>
              </a:rPr>
              <a:t> not </a:t>
            </a:r>
            <a:r>
              <a:rPr sz="1800" dirty="0">
                <a:solidFill>
                  <a:srgbClr val="8B2252"/>
                </a:solidFill>
                <a:latin typeface="Consolas"/>
                <a:ea typeface="Consolas"/>
                <a:cs typeface="Consolas"/>
                <a:sym typeface="Consolas"/>
              </a:rPr>
              <a:t>'Hi'</a:t>
            </a:r>
            <a:r>
              <a:rPr sz="1800" dirty="0">
                <a:latin typeface="Consolas"/>
                <a:ea typeface="Consolas"/>
                <a:cs typeface="Consolas"/>
                <a:sym typeface="Consolas"/>
              </a:rPr>
              <a:t>.</a:t>
            </a:r>
            <a:r>
              <a:rPr sz="1800" dirty="0" err="1">
                <a:latin typeface="Consolas"/>
                <a:ea typeface="Consolas"/>
                <a:cs typeface="Consolas"/>
                <a:sym typeface="Consolas"/>
              </a:rPr>
              <a:t>islower</a:t>
            </a:r>
            <a:r>
              <a:rPr sz="1800" dirty="0">
                <a:latin typeface="Consolas"/>
                <a:ea typeface="Consolas"/>
                <a:cs typeface="Consolas"/>
                <a:sym typeface="Consolas"/>
              </a:rPr>
              <a:t>()	</a:t>
            </a:r>
            <a:r>
              <a:rPr sz="1800" dirty="0">
                <a:solidFill>
                  <a:srgbClr val="0ECC00"/>
                </a:solidFill>
                <a:latin typeface="Consolas"/>
                <a:ea typeface="Consolas"/>
                <a:cs typeface="Consolas"/>
                <a:sym typeface="Consolas"/>
              </a:rPr>
              <a:t>=&gt; pass</a:t>
            </a:r>
            <a:endParaRPr sz="2000" dirty="0">
              <a:latin typeface="Consolas"/>
              <a:ea typeface="Consolas"/>
              <a:cs typeface="Consolas"/>
              <a:sym typeface="Consolas"/>
            </a:endParaRPr>
          </a:p>
          <a:p>
            <a:pPr marL="273043" indent="-273043">
              <a:lnSpc>
                <a:spcPct val="108000"/>
              </a:lnSpc>
              <a:tabLst>
                <a:tab pos="3848100" algn="l"/>
              </a:tabLst>
              <a:defRPr sz="2500"/>
            </a:pPr>
            <a:r>
              <a:rPr dirty="0"/>
              <a:t>Check that two objects are equal:</a:t>
            </a:r>
            <a:br>
              <a:rPr dirty="0"/>
            </a:br>
            <a:r>
              <a:rPr sz="1800" dirty="0">
                <a:solidFill>
                  <a:srgbClr val="7F007F"/>
                </a:solidFill>
                <a:latin typeface="Consolas"/>
                <a:ea typeface="Consolas"/>
                <a:cs typeface="Consolas"/>
                <a:sym typeface="Consolas"/>
              </a:rPr>
              <a:t>assert</a:t>
            </a:r>
            <a:r>
              <a:rPr sz="1800" dirty="0">
                <a:latin typeface="Consolas"/>
                <a:ea typeface="Consolas"/>
                <a:cs typeface="Consolas"/>
                <a:sym typeface="Consolas"/>
              </a:rPr>
              <a:t> 2 + 1 == 3	</a:t>
            </a:r>
            <a:r>
              <a:rPr sz="1800" dirty="0">
                <a:solidFill>
                  <a:srgbClr val="0ECC00"/>
                </a:solidFill>
                <a:latin typeface="Consolas"/>
                <a:ea typeface="Consolas"/>
                <a:cs typeface="Consolas"/>
                <a:sym typeface="Consolas"/>
              </a:rPr>
              <a:t>=&gt; pass</a:t>
            </a:r>
            <a:br>
              <a:rPr sz="1800" dirty="0">
                <a:solidFill>
                  <a:srgbClr val="0ECC00"/>
                </a:solidFill>
                <a:latin typeface="Consolas"/>
                <a:ea typeface="Consolas"/>
                <a:cs typeface="Consolas"/>
                <a:sym typeface="Consolas"/>
              </a:rPr>
            </a:br>
            <a:r>
              <a:rPr sz="1800" dirty="0">
                <a:solidFill>
                  <a:srgbClr val="7F007F"/>
                </a:solidFill>
                <a:latin typeface="Consolas"/>
                <a:ea typeface="Consolas"/>
                <a:cs typeface="Consolas"/>
                <a:sym typeface="Consolas"/>
              </a:rPr>
              <a:t>assert</a:t>
            </a:r>
            <a:r>
              <a:rPr sz="1800" dirty="0">
                <a:latin typeface="Consolas"/>
                <a:ea typeface="Consolas"/>
                <a:cs typeface="Consolas"/>
                <a:sym typeface="Consolas"/>
              </a:rPr>
              <a:t> [2] + [1] == [2, 1]	</a:t>
            </a:r>
            <a:r>
              <a:rPr sz="1800" dirty="0">
                <a:solidFill>
                  <a:srgbClr val="0ECC00"/>
                </a:solidFill>
                <a:latin typeface="Consolas"/>
                <a:ea typeface="Consolas"/>
                <a:cs typeface="Consolas"/>
                <a:sym typeface="Consolas"/>
              </a:rPr>
              <a:t>=&gt; pass</a:t>
            </a:r>
            <a:br>
              <a:rPr sz="1800" dirty="0">
                <a:solidFill>
                  <a:srgbClr val="0ECC00"/>
                </a:solidFill>
                <a:latin typeface="Consolas"/>
                <a:ea typeface="Consolas"/>
                <a:cs typeface="Consolas"/>
                <a:sym typeface="Consolas"/>
              </a:rPr>
            </a:br>
            <a:r>
              <a:rPr sz="1800" dirty="0">
                <a:solidFill>
                  <a:srgbClr val="7F007F"/>
                </a:solidFill>
                <a:latin typeface="Consolas"/>
                <a:ea typeface="Consolas"/>
                <a:cs typeface="Consolas"/>
                <a:sym typeface="Consolas"/>
              </a:rPr>
              <a:t>assert</a:t>
            </a:r>
            <a:r>
              <a:rPr sz="1800" dirty="0">
                <a:latin typeface="Consolas"/>
                <a:ea typeface="Consolas"/>
                <a:cs typeface="Consolas"/>
                <a:sym typeface="Consolas"/>
              </a:rPr>
              <a:t> </a:t>
            </a:r>
            <a:r>
              <a:rPr sz="1800" dirty="0">
                <a:solidFill>
                  <a:srgbClr val="8B2252"/>
                </a:solidFill>
                <a:latin typeface="Consolas"/>
                <a:ea typeface="Consolas"/>
                <a:cs typeface="Consolas"/>
                <a:sym typeface="Consolas"/>
              </a:rPr>
              <a:t>'a'</a:t>
            </a:r>
            <a:r>
              <a:rPr sz="1800" dirty="0">
                <a:latin typeface="Consolas"/>
                <a:ea typeface="Consolas"/>
                <a:cs typeface="Consolas"/>
                <a:sym typeface="Consolas"/>
              </a:rPr>
              <a:t> + </a:t>
            </a:r>
            <a:r>
              <a:rPr sz="1800" dirty="0">
                <a:solidFill>
                  <a:srgbClr val="8B2252"/>
                </a:solidFill>
                <a:latin typeface="Consolas"/>
                <a:ea typeface="Consolas"/>
                <a:cs typeface="Consolas"/>
                <a:sym typeface="Consolas"/>
              </a:rPr>
              <a:t>'b'</a:t>
            </a:r>
            <a:r>
              <a:rPr sz="1800" dirty="0">
                <a:latin typeface="Consolas"/>
                <a:ea typeface="Consolas"/>
                <a:cs typeface="Consolas"/>
                <a:sym typeface="Consolas"/>
              </a:rPr>
              <a:t> != </a:t>
            </a:r>
            <a:r>
              <a:rPr sz="1800" dirty="0">
                <a:solidFill>
                  <a:srgbClr val="8B2252"/>
                </a:solidFill>
                <a:latin typeface="Consolas"/>
                <a:ea typeface="Consolas"/>
                <a:cs typeface="Consolas"/>
                <a:sym typeface="Consolas"/>
              </a:rPr>
              <a:t>'ab' </a:t>
            </a:r>
            <a:r>
              <a:rPr sz="1600" dirty="0">
                <a:latin typeface="Consolas"/>
                <a:ea typeface="Consolas"/>
                <a:cs typeface="Consolas"/>
                <a:sym typeface="Consolas"/>
              </a:rPr>
              <a:t>	</a:t>
            </a:r>
            <a:r>
              <a:rPr sz="1800" dirty="0">
                <a:solidFill>
                  <a:srgbClr val="FF0000"/>
                </a:solidFill>
                <a:latin typeface="Consolas"/>
                <a:ea typeface="Consolas"/>
                <a:cs typeface="Consolas"/>
                <a:sym typeface="Consolas"/>
              </a:rPr>
              <a:t>=&gt; fail</a:t>
            </a:r>
            <a:endParaRPr sz="2000" dirty="0">
              <a:latin typeface="Consolas"/>
              <a:ea typeface="Consolas"/>
              <a:cs typeface="Consolas"/>
              <a:sym typeface="Consolas"/>
            </a:endParaRPr>
          </a:p>
          <a:p>
            <a:pPr marL="273043" indent="-273043">
              <a:lnSpc>
                <a:spcPct val="108000"/>
              </a:lnSpc>
              <a:tabLst>
                <a:tab pos="3848100" algn="l"/>
              </a:tabLst>
              <a:defRPr sz="2500">
                <a:latin typeface="Consolas"/>
                <a:ea typeface="Consolas"/>
                <a:cs typeface="Consolas"/>
                <a:sym typeface="Consolas"/>
              </a:defRPr>
            </a:pPr>
            <a:r>
              <a:rPr dirty="0"/>
              <a:t>assert</a:t>
            </a:r>
            <a:r>
              <a:rPr dirty="0">
                <a:latin typeface="Courier New"/>
                <a:ea typeface="Courier New"/>
                <a:cs typeface="Courier New"/>
                <a:sym typeface="Courier New"/>
              </a:rPr>
              <a:t> </a:t>
            </a:r>
            <a:r>
              <a:rPr dirty="0">
                <a:latin typeface="Calibri"/>
                <a:ea typeface="Calibri"/>
                <a:cs typeface="Calibri"/>
                <a:sym typeface="Calibri"/>
              </a:rPr>
              <a:t>can be used to compare all sorts of objects, and </a:t>
            </a:r>
            <a:r>
              <a:rPr dirty="0" err="1">
                <a:latin typeface="Calibri"/>
                <a:ea typeface="Calibri"/>
                <a:cs typeface="Calibri"/>
                <a:sym typeface="Calibri"/>
              </a:rPr>
              <a:t>pytest</a:t>
            </a:r>
            <a:r>
              <a:rPr dirty="0">
                <a:latin typeface="Calibri"/>
                <a:ea typeface="Calibri"/>
                <a:cs typeface="Calibri"/>
                <a:sym typeface="Calibri"/>
              </a:rPr>
              <a:t> will take care of producing an appropriate error message</a:t>
            </a:r>
          </a:p>
        </p:txBody>
      </p:sp>
      <p:sp>
        <p:nvSpPr>
          <p:cNvPr id="334" name="Date Placeholder 2"/>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35" name="Slide Number Placeholder 1"/>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33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3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 grpId="1" build="p" bldLvl="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 name="Footer Placeholder 4"/>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38" name="Title 3"/>
          <p:cNvSpPr txBox="1">
            <a:spLocks noGrp="1"/>
          </p:cNvSpPr>
          <p:nvPr>
            <p:ph type="title"/>
          </p:nvPr>
        </p:nvSpPr>
        <p:spPr>
          <a:xfrm>
            <a:off x="838200" y="365125"/>
            <a:ext cx="10515600" cy="903634"/>
          </a:xfrm>
          <a:prstGeom prst="rect">
            <a:avLst/>
          </a:prstGeom>
        </p:spPr>
        <p:txBody>
          <a:bodyPr/>
          <a:lstStyle/>
          <a:p>
            <a:r>
              <a:rPr dirty="0"/>
              <a:t>Hands-on! Possibly your first test</a:t>
            </a:r>
          </a:p>
        </p:txBody>
      </p:sp>
      <p:sp>
        <p:nvSpPr>
          <p:cNvPr id="339" name="Content Placeholder 1"/>
          <p:cNvSpPr txBox="1">
            <a:spLocks noGrp="1"/>
          </p:cNvSpPr>
          <p:nvPr>
            <p:ph type="body" idx="1"/>
          </p:nvPr>
        </p:nvSpPr>
        <p:spPr>
          <a:xfrm>
            <a:off x="838200" y="1412775"/>
            <a:ext cx="10515600" cy="4764189"/>
          </a:xfrm>
          <a:prstGeom prst="rect">
            <a:avLst/>
          </a:prstGeom>
        </p:spPr>
        <p:txBody>
          <a:bodyPr/>
          <a:lstStyle/>
          <a:p>
            <a:r>
              <a:rPr dirty="0"/>
              <a:t>Inside </a:t>
            </a:r>
            <a:r>
              <a:rPr dirty="0" err="1">
                <a:latin typeface="Consolas"/>
                <a:ea typeface="Consolas"/>
                <a:cs typeface="Consolas"/>
                <a:sym typeface="Consolas"/>
              </a:rPr>
              <a:t>test_first.py</a:t>
            </a:r>
            <a:r>
              <a:rPr dirty="0"/>
              <a:t>, test that </a:t>
            </a:r>
            <a:r>
              <a:rPr dirty="0">
                <a:latin typeface="Consolas"/>
                <a:ea typeface="Consolas"/>
                <a:cs typeface="Consolas"/>
                <a:sym typeface="Consolas"/>
              </a:rPr>
              <a:t>times_3([1]) </a:t>
            </a:r>
            <a:r>
              <a:rPr dirty="0"/>
              <a:t>returns what you would expect</a:t>
            </a:r>
          </a:p>
          <a:p>
            <a:endParaRPr dirty="0"/>
          </a:p>
          <a:p>
            <a:r>
              <a:rPr dirty="0"/>
              <a:t>Try to change the expected result in the test to </a:t>
            </a:r>
            <a:r>
              <a:rPr dirty="0">
                <a:latin typeface="Consolas"/>
                <a:ea typeface="Consolas"/>
                <a:cs typeface="Consolas"/>
                <a:sym typeface="Consolas"/>
              </a:rPr>
              <a:t>[2]</a:t>
            </a:r>
            <a:r>
              <a:rPr dirty="0"/>
              <a:t> (or anything you want) and watch the test break. Look at the error message and make sure you understand what’s going on</a:t>
            </a:r>
          </a:p>
        </p:txBody>
      </p:sp>
      <p:sp>
        <p:nvSpPr>
          <p:cNvPr id="340" name="Date Placeholder 2"/>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41" name="Slide Number Placeholder 5"/>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sp>
        <p:nvSpPr>
          <p:cNvPr id="2" name="Rectangle 6">
            <a:extLst>
              <a:ext uri="{FF2B5EF4-FFF2-40B4-BE49-F238E27FC236}">
                <a16:creationId xmlns:a16="http://schemas.microsoft.com/office/drawing/2014/main" id="{CF0A9B69-5C1C-9A2A-8593-9E3177BA4D89}"/>
              </a:ext>
            </a:extLst>
          </p:cNvPr>
          <p:cNvSpPr/>
          <p:nvPr/>
        </p:nvSpPr>
        <p:spPr>
          <a:xfrm>
            <a:off x="152400" y="136524"/>
            <a:ext cx="11848256" cy="6584951"/>
          </a:xfrm>
          <a:prstGeom prst="rect">
            <a:avLst/>
          </a:prstGeom>
          <a:ln w="165100">
            <a:solidFill>
              <a:srgbClr val="00B05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45" name="Title 1"/>
          <p:cNvSpPr txBox="1">
            <a:spLocks noGrp="1"/>
          </p:cNvSpPr>
          <p:nvPr>
            <p:ph type="title"/>
          </p:nvPr>
        </p:nvSpPr>
        <p:spPr>
          <a:xfrm>
            <a:off x="838200" y="365125"/>
            <a:ext cx="10515600" cy="903634"/>
          </a:xfrm>
          <a:prstGeom prst="rect">
            <a:avLst/>
          </a:prstGeom>
        </p:spPr>
        <p:txBody>
          <a:bodyPr/>
          <a:lstStyle/>
          <a:p>
            <a:r>
              <a:rPr lang="en-GB" dirty="0"/>
              <a:t>Hands-on! Possibly your first test</a:t>
            </a:r>
            <a:endParaRPr dirty="0"/>
          </a:p>
        </p:txBody>
      </p:sp>
      <p:sp>
        <p:nvSpPr>
          <p:cNvPr id="346" name="Content Placeholder 2"/>
          <p:cNvSpPr txBox="1">
            <a:spLocks noGrp="1"/>
          </p:cNvSpPr>
          <p:nvPr>
            <p:ph type="body" idx="1"/>
          </p:nvPr>
        </p:nvSpPr>
        <p:spPr>
          <a:xfrm>
            <a:off x="838200" y="1412775"/>
            <a:ext cx="10515600" cy="4764189"/>
          </a:xfrm>
          <a:prstGeom prst="rect">
            <a:avLst/>
          </a:prstGeom>
        </p:spPr>
        <p:txBody>
          <a:bodyPr/>
          <a:lstStyle/>
          <a:p>
            <a:r>
              <a:rPr dirty="0"/>
              <a:t>Create a new file, </a:t>
            </a:r>
            <a:r>
              <a:rPr dirty="0" err="1">
                <a:latin typeface="Consolas"/>
                <a:ea typeface="Consolas"/>
                <a:cs typeface="Consolas"/>
                <a:sym typeface="Consolas"/>
              </a:rPr>
              <a:t>test_plus.py</a:t>
            </a:r>
            <a:r>
              <a:rPr dirty="0"/>
              <a:t>: </a:t>
            </a:r>
            <a:br>
              <a:rPr dirty="0"/>
            </a:br>
            <a:r>
              <a:rPr lang="en-US" dirty="0"/>
              <a:t>write a </a:t>
            </a:r>
            <a:r>
              <a:rPr dirty="0"/>
              <a:t>test that</a:t>
            </a:r>
            <a:r>
              <a:rPr lang="en-US" dirty="0"/>
              <a:t> asserts that</a:t>
            </a:r>
            <a:r>
              <a:rPr dirty="0"/>
              <a:t> 1+2 is 3</a:t>
            </a:r>
            <a:r>
              <a:rPr lang="en-US" dirty="0"/>
              <a:t> </a:t>
            </a:r>
            <a:endParaRPr dirty="0"/>
          </a:p>
          <a:p>
            <a:r>
              <a:rPr dirty="0"/>
              <a:t>Execute the test</a:t>
            </a:r>
            <a:br>
              <a:rPr dirty="0"/>
            </a:br>
            <a:endParaRPr dirty="0"/>
          </a:p>
        </p:txBody>
      </p:sp>
      <p:sp>
        <p:nvSpPr>
          <p:cNvPr id="347"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48"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22</a:t>
            </a:fld>
            <a:endParaRPr/>
          </a:p>
        </p:txBody>
      </p:sp>
      <p:sp>
        <p:nvSpPr>
          <p:cNvPr id="2" name="Rectangle 6">
            <a:extLst>
              <a:ext uri="{FF2B5EF4-FFF2-40B4-BE49-F238E27FC236}">
                <a16:creationId xmlns:a16="http://schemas.microsoft.com/office/drawing/2014/main" id="{01E63C79-77AB-F9BE-D9A1-C86772CDFF3A}"/>
              </a:ext>
            </a:extLst>
          </p:cNvPr>
          <p:cNvSpPr/>
          <p:nvPr/>
        </p:nvSpPr>
        <p:spPr>
          <a:xfrm>
            <a:off x="152400" y="136524"/>
            <a:ext cx="11848256" cy="6584951"/>
          </a:xfrm>
          <a:prstGeom prst="rect">
            <a:avLst/>
          </a:prstGeom>
          <a:ln w="165100">
            <a:solidFill>
              <a:srgbClr val="00B05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52" name="Title 1"/>
          <p:cNvSpPr txBox="1">
            <a:spLocks noGrp="1"/>
          </p:cNvSpPr>
          <p:nvPr>
            <p:ph type="title"/>
          </p:nvPr>
        </p:nvSpPr>
        <p:spPr>
          <a:xfrm>
            <a:off x="838200" y="365125"/>
            <a:ext cx="10515600" cy="903634"/>
          </a:xfrm>
          <a:prstGeom prst="rect">
            <a:avLst/>
          </a:prstGeom>
        </p:spPr>
        <p:txBody>
          <a:bodyPr/>
          <a:lstStyle/>
          <a:p>
            <a:r>
              <a:rPr lang="en-GB" dirty="0"/>
              <a:t>Hands-on! Possibly your first test</a:t>
            </a:r>
            <a:endParaRPr dirty="0"/>
          </a:p>
        </p:txBody>
      </p:sp>
      <p:sp>
        <p:nvSpPr>
          <p:cNvPr id="353" name="Content Placeholder 2"/>
          <p:cNvSpPr txBox="1">
            <a:spLocks noGrp="1"/>
          </p:cNvSpPr>
          <p:nvPr>
            <p:ph type="body" idx="1"/>
          </p:nvPr>
        </p:nvSpPr>
        <p:spPr>
          <a:xfrm>
            <a:off x="838200" y="1412775"/>
            <a:ext cx="10515600" cy="4764189"/>
          </a:xfrm>
          <a:prstGeom prst="rect">
            <a:avLst/>
          </a:prstGeom>
        </p:spPr>
        <p:txBody>
          <a:bodyPr/>
          <a:lstStyle/>
          <a:p>
            <a:r>
              <a:rPr lang="de-DE" dirty="0"/>
              <a:t>Create a </a:t>
            </a:r>
            <a:r>
              <a:rPr lang="de-DE" dirty="0" err="1"/>
              <a:t>new</a:t>
            </a:r>
            <a:r>
              <a:rPr lang="de-DE" dirty="0"/>
              <a:t> </a:t>
            </a:r>
            <a:r>
              <a:rPr lang="de-DE" dirty="0" err="1"/>
              <a:t>file</a:t>
            </a:r>
            <a:r>
              <a:rPr lang="de-DE" dirty="0"/>
              <a:t>, </a:t>
            </a:r>
            <a:r>
              <a:rPr lang="de-DE" dirty="0" err="1">
                <a:latin typeface="Consolas"/>
                <a:ea typeface="Consolas"/>
                <a:cs typeface="Consolas"/>
                <a:sym typeface="Consolas"/>
              </a:rPr>
              <a:t>test_plus.py</a:t>
            </a:r>
            <a:r>
              <a:rPr lang="de-DE" dirty="0"/>
              <a:t>: </a:t>
            </a:r>
            <a:br>
              <a:rPr lang="de-DE" dirty="0"/>
            </a:br>
            <a:r>
              <a:rPr lang="de-DE" dirty="0" err="1"/>
              <a:t>write</a:t>
            </a:r>
            <a:r>
              <a:rPr lang="de-DE" dirty="0"/>
              <a:t> a </a:t>
            </a:r>
            <a:r>
              <a:rPr lang="de-DE" dirty="0" err="1"/>
              <a:t>test</a:t>
            </a:r>
            <a:r>
              <a:rPr lang="de-DE" dirty="0"/>
              <a:t> </a:t>
            </a:r>
            <a:r>
              <a:rPr lang="de-DE" dirty="0" err="1"/>
              <a:t>that</a:t>
            </a:r>
            <a:r>
              <a:rPr lang="de-DE" dirty="0"/>
              <a:t> </a:t>
            </a:r>
            <a:r>
              <a:rPr lang="de-DE" dirty="0" err="1"/>
              <a:t>asserts</a:t>
            </a:r>
            <a:r>
              <a:rPr lang="de-DE" dirty="0"/>
              <a:t> </a:t>
            </a:r>
            <a:r>
              <a:rPr lang="de-DE" dirty="0" err="1"/>
              <a:t>that</a:t>
            </a:r>
            <a:r>
              <a:rPr lang="de-DE" dirty="0"/>
              <a:t> 1+2 </a:t>
            </a:r>
            <a:r>
              <a:rPr lang="de-DE" dirty="0" err="1"/>
              <a:t>is</a:t>
            </a:r>
            <a:r>
              <a:rPr lang="de-DE" dirty="0"/>
              <a:t> 3 </a:t>
            </a:r>
          </a:p>
          <a:p>
            <a:r>
              <a:rPr lang="de-DE" dirty="0"/>
              <a:t>Execute </a:t>
            </a:r>
            <a:r>
              <a:rPr lang="de-DE" dirty="0" err="1"/>
              <a:t>the</a:t>
            </a:r>
            <a:r>
              <a:rPr lang="de-DE" dirty="0"/>
              <a:t> </a:t>
            </a:r>
            <a:r>
              <a:rPr lang="de-DE" dirty="0" err="1"/>
              <a:t>test</a:t>
            </a:r>
            <a:br>
              <a:rPr dirty="0"/>
            </a:br>
            <a:endParaRPr dirty="0"/>
          </a:p>
          <a:p>
            <a:r>
              <a:rPr dirty="0"/>
              <a:t>Then write a new test and </a:t>
            </a:r>
            <a:r>
              <a:rPr lang="en-US" dirty="0"/>
              <a:t>assert</a:t>
            </a:r>
            <a:r>
              <a:rPr dirty="0"/>
              <a:t> that 1.1 + 2.2 is 3.3</a:t>
            </a:r>
          </a:p>
          <a:p>
            <a:r>
              <a:rPr dirty="0"/>
              <a:t>Execute the tests</a:t>
            </a:r>
          </a:p>
        </p:txBody>
      </p:sp>
      <p:sp>
        <p:nvSpPr>
          <p:cNvPr id="354"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55"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sp>
        <p:nvSpPr>
          <p:cNvPr id="2" name="Rectangle 6">
            <a:extLst>
              <a:ext uri="{FF2B5EF4-FFF2-40B4-BE49-F238E27FC236}">
                <a16:creationId xmlns:a16="http://schemas.microsoft.com/office/drawing/2014/main" id="{F3C6CDFF-BB60-5556-E126-BD18810E6372}"/>
              </a:ext>
            </a:extLst>
          </p:cNvPr>
          <p:cNvSpPr/>
          <p:nvPr/>
        </p:nvSpPr>
        <p:spPr>
          <a:xfrm>
            <a:off x="152400" y="136524"/>
            <a:ext cx="11848256" cy="6584951"/>
          </a:xfrm>
          <a:prstGeom prst="rect">
            <a:avLst/>
          </a:prstGeom>
          <a:ln w="165100">
            <a:solidFill>
              <a:srgbClr val="00B05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Footer Placeholder 2"/>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58" name="Rectangle 2"/>
          <p:cNvSpPr txBox="1">
            <a:spLocks noGrp="1"/>
          </p:cNvSpPr>
          <p:nvPr>
            <p:ph type="title"/>
          </p:nvPr>
        </p:nvSpPr>
        <p:spPr>
          <a:xfrm>
            <a:off x="838200" y="365125"/>
            <a:ext cx="10515600" cy="903634"/>
          </a:xfrm>
          <a:prstGeom prst="rect">
            <a:avLst/>
          </a:prstGeom>
        </p:spPr>
        <p:txBody>
          <a:bodyPr/>
          <a:lstStyle/>
          <a:p>
            <a:r>
              <a:t>Floating point equality</a:t>
            </a:r>
          </a:p>
        </p:txBody>
      </p:sp>
      <p:sp>
        <p:nvSpPr>
          <p:cNvPr id="359" name="Content Placeholder 3"/>
          <p:cNvSpPr txBox="1">
            <a:spLocks noGrp="1"/>
          </p:cNvSpPr>
          <p:nvPr>
            <p:ph type="body" idx="1"/>
          </p:nvPr>
        </p:nvSpPr>
        <p:spPr>
          <a:xfrm>
            <a:off x="838200" y="1412775"/>
            <a:ext cx="10515600" cy="4764189"/>
          </a:xfrm>
          <a:prstGeom prst="rect">
            <a:avLst/>
          </a:prstGeom>
        </p:spPr>
        <p:txBody>
          <a:bodyPr/>
          <a:lstStyle/>
          <a:p>
            <a:pPr marL="219455" indent="-219455" defTabSz="877823">
              <a:spcBef>
                <a:spcPts val="900"/>
              </a:spcBef>
              <a:tabLst>
                <a:tab pos="6273800" algn="l"/>
              </a:tabLst>
              <a:defRPr sz="2688"/>
            </a:pPr>
            <a:r>
              <a:t>Real numbers are represented approximately as “floating point” numbers.  When developing numerical code, we have to allow for approximation errors.</a:t>
            </a:r>
          </a:p>
          <a:p>
            <a:pPr marL="219455" indent="-219455" defTabSz="877823">
              <a:spcBef>
                <a:spcPts val="900"/>
              </a:spcBef>
              <a:tabLst>
                <a:tab pos="6527800" algn="l"/>
              </a:tabLst>
              <a:defRPr sz="2688"/>
            </a:pPr>
            <a:r>
              <a:t>Check that two numbers are approximately equal:</a:t>
            </a:r>
            <a:br/>
            <a:r>
              <a:rPr sz="1919">
                <a:solidFill>
                  <a:srgbClr val="7F007F"/>
                </a:solidFill>
                <a:latin typeface="Consolas"/>
                <a:ea typeface="Consolas"/>
                <a:cs typeface="Consolas"/>
                <a:sym typeface="Consolas"/>
              </a:rPr>
              <a:t>from</a:t>
            </a:r>
            <a:r>
              <a:rPr sz="1919">
                <a:latin typeface="Consolas"/>
                <a:ea typeface="Consolas"/>
                <a:cs typeface="Consolas"/>
                <a:sym typeface="Consolas"/>
              </a:rPr>
              <a:t> math </a:t>
            </a:r>
            <a:r>
              <a:rPr sz="1919">
                <a:solidFill>
                  <a:srgbClr val="7F007F"/>
                </a:solidFill>
                <a:latin typeface="Consolas"/>
                <a:ea typeface="Consolas"/>
                <a:cs typeface="Consolas"/>
                <a:sym typeface="Consolas"/>
              </a:rPr>
              <a:t>import</a:t>
            </a:r>
            <a:r>
              <a:rPr sz="1919">
                <a:latin typeface="Consolas"/>
                <a:ea typeface="Consolas"/>
                <a:cs typeface="Consolas"/>
                <a:sym typeface="Consolas"/>
              </a:rPr>
              <a:t> isclose</a:t>
            </a:r>
            <a:br>
              <a:rPr sz="1919">
                <a:latin typeface="Consolas"/>
                <a:ea typeface="Consolas"/>
                <a:cs typeface="Consolas"/>
                <a:sym typeface="Consolas"/>
              </a:rPr>
            </a:br>
            <a:r>
              <a:rPr sz="1919">
                <a:solidFill>
                  <a:srgbClr val="7F007F"/>
                </a:solidFill>
                <a:latin typeface="Consolas"/>
                <a:ea typeface="Consolas"/>
                <a:cs typeface="Consolas"/>
                <a:sym typeface="Consolas"/>
              </a:rPr>
              <a:t>def</a:t>
            </a:r>
            <a:r>
              <a:rPr sz="1919">
                <a:latin typeface="Consolas"/>
                <a:ea typeface="Consolas"/>
                <a:cs typeface="Consolas"/>
                <a:sym typeface="Consolas"/>
              </a:rPr>
              <a:t> </a:t>
            </a:r>
            <a:r>
              <a:rPr sz="1919">
                <a:solidFill>
                  <a:srgbClr val="0000FF"/>
                </a:solidFill>
                <a:latin typeface="Consolas"/>
                <a:ea typeface="Consolas"/>
                <a:cs typeface="Consolas"/>
                <a:sym typeface="Consolas"/>
              </a:rPr>
              <a:t>test_floating_point_math</a:t>
            </a:r>
            <a:r>
              <a:rPr sz="1919">
                <a:latin typeface="Consolas"/>
                <a:ea typeface="Consolas"/>
                <a:cs typeface="Consolas"/>
                <a:sym typeface="Consolas"/>
              </a:rPr>
              <a:t>():</a:t>
            </a:r>
            <a:br>
              <a:rPr sz="1919">
                <a:latin typeface="Consolas"/>
                <a:ea typeface="Consolas"/>
                <a:cs typeface="Consolas"/>
                <a:sym typeface="Consolas"/>
              </a:rPr>
            </a:br>
            <a:r>
              <a:rPr sz="1919">
                <a:latin typeface="Consolas"/>
                <a:ea typeface="Consolas"/>
                <a:cs typeface="Consolas"/>
                <a:sym typeface="Consolas"/>
              </a:rPr>
              <a:t>    </a:t>
            </a:r>
            <a:r>
              <a:rPr sz="1919">
                <a:solidFill>
                  <a:srgbClr val="7F007F"/>
                </a:solidFill>
                <a:latin typeface="Consolas"/>
                <a:ea typeface="Consolas"/>
                <a:cs typeface="Consolas"/>
                <a:sym typeface="Consolas"/>
              </a:rPr>
              <a:t>assert</a:t>
            </a:r>
            <a:r>
              <a:rPr sz="1919">
                <a:latin typeface="Consolas"/>
                <a:ea typeface="Consolas"/>
                <a:cs typeface="Consolas"/>
                <a:sym typeface="Consolas"/>
              </a:rPr>
              <a:t> isclose(1.1 + 2.2, 3.3)	</a:t>
            </a:r>
            <a:r>
              <a:rPr sz="1919">
                <a:solidFill>
                  <a:srgbClr val="0ECC00"/>
                </a:solidFill>
                <a:latin typeface="Consolas"/>
                <a:ea typeface="Consolas"/>
                <a:cs typeface="Consolas"/>
                <a:sym typeface="Consolas"/>
              </a:rPr>
              <a:t>=&gt; pass</a:t>
            </a:r>
            <a:endParaRPr sz="1919">
              <a:latin typeface="Consolas"/>
              <a:ea typeface="Consolas"/>
              <a:cs typeface="Consolas"/>
              <a:sym typeface="Consolas"/>
            </a:endParaRPr>
          </a:p>
          <a:p>
            <a:pPr marL="219455" indent="-219455" defTabSz="877823">
              <a:spcBef>
                <a:spcPts val="900"/>
              </a:spcBef>
              <a:tabLst>
                <a:tab pos="6527800" algn="l"/>
              </a:tabLst>
              <a:defRPr sz="2688">
                <a:latin typeface="Consolas"/>
                <a:ea typeface="Consolas"/>
                <a:cs typeface="Consolas"/>
                <a:sym typeface="Consolas"/>
              </a:defRPr>
            </a:pPr>
            <a:r>
              <a:t>abs_tol </a:t>
            </a:r>
            <a:r>
              <a:rPr>
                <a:latin typeface="Calibri"/>
                <a:ea typeface="Calibri"/>
                <a:cs typeface="Calibri"/>
                <a:sym typeface="Calibri"/>
              </a:rPr>
              <a:t>controls the absolute tolerance:</a:t>
            </a:r>
            <a:br>
              <a:rPr>
                <a:latin typeface="Calibri"/>
                <a:ea typeface="Calibri"/>
                <a:cs typeface="Calibri"/>
                <a:sym typeface="Calibri"/>
              </a:rPr>
            </a:br>
            <a:r>
              <a:rPr sz="1919">
                <a:solidFill>
                  <a:srgbClr val="7F007F"/>
                </a:solidFill>
              </a:rPr>
              <a:t>assert</a:t>
            </a:r>
            <a:r>
              <a:rPr sz="1919"/>
              <a:t> isclose(1.121, 1.2, abs_tol=0.1)</a:t>
            </a:r>
            <a:r>
              <a:rPr sz="1919">
                <a:solidFill>
                  <a:srgbClr val="0ECC00"/>
                </a:solidFill>
              </a:rPr>
              <a:t> 	=&gt; pass</a:t>
            </a:r>
            <a:br>
              <a:rPr sz="1919">
                <a:solidFill>
                  <a:srgbClr val="0ECC00"/>
                </a:solidFill>
              </a:rPr>
            </a:br>
            <a:r>
              <a:rPr sz="1919">
                <a:solidFill>
                  <a:srgbClr val="7F007F"/>
                </a:solidFill>
              </a:rPr>
              <a:t>assert</a:t>
            </a:r>
            <a:r>
              <a:rPr sz="1919"/>
              <a:t> isclose(1.121, 1.2, abs_tol=0.01)	</a:t>
            </a:r>
            <a:r>
              <a:rPr sz="1919">
                <a:solidFill>
                  <a:srgbClr val="FF0000"/>
                </a:solidFill>
              </a:rPr>
              <a:t>=&gt; fail</a:t>
            </a:r>
            <a:endParaRPr sz="1919"/>
          </a:p>
          <a:p>
            <a:pPr marL="219455" indent="-219455" defTabSz="877823">
              <a:spcBef>
                <a:spcPts val="900"/>
              </a:spcBef>
              <a:tabLst>
                <a:tab pos="6527800" algn="l"/>
              </a:tabLst>
              <a:defRPr sz="2688">
                <a:latin typeface="Consolas"/>
                <a:ea typeface="Consolas"/>
                <a:cs typeface="Consolas"/>
                <a:sym typeface="Consolas"/>
              </a:defRPr>
            </a:pPr>
            <a:r>
              <a:t>rel_tol </a:t>
            </a:r>
            <a:r>
              <a:rPr>
                <a:latin typeface="Calibri"/>
                <a:ea typeface="Calibri"/>
                <a:cs typeface="Calibri"/>
                <a:sym typeface="Calibri"/>
              </a:rPr>
              <a:t>controls the relative tolerance:</a:t>
            </a:r>
            <a:br>
              <a:rPr>
                <a:latin typeface="Calibri"/>
                <a:ea typeface="Calibri"/>
                <a:cs typeface="Calibri"/>
                <a:sym typeface="Calibri"/>
              </a:rPr>
            </a:br>
            <a:r>
              <a:rPr sz="1919">
                <a:solidFill>
                  <a:srgbClr val="7F007F"/>
                </a:solidFill>
              </a:rPr>
              <a:t>assert</a:t>
            </a:r>
            <a:r>
              <a:rPr sz="1919"/>
              <a:t> isclose(120.1, 121.4, rel_tol=0.1)</a:t>
            </a:r>
            <a:r>
              <a:rPr sz="1919">
                <a:solidFill>
                  <a:srgbClr val="0ECC00"/>
                </a:solidFill>
              </a:rPr>
              <a:t>	=&gt; pass</a:t>
            </a:r>
            <a:br>
              <a:rPr sz="1919">
                <a:solidFill>
                  <a:srgbClr val="0ECC00"/>
                </a:solidFill>
              </a:rPr>
            </a:br>
            <a:r>
              <a:rPr sz="1919">
                <a:solidFill>
                  <a:srgbClr val="7F007F"/>
                </a:solidFill>
              </a:rPr>
              <a:t>assert</a:t>
            </a:r>
            <a:r>
              <a:rPr sz="1919"/>
              <a:t> isclose(120.4, 121.4, rel_tol=0.01)	</a:t>
            </a:r>
            <a:r>
              <a:rPr sz="1919">
                <a:solidFill>
                  <a:srgbClr val="FF0000"/>
                </a:solidFill>
              </a:rPr>
              <a:t>=&gt; fail</a:t>
            </a:r>
          </a:p>
        </p:txBody>
      </p:sp>
      <p:sp>
        <p:nvSpPr>
          <p:cNvPr id="360" name="Date Placeholder 1"/>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61" name="Slide Number Placeholder 4"/>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sp>
        <p:nvSpPr>
          <p:cNvPr id="2" name="Rectangle 11">
            <a:extLst>
              <a:ext uri="{FF2B5EF4-FFF2-40B4-BE49-F238E27FC236}">
                <a16:creationId xmlns:a16="http://schemas.microsoft.com/office/drawing/2014/main" id="{766B0A60-5982-2403-7DC1-7883DBD8A7C7}"/>
              </a:ext>
            </a:extLst>
          </p:cNvPr>
          <p:cNvSpPr/>
          <p:nvPr/>
        </p:nvSpPr>
        <p:spPr>
          <a:xfrm>
            <a:off x="152400" y="136524"/>
            <a:ext cx="11848256" cy="6584951"/>
          </a:xfrm>
          <a:prstGeom prst="rect">
            <a:avLst/>
          </a:prstGeom>
          <a:ln w="165100">
            <a:solidFill>
              <a:srgbClr val="7030A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66" name="Title 1"/>
          <p:cNvSpPr txBox="1">
            <a:spLocks noGrp="1"/>
          </p:cNvSpPr>
          <p:nvPr>
            <p:ph type="title"/>
          </p:nvPr>
        </p:nvSpPr>
        <p:spPr>
          <a:xfrm>
            <a:off x="838200" y="365125"/>
            <a:ext cx="10515600" cy="903634"/>
          </a:xfrm>
          <a:prstGeom prst="rect">
            <a:avLst/>
          </a:prstGeom>
        </p:spPr>
        <p:txBody>
          <a:bodyPr/>
          <a:lstStyle/>
          <a:p>
            <a:r>
              <a:t>Hands-on!</a:t>
            </a:r>
          </a:p>
        </p:txBody>
      </p:sp>
      <p:sp>
        <p:nvSpPr>
          <p:cNvPr id="367" name="Content Placeholder 2"/>
          <p:cNvSpPr txBox="1">
            <a:spLocks noGrp="1"/>
          </p:cNvSpPr>
          <p:nvPr>
            <p:ph type="body" idx="1"/>
          </p:nvPr>
        </p:nvSpPr>
        <p:spPr>
          <a:xfrm>
            <a:off x="838200" y="1412775"/>
            <a:ext cx="10515600" cy="4764189"/>
          </a:xfrm>
          <a:prstGeom prst="rect">
            <a:avLst/>
          </a:prstGeom>
        </p:spPr>
        <p:txBody>
          <a:bodyPr/>
          <a:lstStyle/>
          <a:p>
            <a:r>
              <a:t>One more equality test: check that the sum of these two NumPy arrays:</a:t>
            </a:r>
            <a:br/>
            <a:r>
              <a:rPr>
                <a:latin typeface="Consolas"/>
                <a:ea typeface="Consolas"/>
                <a:cs typeface="Consolas"/>
                <a:sym typeface="Consolas"/>
              </a:rPr>
              <a:t>x = np.array([1, 1])</a:t>
            </a:r>
            <a:br>
              <a:rPr>
                <a:latin typeface="Consolas"/>
                <a:ea typeface="Consolas"/>
                <a:cs typeface="Consolas"/>
                <a:sym typeface="Consolas"/>
              </a:rPr>
            </a:br>
            <a:r>
              <a:rPr>
                <a:latin typeface="Consolas"/>
                <a:ea typeface="Consolas"/>
                <a:cs typeface="Consolas"/>
                <a:sym typeface="Consolas"/>
              </a:rPr>
              <a:t>y = np.array([2, 2])</a:t>
            </a:r>
            <a:br>
              <a:rPr>
                <a:latin typeface="Consolas"/>
                <a:ea typeface="Consolas"/>
                <a:cs typeface="Consolas"/>
                <a:sym typeface="Consolas"/>
              </a:rPr>
            </a:br>
            <a:r>
              <a:t>is equal to</a:t>
            </a:r>
            <a:br/>
            <a:r>
              <a:rPr>
                <a:latin typeface="Consolas"/>
                <a:ea typeface="Consolas"/>
                <a:cs typeface="Consolas"/>
                <a:sym typeface="Consolas"/>
              </a:rPr>
              <a:t>z = np.array([3, 3])</a:t>
            </a:r>
          </a:p>
        </p:txBody>
      </p:sp>
      <p:sp>
        <p:nvSpPr>
          <p:cNvPr id="368"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69"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p:sp>
        <p:nvSpPr>
          <p:cNvPr id="2" name="Rectangle 6">
            <a:extLst>
              <a:ext uri="{FF2B5EF4-FFF2-40B4-BE49-F238E27FC236}">
                <a16:creationId xmlns:a16="http://schemas.microsoft.com/office/drawing/2014/main" id="{4F106757-65AD-4264-AEFB-D9CBD73B4C4F}"/>
              </a:ext>
            </a:extLst>
          </p:cNvPr>
          <p:cNvSpPr/>
          <p:nvPr/>
        </p:nvSpPr>
        <p:spPr>
          <a:xfrm>
            <a:off x="152400" y="136524"/>
            <a:ext cx="11848256" cy="6584951"/>
          </a:xfrm>
          <a:prstGeom prst="rect">
            <a:avLst/>
          </a:prstGeom>
          <a:ln w="165100">
            <a:solidFill>
              <a:srgbClr val="00B05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Footer Placeholder 3"/>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72" name="Title 1"/>
          <p:cNvSpPr txBox="1">
            <a:spLocks noGrp="1"/>
          </p:cNvSpPr>
          <p:nvPr>
            <p:ph type="title"/>
          </p:nvPr>
        </p:nvSpPr>
        <p:spPr>
          <a:xfrm>
            <a:off x="838200" y="365125"/>
            <a:ext cx="10515600" cy="903634"/>
          </a:xfrm>
          <a:prstGeom prst="rect">
            <a:avLst/>
          </a:prstGeom>
        </p:spPr>
        <p:txBody>
          <a:bodyPr/>
          <a:lstStyle/>
          <a:p>
            <a:r>
              <a:t>Testing with numpy arrays</a:t>
            </a:r>
          </a:p>
        </p:txBody>
      </p:sp>
      <p:sp>
        <p:nvSpPr>
          <p:cNvPr id="373" name="Date Placeholder 2"/>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74" name="Slide Number Placeholder 4"/>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26</a:t>
            </a:fld>
            <a:endParaRPr/>
          </a:p>
        </p:txBody>
      </p:sp>
      <p:sp>
        <p:nvSpPr>
          <p:cNvPr id="375" name="TextBox 9"/>
          <p:cNvSpPr txBox="1"/>
          <p:nvPr/>
        </p:nvSpPr>
        <p:spPr>
          <a:xfrm>
            <a:off x="2351583" y="1412777"/>
            <a:ext cx="3744417" cy="1488441"/>
          </a:xfrm>
          <a:prstGeom prst="rect">
            <a:avLst/>
          </a:prstGeom>
          <a:solidFill>
            <a:srgbClr val="F2F2F2"/>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a:solidFill>
                  <a:srgbClr val="7F007F"/>
                </a:solidFill>
                <a:latin typeface="Consolas"/>
                <a:ea typeface="Consolas"/>
                <a:cs typeface="Consolas"/>
                <a:sym typeface="Consolas"/>
              </a:defRPr>
            </a:pPr>
            <a:r>
              <a:rPr dirty="0"/>
              <a:t>def</a:t>
            </a:r>
            <a:r>
              <a:rPr dirty="0">
                <a:solidFill>
                  <a:srgbClr val="000000"/>
                </a:solidFill>
              </a:rPr>
              <a:t> </a:t>
            </a:r>
            <a:r>
              <a:rPr dirty="0" err="1">
                <a:solidFill>
                  <a:srgbClr val="0000FF"/>
                </a:solidFill>
              </a:rPr>
              <a:t>test_numpy_equality</a:t>
            </a:r>
            <a:r>
              <a:rPr dirty="0">
                <a:solidFill>
                  <a:srgbClr val="000000"/>
                </a:solidFill>
              </a:rPr>
              <a:t>():</a:t>
            </a:r>
            <a:br>
              <a:rPr dirty="0">
                <a:solidFill>
                  <a:srgbClr val="000000"/>
                </a:solidFill>
              </a:rPr>
            </a:br>
            <a:r>
              <a:rPr dirty="0">
                <a:solidFill>
                  <a:srgbClr val="000000"/>
                </a:solidFill>
              </a:rPr>
              <a:t>    x = </a:t>
            </a:r>
            <a:r>
              <a:rPr dirty="0" err="1">
                <a:solidFill>
                  <a:srgbClr val="000000"/>
                </a:solidFill>
              </a:rPr>
              <a:t>np.array</a:t>
            </a:r>
            <a:r>
              <a:rPr dirty="0">
                <a:solidFill>
                  <a:srgbClr val="000000"/>
                </a:solidFill>
              </a:rPr>
              <a:t>([1, 1])</a:t>
            </a:r>
            <a:br>
              <a:rPr dirty="0">
                <a:solidFill>
                  <a:srgbClr val="000000"/>
                </a:solidFill>
              </a:rPr>
            </a:br>
            <a:r>
              <a:rPr dirty="0">
                <a:solidFill>
                  <a:srgbClr val="000000"/>
                </a:solidFill>
              </a:rPr>
              <a:t>    y = </a:t>
            </a:r>
            <a:r>
              <a:rPr dirty="0" err="1">
                <a:solidFill>
                  <a:srgbClr val="000000"/>
                </a:solidFill>
              </a:rPr>
              <a:t>np.array</a:t>
            </a:r>
            <a:r>
              <a:rPr dirty="0">
                <a:solidFill>
                  <a:srgbClr val="000000"/>
                </a:solidFill>
              </a:rPr>
              <a:t>([2, 2])</a:t>
            </a:r>
            <a:br>
              <a:rPr dirty="0">
                <a:solidFill>
                  <a:srgbClr val="000000"/>
                </a:solidFill>
              </a:rPr>
            </a:br>
            <a:r>
              <a:rPr dirty="0">
                <a:solidFill>
                  <a:srgbClr val="000000"/>
                </a:solidFill>
              </a:rPr>
              <a:t>    z = </a:t>
            </a:r>
            <a:r>
              <a:rPr dirty="0" err="1">
                <a:solidFill>
                  <a:srgbClr val="000000"/>
                </a:solidFill>
              </a:rPr>
              <a:t>np.array</a:t>
            </a:r>
            <a:r>
              <a:rPr dirty="0">
                <a:solidFill>
                  <a:srgbClr val="000000"/>
                </a:solidFill>
              </a:rPr>
              <a:t>([3, 3])</a:t>
            </a:r>
            <a:br>
              <a:rPr dirty="0">
                <a:solidFill>
                  <a:srgbClr val="000000"/>
                </a:solidFill>
              </a:rPr>
            </a:br>
            <a:r>
              <a:rPr dirty="0">
                <a:solidFill>
                  <a:srgbClr val="000000"/>
                </a:solidFill>
              </a:rPr>
              <a:t>    </a:t>
            </a:r>
            <a:r>
              <a:rPr dirty="0"/>
              <a:t>assert</a:t>
            </a:r>
            <a:r>
              <a:rPr dirty="0">
                <a:solidFill>
                  <a:srgbClr val="000000"/>
                </a:solidFill>
              </a:rPr>
              <a:t> x + y == z</a:t>
            </a:r>
          </a:p>
        </p:txBody>
      </p:sp>
      <p:sp>
        <p:nvSpPr>
          <p:cNvPr id="376" name="Rectangle 10"/>
          <p:cNvSpPr txBox="1"/>
          <p:nvPr/>
        </p:nvSpPr>
        <p:spPr>
          <a:xfrm>
            <a:off x="2397303" y="3284985"/>
            <a:ext cx="7613418" cy="19075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100" b="1">
                <a:solidFill>
                  <a:srgbClr val="B42419"/>
                </a:solidFill>
                <a:latin typeface="Menlo Regular"/>
                <a:ea typeface="Menlo Regular"/>
                <a:cs typeface="Menlo Regular"/>
                <a:sym typeface="Menlo Regular"/>
              </a:defRPr>
            </a:pPr>
            <a:r>
              <a:t>__________________________________ test_numpy_equality __________________________________</a:t>
            </a:r>
          </a:p>
          <a:p>
            <a:pPr>
              <a:defRPr sz="1100">
                <a:latin typeface="Menlo Regular"/>
                <a:ea typeface="Menlo Regular"/>
                <a:cs typeface="Menlo Regular"/>
                <a:sym typeface="Menlo Regular"/>
              </a:defRPr>
            </a:pPr>
            <a:endParaRPr/>
          </a:p>
          <a:p>
            <a:pPr>
              <a:defRPr sz="1100" b="1">
                <a:latin typeface="Menlo Regular"/>
                <a:ea typeface="Menlo Regular"/>
                <a:cs typeface="Menlo Regular"/>
                <a:sym typeface="Menlo Regular"/>
              </a:defRPr>
            </a:pPr>
            <a:r>
              <a:t>    def test_numpy_equality():</a:t>
            </a:r>
          </a:p>
          <a:p>
            <a:pPr>
              <a:defRPr sz="1100" b="1">
                <a:latin typeface="Menlo Regular"/>
                <a:ea typeface="Menlo Regular"/>
                <a:cs typeface="Menlo Regular"/>
                <a:sym typeface="Menlo Regular"/>
              </a:defRPr>
            </a:pPr>
            <a:r>
              <a:t>        x = numpy.array([1, 1])</a:t>
            </a:r>
          </a:p>
          <a:p>
            <a:pPr>
              <a:defRPr sz="1100" b="1">
                <a:latin typeface="Menlo Regular"/>
                <a:ea typeface="Menlo Regular"/>
                <a:cs typeface="Menlo Regular"/>
                <a:sym typeface="Menlo Regular"/>
              </a:defRPr>
            </a:pPr>
            <a:r>
              <a:t>        y = numpy.array([2, 2])</a:t>
            </a:r>
          </a:p>
          <a:p>
            <a:pPr>
              <a:defRPr sz="1100" b="1">
                <a:latin typeface="Menlo Regular"/>
                <a:ea typeface="Menlo Regular"/>
                <a:cs typeface="Menlo Regular"/>
                <a:sym typeface="Menlo Regular"/>
              </a:defRPr>
            </a:pPr>
            <a:r>
              <a:t>        z = numpy.array([3, 3])</a:t>
            </a:r>
          </a:p>
          <a:p>
            <a:pPr>
              <a:defRPr sz="1100" b="1">
                <a:latin typeface="Menlo Regular"/>
                <a:ea typeface="Menlo Regular"/>
                <a:cs typeface="Menlo Regular"/>
                <a:sym typeface="Menlo Regular"/>
              </a:defRPr>
            </a:pPr>
            <a:r>
              <a:t>&gt;       assert x + y == z</a:t>
            </a:r>
          </a:p>
          <a:p>
            <a:pPr>
              <a:defRPr sz="1100" b="1">
                <a:solidFill>
                  <a:srgbClr val="B42419"/>
                </a:solidFill>
                <a:latin typeface="Menlo Regular"/>
                <a:ea typeface="Menlo Regular"/>
                <a:cs typeface="Menlo Regular"/>
                <a:sym typeface="Menlo Regular"/>
              </a:defRPr>
            </a:pPr>
            <a:r>
              <a:t>E       ValueError: The truth value of an array with more than one element is ambiguous. Use a.any() or a.all()</a:t>
            </a:r>
          </a:p>
          <a:p>
            <a:pPr>
              <a:defRPr sz="1100">
                <a:latin typeface="Menlo Regular"/>
                <a:ea typeface="Menlo Regular"/>
                <a:cs typeface="Menlo Regular"/>
                <a:sym typeface="Menlo Regular"/>
              </a:defRPr>
            </a:pPr>
            <a:endParaRPr/>
          </a:p>
          <a:p>
            <a:pPr>
              <a:defRPr sz="1100">
                <a:latin typeface="Menlo Regular"/>
                <a:ea typeface="Menlo Regular"/>
                <a:cs typeface="Menlo Regular"/>
                <a:sym typeface="Menlo Regular"/>
              </a:defRPr>
            </a:pPr>
            <a:r>
              <a:t>code.py:47: ValueError</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 grpId="1"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Footer Placeholder 4"/>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81" name="Title 1"/>
          <p:cNvSpPr txBox="1">
            <a:spLocks noGrp="1"/>
          </p:cNvSpPr>
          <p:nvPr>
            <p:ph type="title"/>
          </p:nvPr>
        </p:nvSpPr>
        <p:spPr>
          <a:xfrm>
            <a:off x="838200" y="365125"/>
            <a:ext cx="10515600" cy="903634"/>
          </a:xfrm>
          <a:prstGeom prst="rect">
            <a:avLst/>
          </a:prstGeom>
        </p:spPr>
        <p:txBody>
          <a:bodyPr/>
          <a:lstStyle/>
          <a:p>
            <a:r>
              <a:t>Testing with numpy arrays</a:t>
            </a:r>
          </a:p>
        </p:txBody>
      </p:sp>
      <p:sp>
        <p:nvSpPr>
          <p:cNvPr id="382" name="Content Placeholder 5"/>
          <p:cNvSpPr txBox="1">
            <a:spLocks noGrp="1"/>
          </p:cNvSpPr>
          <p:nvPr>
            <p:ph type="body" idx="1"/>
          </p:nvPr>
        </p:nvSpPr>
        <p:spPr>
          <a:xfrm>
            <a:off x="838200" y="1412775"/>
            <a:ext cx="10515600" cy="4764189"/>
          </a:xfrm>
          <a:prstGeom prst="rect">
            <a:avLst/>
          </a:prstGeom>
        </p:spPr>
        <p:txBody>
          <a:bodyPr/>
          <a:lstStyle/>
          <a:p>
            <a:pPr>
              <a:lnSpc>
                <a:spcPct val="100000"/>
              </a:lnSpc>
            </a:pPr>
            <a:r>
              <a:t>The module</a:t>
            </a:r>
            <a:r>
              <a:rPr sz="2000">
                <a:latin typeface="Courier New"/>
                <a:ea typeface="Courier New"/>
                <a:cs typeface="Courier New"/>
                <a:sym typeface="Courier New"/>
              </a:rPr>
              <a:t> </a:t>
            </a:r>
            <a:r>
              <a:rPr sz="2400">
                <a:latin typeface="Consolas"/>
                <a:ea typeface="Consolas"/>
                <a:cs typeface="Consolas"/>
                <a:sym typeface="Consolas"/>
              </a:rPr>
              <a:t>np.testing</a:t>
            </a:r>
            <a:r>
              <a:rPr>
                <a:latin typeface="Consolas"/>
                <a:ea typeface="Consolas"/>
                <a:cs typeface="Consolas"/>
                <a:sym typeface="Consolas"/>
              </a:rPr>
              <a:t> </a:t>
            </a:r>
            <a:r>
              <a:t>defines helper functions:</a:t>
            </a:r>
            <a:br/>
            <a:r>
              <a:rPr sz="1800">
                <a:latin typeface="Consolas"/>
                <a:ea typeface="Consolas"/>
                <a:cs typeface="Consolas"/>
                <a:sym typeface="Consolas"/>
              </a:rPr>
              <a:t>assert_equal(x, y)</a:t>
            </a:r>
            <a:br>
              <a:rPr sz="1800">
                <a:latin typeface="Consolas"/>
                <a:ea typeface="Consolas"/>
                <a:cs typeface="Consolas"/>
                <a:sym typeface="Consolas"/>
              </a:rPr>
            </a:br>
            <a:r>
              <a:rPr sz="1800">
                <a:latin typeface="Consolas"/>
                <a:ea typeface="Consolas"/>
                <a:cs typeface="Consolas"/>
                <a:sym typeface="Consolas"/>
              </a:rPr>
              <a:t>assert_allclose(x, y, rtol=1e-07, atol=0)</a:t>
            </a:r>
            <a:br>
              <a:rPr sz="1800">
                <a:latin typeface="Consolas"/>
                <a:ea typeface="Consolas"/>
                <a:cs typeface="Consolas"/>
                <a:sym typeface="Consolas"/>
              </a:rPr>
            </a:br>
            <a:endParaRPr>
              <a:latin typeface="Consolas"/>
              <a:ea typeface="Consolas"/>
              <a:cs typeface="Consolas"/>
              <a:sym typeface="Consolas"/>
            </a:endParaRPr>
          </a:p>
          <a:p>
            <a:r>
              <a:t>If you need to check more complex conditions:</a:t>
            </a:r>
          </a:p>
          <a:p>
            <a:pPr marL="685800" lvl="1" indent="-228600">
              <a:spcBef>
                <a:spcPts val="500"/>
              </a:spcBef>
              <a:defRPr sz="1600">
                <a:latin typeface="Consolas"/>
                <a:ea typeface="Consolas"/>
                <a:cs typeface="Consolas"/>
                <a:sym typeface="Consolas"/>
              </a:defRPr>
            </a:pPr>
            <a:r>
              <a:t>np.all(x)</a:t>
            </a:r>
            <a:r>
              <a:rPr sz="2400">
                <a:latin typeface="Calibri"/>
                <a:ea typeface="Calibri"/>
                <a:cs typeface="Calibri"/>
                <a:sym typeface="Calibri"/>
              </a:rPr>
              <a:t>: returns True if all elements of x are true</a:t>
            </a:r>
            <a:br>
              <a:rPr sz="2400">
                <a:latin typeface="Calibri"/>
                <a:ea typeface="Calibri"/>
                <a:cs typeface="Calibri"/>
                <a:sym typeface="Calibri"/>
              </a:rPr>
            </a:br>
            <a:r>
              <a:t>np.any(x)</a:t>
            </a:r>
            <a:r>
              <a:rPr sz="2400">
                <a:latin typeface="Calibri"/>
                <a:ea typeface="Calibri"/>
                <a:cs typeface="Calibri"/>
                <a:sym typeface="Calibri"/>
              </a:rPr>
              <a:t>: returns True is any of the elements of x is true</a:t>
            </a:r>
            <a:br>
              <a:rPr sz="2400">
                <a:latin typeface="Calibri"/>
                <a:ea typeface="Calibri"/>
                <a:cs typeface="Calibri"/>
                <a:sym typeface="Calibri"/>
              </a:rPr>
            </a:br>
            <a:endParaRPr sz="2400"/>
          </a:p>
          <a:p>
            <a:pPr marL="685800" lvl="1" indent="-228600">
              <a:spcBef>
                <a:spcPts val="500"/>
              </a:spcBef>
              <a:defRPr sz="2400"/>
            </a:pPr>
            <a:r>
              <a:t>combine with </a:t>
            </a:r>
            <a:r>
              <a:rPr sz="1800">
                <a:latin typeface="Consolas"/>
                <a:ea typeface="Consolas"/>
                <a:cs typeface="Consolas"/>
                <a:sym typeface="Consolas"/>
              </a:rPr>
              <a:t>logical_and, logical_or, logical_not</a:t>
            </a:r>
            <a:r>
              <a:rPr>
                <a:latin typeface="Consolas"/>
                <a:ea typeface="Consolas"/>
                <a:cs typeface="Consolas"/>
                <a:sym typeface="Consolas"/>
              </a:rPr>
              <a:t>:</a:t>
            </a:r>
            <a:br>
              <a:rPr>
                <a:latin typeface="Consolas"/>
                <a:ea typeface="Consolas"/>
                <a:cs typeface="Consolas"/>
                <a:sym typeface="Consolas"/>
              </a:rPr>
            </a:br>
            <a:r>
              <a:rPr sz="1800">
                <a:solidFill>
                  <a:srgbClr val="800000"/>
                </a:solidFill>
                <a:latin typeface="Consolas"/>
                <a:ea typeface="Consolas"/>
                <a:cs typeface="Consolas"/>
                <a:sym typeface="Consolas"/>
              </a:rPr>
              <a:t># test that all elements of x are between 0 and 1</a:t>
            </a:r>
            <a:br>
              <a:rPr sz="1800">
                <a:solidFill>
                  <a:srgbClr val="800000"/>
                </a:solidFill>
                <a:latin typeface="Consolas"/>
                <a:ea typeface="Consolas"/>
                <a:cs typeface="Consolas"/>
                <a:sym typeface="Consolas"/>
              </a:rPr>
            </a:br>
            <a:r>
              <a:rPr sz="1800">
                <a:solidFill>
                  <a:srgbClr val="800080"/>
                </a:solidFill>
                <a:latin typeface="Consolas"/>
                <a:ea typeface="Consolas"/>
                <a:cs typeface="Consolas"/>
                <a:sym typeface="Consolas"/>
              </a:rPr>
              <a:t>assert </a:t>
            </a:r>
            <a:r>
              <a:rPr sz="1800">
                <a:latin typeface="Consolas"/>
                <a:ea typeface="Consolas"/>
                <a:cs typeface="Consolas"/>
                <a:sym typeface="Consolas"/>
              </a:rPr>
              <a:t>all(logical_and(x &gt; 0.0, x &lt; 1.0))</a:t>
            </a:r>
            <a:br>
              <a:rPr sz="1800">
                <a:latin typeface="Consolas"/>
                <a:ea typeface="Consolas"/>
                <a:cs typeface="Consolas"/>
                <a:sym typeface="Consolas"/>
              </a:rPr>
            </a:br>
            <a:endParaRPr sz="1800">
              <a:latin typeface="Consolas"/>
              <a:ea typeface="Consolas"/>
              <a:cs typeface="Consolas"/>
              <a:sym typeface="Consolas"/>
            </a:endParaRPr>
          </a:p>
        </p:txBody>
      </p:sp>
      <p:sp>
        <p:nvSpPr>
          <p:cNvPr id="383" name="Date Placeholder 3"/>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384" name="Slide Number Placeholder 2"/>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sp>
        <p:nvSpPr>
          <p:cNvPr id="2" name="Rectangle 11">
            <a:extLst>
              <a:ext uri="{FF2B5EF4-FFF2-40B4-BE49-F238E27FC236}">
                <a16:creationId xmlns:a16="http://schemas.microsoft.com/office/drawing/2014/main" id="{CADC6D94-9A37-61A8-99D4-8C09D3A23FF4}"/>
              </a:ext>
            </a:extLst>
          </p:cNvPr>
          <p:cNvSpPr/>
          <p:nvPr/>
        </p:nvSpPr>
        <p:spPr>
          <a:xfrm>
            <a:off x="152400" y="136524"/>
            <a:ext cx="11848256" cy="6584951"/>
          </a:xfrm>
          <a:prstGeom prst="rect">
            <a:avLst/>
          </a:prstGeom>
          <a:ln w="165100">
            <a:solidFill>
              <a:srgbClr val="7030A0"/>
            </a:solidFill>
            <a:miter/>
          </a:ln>
        </p:spPr>
        <p:txBody>
          <a:bodyPr lIns="45719" rIns="45719" anchor="ctr"/>
          <a:lstStyle/>
          <a:p>
            <a:pPr algn="ctr">
              <a:defRPr>
                <a:solidFill>
                  <a:srgbClr val="FFFFFF"/>
                </a:solidFill>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8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38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iterate>
                                    <p:tmAbs val="0"/>
                                  </p:iterate>
                                  <p:childTnLst>
                                    <p:set>
                                      <p:cBhvr>
                                        <p:cTn id="14" fill="hold"/>
                                        <p:tgtEl>
                                          <p:spTgt spid="3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 grpId="1" build="p" bldLvl="5"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Footer Placeholder 4"/>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89" name="Title 1"/>
          <p:cNvSpPr txBox="1">
            <a:spLocks noGrp="1"/>
          </p:cNvSpPr>
          <p:nvPr>
            <p:ph type="title"/>
          </p:nvPr>
        </p:nvSpPr>
        <p:spPr>
          <a:xfrm>
            <a:off x="838200" y="365125"/>
            <a:ext cx="10515600" cy="903634"/>
          </a:xfrm>
          <a:prstGeom prst="rect">
            <a:avLst/>
          </a:prstGeom>
        </p:spPr>
        <p:txBody>
          <a:bodyPr/>
          <a:lstStyle/>
          <a:p>
            <a:r>
              <a:t>Watch out for </a:t>
            </a:r>
            <a:r>
              <a:rPr>
                <a:latin typeface="Courier New"/>
                <a:ea typeface="Courier New"/>
                <a:cs typeface="Courier New"/>
                <a:sym typeface="Courier New"/>
              </a:rPr>
              <a:t>nan</a:t>
            </a:r>
            <a:r>
              <a:t>s! </a:t>
            </a:r>
          </a:p>
        </p:txBody>
      </p:sp>
      <p:sp>
        <p:nvSpPr>
          <p:cNvPr id="390" name="Content Placeholder 2"/>
          <p:cNvSpPr txBox="1">
            <a:spLocks noGrp="1"/>
          </p:cNvSpPr>
          <p:nvPr>
            <p:ph type="body" idx="1"/>
          </p:nvPr>
        </p:nvSpPr>
        <p:spPr>
          <a:xfrm>
            <a:off x="838200" y="1412775"/>
            <a:ext cx="10515600" cy="4764189"/>
          </a:xfrm>
          <a:prstGeom prst="rect">
            <a:avLst/>
          </a:prstGeom>
        </p:spPr>
        <p:txBody>
          <a:bodyPr/>
          <a:lstStyle/>
          <a:p>
            <a:r>
              <a:rPr dirty="0"/>
              <a:t>In general, </a:t>
            </a:r>
            <a:r>
              <a:rPr dirty="0">
                <a:latin typeface="Consolas"/>
                <a:ea typeface="Consolas"/>
                <a:cs typeface="Consolas"/>
                <a:sym typeface="Consolas"/>
              </a:rPr>
              <a:t>nan</a:t>
            </a:r>
            <a:r>
              <a:rPr dirty="0"/>
              <a:t> is not equal to itself (IEEE standard)</a:t>
            </a:r>
          </a:p>
          <a:p>
            <a:endParaRPr dirty="0"/>
          </a:p>
          <a:p>
            <a:endParaRPr dirty="0"/>
          </a:p>
          <a:p>
            <a:pPr>
              <a:defRPr>
                <a:latin typeface="Consolas"/>
                <a:ea typeface="Consolas"/>
                <a:cs typeface="Consolas"/>
                <a:sym typeface="Consolas"/>
              </a:defRPr>
            </a:pPr>
            <a:r>
              <a:rPr dirty="0" err="1"/>
              <a:t>assert_equal</a:t>
            </a:r>
            <a:r>
              <a:rPr dirty="0"/>
              <a:t> </a:t>
            </a:r>
            <a:r>
              <a:rPr dirty="0">
                <a:latin typeface="Calibri"/>
                <a:ea typeface="Calibri"/>
                <a:cs typeface="Calibri"/>
                <a:sym typeface="Calibri"/>
              </a:rPr>
              <a:t>and </a:t>
            </a:r>
            <a:r>
              <a:rPr dirty="0" err="1"/>
              <a:t>assert_allclose</a:t>
            </a:r>
            <a:r>
              <a:rPr dirty="0"/>
              <a:t> </a:t>
            </a:r>
            <a:r>
              <a:rPr dirty="0">
                <a:latin typeface="Calibri"/>
                <a:ea typeface="Calibri"/>
                <a:cs typeface="Calibri"/>
                <a:sym typeface="Calibri"/>
              </a:rPr>
              <a:t>consider </a:t>
            </a:r>
            <a:r>
              <a:rPr dirty="0"/>
              <a:t>nan</a:t>
            </a:r>
            <a:r>
              <a:rPr dirty="0">
                <a:latin typeface="Calibri"/>
                <a:ea typeface="Calibri"/>
                <a:cs typeface="Calibri"/>
                <a:sym typeface="Calibri"/>
              </a:rPr>
              <a:t>s equal by default</a:t>
            </a:r>
          </a:p>
        </p:txBody>
      </p:sp>
      <p:sp>
        <p:nvSpPr>
          <p:cNvPr id="391" name="Date Placeholder 3"/>
          <p:cNvSpPr txBox="1"/>
          <p:nvPr/>
        </p:nvSpPr>
        <p:spPr>
          <a:xfrm>
            <a:off x="883919" y="6415802"/>
            <a:ext cx="2651762"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000">
                <a:solidFill>
                  <a:srgbClr val="888888"/>
                </a:solidFill>
              </a:defRPr>
            </a:lvl1pPr>
          </a:lstStyle>
          <a:p>
            <a:r>
              <a:rPr lang="de-DE" dirty="0"/>
              <a:t>August 2026, CC BY-SA 4.0</a:t>
            </a:r>
          </a:p>
        </p:txBody>
      </p:sp>
      <p:sp>
        <p:nvSpPr>
          <p:cNvPr id="392" name="Slide Number Placeholder 5"/>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sp>
        <p:nvSpPr>
          <p:cNvPr id="393" name="TextBox 7"/>
          <p:cNvSpPr txBox="1"/>
          <p:nvPr/>
        </p:nvSpPr>
        <p:spPr>
          <a:xfrm>
            <a:off x="1457232" y="1844824"/>
            <a:ext cx="6004561" cy="6248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a:solidFill>
                  <a:srgbClr val="2FB41D"/>
                </a:solidFill>
                <a:latin typeface="Menlo Regular"/>
                <a:ea typeface="Menlo Regular"/>
                <a:cs typeface="Menlo Regular"/>
                <a:sym typeface="Menlo Regular"/>
              </a:defRPr>
            </a:pPr>
            <a:r>
              <a:t>In [</a:t>
            </a:r>
            <a:r>
              <a:rPr b="1">
                <a:solidFill>
                  <a:srgbClr val="2FE71A"/>
                </a:solidFill>
              </a:rPr>
              <a:t>2</a:t>
            </a:r>
            <a:r>
              <a:t>]: </a:t>
            </a:r>
            <a:r>
              <a:rPr>
                <a:solidFill>
                  <a:srgbClr val="000000"/>
                </a:solidFill>
              </a:rPr>
              <a:t>np.nan == np.nan</a:t>
            </a:r>
          </a:p>
          <a:p>
            <a:pPr>
              <a:defRPr>
                <a:solidFill>
                  <a:srgbClr val="B42419"/>
                </a:solidFill>
                <a:latin typeface="Menlo Regular"/>
                <a:ea typeface="Menlo Regular"/>
                <a:cs typeface="Menlo Regular"/>
                <a:sym typeface="Menlo Regular"/>
              </a:defRPr>
            </a:pPr>
            <a:r>
              <a:t>Out[</a:t>
            </a:r>
            <a:r>
              <a:rPr b="1">
                <a:solidFill>
                  <a:srgbClr val="FC2118"/>
                </a:solidFill>
              </a:rPr>
              <a:t>2</a:t>
            </a:r>
            <a:r>
              <a:t>]: </a:t>
            </a:r>
            <a:r>
              <a:rPr>
                <a:solidFill>
                  <a:srgbClr val="000000"/>
                </a:solidFill>
              </a:rPr>
              <a:t>False</a:t>
            </a:r>
          </a:p>
        </p:txBody>
      </p:sp>
      <p:sp>
        <p:nvSpPr>
          <p:cNvPr id="394" name="TextBox 11"/>
          <p:cNvSpPr txBox="1"/>
          <p:nvPr/>
        </p:nvSpPr>
        <p:spPr>
          <a:xfrm>
            <a:off x="1472040" y="3861048"/>
            <a:ext cx="6004561" cy="14249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b="1">
                <a:solidFill>
                  <a:srgbClr val="2D961E"/>
                </a:solidFill>
                <a:latin typeface="Menlo Regular"/>
                <a:ea typeface="Menlo Regular"/>
                <a:cs typeface="Menlo Regular"/>
                <a:sym typeface="Menlo Regular"/>
              </a:defRPr>
            </a:pPr>
            <a:r>
              <a:t>def</a:t>
            </a:r>
            <a:r>
              <a:rPr b="0">
                <a:solidFill>
                  <a:srgbClr val="000000"/>
                </a:solidFill>
              </a:rPr>
              <a:t> </a:t>
            </a:r>
            <a:r>
              <a:rPr b="0">
                <a:solidFill>
                  <a:srgbClr val="400BD9"/>
                </a:solidFill>
              </a:rPr>
              <a:t>test_allclose_with_nan</a:t>
            </a:r>
            <a:r>
              <a:rPr b="0">
                <a:solidFill>
                  <a:srgbClr val="000000"/>
                </a:solidFill>
              </a:rPr>
              <a:t>():</a:t>
            </a:r>
            <a:endParaRPr>
              <a:solidFill>
                <a:srgbClr val="400BD9"/>
              </a:solidFill>
            </a:endParaRPr>
          </a:p>
          <a:p>
            <a:pPr>
              <a:defRPr>
                <a:latin typeface="Menlo Regular"/>
                <a:ea typeface="Menlo Regular"/>
                <a:cs typeface="Menlo Regular"/>
                <a:sym typeface="Menlo Regular"/>
              </a:defRPr>
            </a:pPr>
            <a:r>
              <a:t>    x = np.array([</a:t>
            </a:r>
            <a:r>
              <a:rPr>
                <a:solidFill>
                  <a:srgbClr val="2FB41D"/>
                </a:solidFill>
              </a:rPr>
              <a:t>1.1</a:t>
            </a:r>
            <a:r>
              <a:t>, np.nan])</a:t>
            </a:r>
          </a:p>
          <a:p>
            <a:pPr>
              <a:defRPr>
                <a:latin typeface="Menlo Regular"/>
                <a:ea typeface="Menlo Regular"/>
                <a:cs typeface="Menlo Regular"/>
                <a:sym typeface="Menlo Regular"/>
              </a:defRPr>
            </a:pPr>
            <a:r>
              <a:t>    y = np.array([</a:t>
            </a:r>
            <a:r>
              <a:rPr>
                <a:solidFill>
                  <a:srgbClr val="2FB41D"/>
                </a:solidFill>
              </a:rPr>
              <a:t>2.2</a:t>
            </a:r>
            <a:r>
              <a:t>, np.nan])</a:t>
            </a:r>
          </a:p>
          <a:p>
            <a:pPr>
              <a:defRPr>
                <a:latin typeface="Menlo Regular"/>
                <a:ea typeface="Menlo Regular"/>
                <a:cs typeface="Menlo Regular"/>
                <a:sym typeface="Menlo Regular"/>
              </a:defRPr>
            </a:pPr>
            <a:r>
              <a:t>    z = np.array([</a:t>
            </a:r>
            <a:r>
              <a:rPr>
                <a:solidFill>
                  <a:srgbClr val="2FB41D"/>
                </a:solidFill>
              </a:rPr>
              <a:t>3.3</a:t>
            </a:r>
            <a:r>
              <a:t>, np.nan])</a:t>
            </a:r>
          </a:p>
          <a:p>
            <a:pPr>
              <a:defRPr>
                <a:latin typeface="Menlo Regular"/>
                <a:ea typeface="Menlo Regular"/>
                <a:cs typeface="Menlo Regular"/>
                <a:sym typeface="Menlo Regular"/>
              </a:defRPr>
            </a:pPr>
            <a:r>
              <a:t>    assert_allclose(x + y, z)</a:t>
            </a:r>
          </a:p>
        </p:txBody>
      </p:sp>
      <p:sp>
        <p:nvSpPr>
          <p:cNvPr id="395" name="TextBox 13"/>
          <p:cNvSpPr txBox="1"/>
          <p:nvPr/>
        </p:nvSpPr>
        <p:spPr>
          <a:xfrm>
            <a:off x="1429955" y="5527718"/>
            <a:ext cx="10511720" cy="3327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600">
                <a:latin typeface="Menlo Regular"/>
                <a:ea typeface="Menlo Regular"/>
                <a:cs typeface="Menlo Regular"/>
                <a:sym typeface="Menlo Regular"/>
              </a:defRPr>
            </a:pPr>
            <a:r>
              <a:t>test_numpy_equality.py::test_allclose_with_nan 		</a:t>
            </a:r>
            <a:r>
              <a:rPr>
                <a:solidFill>
                  <a:srgbClr val="2FB41D"/>
                </a:solidFill>
              </a:rPr>
              <a:t>PASSED</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Footer Placeholder 7"/>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398" name="Title 1"/>
          <p:cNvSpPr txBox="1">
            <a:spLocks noGrp="1"/>
          </p:cNvSpPr>
          <p:nvPr>
            <p:ph type="title"/>
          </p:nvPr>
        </p:nvSpPr>
        <p:spPr>
          <a:xfrm>
            <a:off x="407367" y="365125"/>
            <a:ext cx="11377266" cy="903634"/>
          </a:xfrm>
          <a:prstGeom prst="rect">
            <a:avLst/>
          </a:prstGeom>
        </p:spPr>
        <p:txBody>
          <a:bodyPr/>
          <a:lstStyle/>
          <a:p>
            <a:pPr>
              <a:defRPr sz="3900">
                <a:solidFill>
                  <a:srgbClr val="24292F"/>
                </a:solidFill>
              </a:defRPr>
            </a:pPr>
            <a:r>
              <a:rPr dirty="0"/>
              <a:t>Write a working version of </a:t>
            </a:r>
            <a:r>
              <a:rPr sz="3200" dirty="0" err="1">
                <a:latin typeface="Consolas"/>
                <a:ea typeface="Consolas"/>
                <a:cs typeface="Consolas"/>
                <a:sym typeface="Consolas"/>
              </a:rPr>
              <a:t>find_maxima</a:t>
            </a:r>
            <a:r>
              <a:rPr dirty="0"/>
              <a:t>, with testing</a:t>
            </a:r>
            <a:r>
              <a:rPr dirty="0">
                <a:latin typeface="Courier New"/>
                <a:ea typeface="Courier New"/>
                <a:cs typeface="Courier New"/>
                <a:sym typeface="Courier New"/>
              </a:rPr>
              <a:t> </a:t>
            </a:r>
          </a:p>
        </p:txBody>
      </p:sp>
      <p:sp>
        <p:nvSpPr>
          <p:cNvPr id="399" name="Content Placeholder 2"/>
          <p:cNvSpPr txBox="1">
            <a:spLocks noGrp="1"/>
          </p:cNvSpPr>
          <p:nvPr>
            <p:ph type="body" idx="1"/>
          </p:nvPr>
        </p:nvSpPr>
        <p:spPr>
          <a:xfrm>
            <a:off x="838200" y="1628799"/>
            <a:ext cx="10370368" cy="4548165"/>
          </a:xfrm>
          <a:prstGeom prst="rect">
            <a:avLst/>
          </a:prstGeom>
        </p:spPr>
        <p:txBody>
          <a:bodyPr/>
          <a:lstStyle/>
          <a:p>
            <a:pPr>
              <a:defRPr b="1"/>
            </a:pPr>
            <a:r>
              <a:rPr dirty="0"/>
              <a:t>Read carefully the description of Issue #1 on GitHub</a:t>
            </a:r>
          </a:p>
          <a:p>
            <a:r>
              <a:rPr dirty="0"/>
              <a:t>Submit a Pull Request for Issue #1</a:t>
            </a:r>
          </a:p>
          <a:p>
            <a:pPr marL="685800" lvl="1" indent="-228600">
              <a:spcBef>
                <a:spcPts val="500"/>
              </a:spcBef>
              <a:defRPr sz="2400"/>
            </a:pPr>
            <a:r>
              <a:rPr dirty="0"/>
              <a:t>Fork the repository (if you haven’t already)</a:t>
            </a:r>
          </a:p>
          <a:p>
            <a:pPr marL="685800" lvl="1" indent="-228600">
              <a:spcBef>
                <a:spcPts val="500"/>
              </a:spcBef>
              <a:defRPr sz="2400"/>
            </a:pPr>
            <a:r>
              <a:rPr dirty="0"/>
              <a:t>Create a new branch on the fork called e.g. </a:t>
            </a:r>
            <a:r>
              <a:rPr dirty="0">
                <a:latin typeface="Consolas"/>
                <a:ea typeface="Consolas"/>
                <a:cs typeface="Consolas"/>
                <a:sym typeface="Consolas"/>
              </a:rPr>
              <a:t>fix-1</a:t>
            </a:r>
          </a:p>
          <a:p>
            <a:pPr marL="685800" lvl="1" indent="-228600">
              <a:spcBef>
                <a:spcPts val="500"/>
              </a:spcBef>
              <a:defRPr sz="2400"/>
            </a:pPr>
            <a:r>
              <a:rPr dirty="0"/>
              <a:t>Solve the issue with one or more commits</a:t>
            </a:r>
          </a:p>
          <a:p>
            <a:pPr marL="685800" lvl="1" indent="-228600">
              <a:spcBef>
                <a:spcPts val="500"/>
              </a:spcBef>
              <a:defRPr sz="2400"/>
            </a:pPr>
            <a:r>
              <a:rPr dirty="0"/>
              <a:t>Push the branch to your GitHub fork</a:t>
            </a:r>
          </a:p>
          <a:p>
            <a:pPr marL="685800" lvl="1" indent="-228600">
              <a:spcBef>
                <a:spcPts val="500"/>
              </a:spcBef>
              <a:defRPr sz="2400"/>
            </a:pPr>
            <a:r>
              <a:rPr dirty="0"/>
              <a:t>On GitHub, go to “Pull Requests” and open a pull request against branch </a:t>
            </a:r>
            <a:r>
              <a:rPr dirty="0">
                <a:latin typeface="Consolas"/>
                <a:ea typeface="Consolas"/>
                <a:cs typeface="Consolas"/>
                <a:sym typeface="Consolas"/>
              </a:rPr>
              <a:t>main</a:t>
            </a:r>
            <a:r>
              <a:rPr dirty="0"/>
              <a:t> of the official ASPP repository</a:t>
            </a:r>
          </a:p>
          <a:p>
            <a:pPr marL="685800" lvl="1" indent="-228600">
              <a:spcBef>
                <a:spcPts val="500"/>
              </a:spcBef>
              <a:defRPr sz="2400"/>
            </a:pPr>
            <a:r>
              <a:rPr dirty="0"/>
              <a:t>In the PR description write “Fixes #1” somewhere, this is going to create an automatic link to the issue, and close the issue if the PR is merged</a:t>
            </a:r>
          </a:p>
        </p:txBody>
      </p:sp>
      <p:sp>
        <p:nvSpPr>
          <p:cNvPr id="400" name="Date Placeholder 6"/>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401"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29</a:t>
            </a:fld>
            <a:endParaRPr/>
          </a:p>
        </p:txBody>
      </p:sp>
      <p:sp>
        <p:nvSpPr>
          <p:cNvPr id="2" name="Rectangle 6">
            <a:extLst>
              <a:ext uri="{FF2B5EF4-FFF2-40B4-BE49-F238E27FC236}">
                <a16:creationId xmlns:a16="http://schemas.microsoft.com/office/drawing/2014/main" id="{2A44E95E-DD84-48DA-C3C8-551C279DFA7F}"/>
              </a:ext>
            </a:extLst>
          </p:cNvPr>
          <p:cNvSpPr/>
          <p:nvPr/>
        </p:nvSpPr>
        <p:spPr>
          <a:xfrm>
            <a:off x="152400" y="136524"/>
            <a:ext cx="11848256" cy="6584951"/>
          </a:xfrm>
          <a:prstGeom prst="rect">
            <a:avLst/>
          </a:prstGeom>
          <a:ln w="165100">
            <a:solidFill>
              <a:srgbClr val="00B050"/>
            </a:solidFill>
            <a:miter/>
          </a:ln>
        </p:spPr>
        <p:txBody>
          <a:bodyPr lIns="45719" rIns="45719" anchor="ctr"/>
          <a:lstStyle/>
          <a:p>
            <a:pPr algn="ctr">
              <a:defRPr>
                <a:solidFill>
                  <a:srgbClr val="FFFFFF"/>
                </a:solidFill>
              </a:defRPr>
            </a:pPr>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Footer Placeholder 3"/>
          <p:cNvSpPr txBox="1"/>
          <p:nvPr/>
        </p:nvSpPr>
        <p:spPr>
          <a:xfrm>
            <a:off x="4084319" y="6356350"/>
            <a:ext cx="40233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algn="ctr" defTabSz="914400">
              <a:spcBef>
                <a:spcPts val="600"/>
              </a:spcBef>
              <a:defRPr sz="1200">
                <a:solidFill>
                  <a:srgbClr val="FFFFFF"/>
                </a:solidFill>
              </a:defRPr>
            </a:lvl1pPr>
          </a:lstStyle>
          <a:p>
            <a:r>
              <a:t>Testing scientific code, v16.0</a:t>
            </a:r>
          </a:p>
        </p:txBody>
      </p:sp>
      <p:sp>
        <p:nvSpPr>
          <p:cNvPr id="404" name="Rectangle 4102"/>
          <p:cNvSpPr/>
          <p:nvPr/>
        </p:nvSpPr>
        <p:spPr>
          <a:xfrm>
            <a:off x="-2" y="0"/>
            <a:ext cx="12188954"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405" name="Picture 2" descr="Picture 2"/>
          <p:cNvPicPr>
            <a:picLocks noChangeAspect="1"/>
          </p:cNvPicPr>
          <p:nvPr/>
        </p:nvPicPr>
        <p:blipFill>
          <a:blip r:embed="rId3"/>
          <a:stretch>
            <a:fillRect/>
          </a:stretch>
        </p:blipFill>
        <p:spPr>
          <a:xfrm>
            <a:off x="-3047" y="9"/>
            <a:ext cx="12192000" cy="6857991"/>
          </a:xfrm>
          <a:prstGeom prst="rect">
            <a:avLst/>
          </a:prstGeom>
          <a:ln w="12700">
            <a:miter lim="400000"/>
          </a:ln>
        </p:spPr>
      </p:pic>
      <p:sp>
        <p:nvSpPr>
          <p:cNvPr id="406" name="Rectangle 4104"/>
          <p:cNvSpPr/>
          <p:nvPr/>
        </p:nvSpPr>
        <p:spPr>
          <a:xfrm>
            <a:off x="-1" y="2207602"/>
            <a:ext cx="12192001" cy="3162147"/>
          </a:xfrm>
          <a:prstGeom prst="rect">
            <a:avLst/>
          </a:prstGeom>
          <a:gradFill>
            <a:gsLst>
              <a:gs pos="0">
                <a:srgbClr val="000000">
                  <a:alpha val="0"/>
                </a:srgbClr>
              </a:gs>
              <a:gs pos="25000">
                <a:srgbClr val="000000">
                  <a:alpha val="15000"/>
                </a:srgbClr>
              </a:gs>
              <a:gs pos="50000">
                <a:srgbClr val="000000">
                  <a:alpha val="30000"/>
                </a:srgbClr>
              </a:gs>
              <a:gs pos="75000">
                <a:srgbClr val="000000">
                  <a:alpha val="15000"/>
                </a:srgbClr>
              </a:gs>
              <a:gs pos="100000">
                <a:srgbClr val="000000">
                  <a:alpha val="0"/>
                </a:srgbClr>
              </a:gs>
            </a:gsLst>
            <a:lin ang="16200000"/>
          </a:gradFill>
          <a:ln w="12700">
            <a:miter lim="400000"/>
          </a:ln>
        </p:spPr>
        <p:txBody>
          <a:bodyPr lIns="45719" rIns="45719" anchor="ctr"/>
          <a:lstStyle/>
          <a:p>
            <a:pPr algn="ctr">
              <a:defRPr>
                <a:solidFill>
                  <a:srgbClr val="FFFFFF"/>
                </a:solidFill>
              </a:defRPr>
            </a:pPr>
            <a:endParaRPr/>
          </a:p>
        </p:txBody>
      </p:sp>
      <p:sp>
        <p:nvSpPr>
          <p:cNvPr id="407" name="Title 1"/>
          <p:cNvSpPr txBox="1">
            <a:spLocks noGrp="1"/>
          </p:cNvSpPr>
          <p:nvPr>
            <p:ph type="title" idx="4294967295"/>
          </p:nvPr>
        </p:nvSpPr>
        <p:spPr>
          <a:xfrm>
            <a:off x="1097280" y="325549"/>
            <a:ext cx="10058401" cy="2527388"/>
          </a:xfrm>
          <a:prstGeom prst="rect">
            <a:avLst/>
          </a:prstGeom>
          <a:effectLst>
            <a:outerShdw blurRad="50800" dist="38100" dir="2700000" rotWithShape="0">
              <a:srgbClr val="000000">
                <a:alpha val="40000"/>
              </a:srgbClr>
            </a:outerShdw>
          </a:effectLst>
        </p:spPr>
        <p:txBody>
          <a:bodyPr anchor="b"/>
          <a:lstStyle/>
          <a:p>
            <a:pPr algn="ctr">
              <a:defRPr sz="6600">
                <a:solidFill>
                  <a:srgbClr val="FFFFFF"/>
                </a:solidFill>
              </a:defRPr>
            </a:pPr>
            <a:r>
              <a:t>Up next:</a:t>
            </a:r>
            <a:br/>
            <a:r>
              <a:t>Testing patterns</a:t>
            </a:r>
          </a:p>
        </p:txBody>
      </p:sp>
      <p:sp>
        <p:nvSpPr>
          <p:cNvPr id="408" name="Date Placeholder 2"/>
          <p:cNvSpPr txBox="1"/>
          <p:nvPr/>
        </p:nvSpPr>
        <p:spPr>
          <a:xfrm>
            <a:off x="883919" y="6356350"/>
            <a:ext cx="2651762"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defTabSz="914400">
              <a:spcBef>
                <a:spcPts val="600"/>
              </a:spcBef>
              <a:defRPr sz="1200">
                <a:solidFill>
                  <a:srgbClr val="FFFFFF"/>
                </a:solidFill>
              </a:defRPr>
            </a:lvl1pPr>
          </a:lstStyle>
          <a:p>
            <a:r>
              <a:rPr lang="de-DE" dirty="0"/>
              <a:t>August 2026, CC BY-SA 4.0</a:t>
            </a:r>
          </a:p>
        </p:txBody>
      </p:sp>
      <p:sp>
        <p:nvSpPr>
          <p:cNvPr id="409" name="Slide Number Placeholder 4"/>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92500" lnSpcReduction="10000"/>
          </a:bodyPr>
          <a:lstStyle>
            <a:lvl1pPr defTabSz="914400">
              <a:spcBef>
                <a:spcPts val="600"/>
              </a:spcBef>
              <a:defRPr>
                <a:solidFill>
                  <a:srgbClr val="FFFFFF"/>
                </a:solidFill>
              </a:defRPr>
            </a:lvl1pPr>
          </a:lstStyle>
          <a:p>
            <a:fld id="{86CB4B4D-7CA3-9044-876B-883B54F8677D}" type="slidenum">
              <a:t>30</a:t>
            </a:fld>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Footer Placeholder 2"/>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412" name="Date Placeholder 1"/>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413"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Footer Placeholder 2"/>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412" name="Date Placeholder 1"/>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413"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32</a:t>
            </a:fld>
            <a:endParaRPr/>
          </a:p>
        </p:txBody>
      </p:sp>
      <p:sp>
        <p:nvSpPr>
          <p:cNvPr id="2" name="Textfeld 1">
            <a:extLst>
              <a:ext uri="{FF2B5EF4-FFF2-40B4-BE49-F238E27FC236}">
                <a16:creationId xmlns:a16="http://schemas.microsoft.com/office/drawing/2014/main" id="{563B6411-47D5-C8C3-D5C9-1EBACE748DAC}"/>
              </a:ext>
            </a:extLst>
          </p:cNvPr>
          <p:cNvSpPr txBox="1"/>
          <p:nvPr/>
        </p:nvSpPr>
        <p:spPr>
          <a:xfrm>
            <a:off x="2424223" y="2098158"/>
            <a:ext cx="1619993" cy="1754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de-DE" sz="1800" b="0" i="0" u="none" strike="noStrike" cap="none" spc="0" normalizeH="0" baseline="0" dirty="0">
                <a:ln>
                  <a:noFill/>
                </a:ln>
                <a:solidFill>
                  <a:srgbClr val="000000"/>
                </a:solidFill>
                <a:effectLst/>
                <a:uFillTx/>
                <a:latin typeface="Calibri"/>
                <a:ea typeface="Calibri"/>
                <a:cs typeface="Calibri"/>
                <a:sym typeface="Calibri"/>
              </a:rPr>
              <a:t>Timings: 4,5 h</a:t>
            </a:r>
          </a:p>
          <a:p>
            <a:pPr marL="0" marR="0" indent="0" algn="l" defTabSz="457200" rtl="0" fontAlgn="auto" latinLnBrk="0" hangingPunct="0">
              <a:lnSpc>
                <a:spcPct val="100000"/>
              </a:lnSpc>
              <a:spcBef>
                <a:spcPts val="0"/>
              </a:spcBef>
              <a:spcAft>
                <a:spcPts val="0"/>
              </a:spcAft>
              <a:buClrTx/>
              <a:buSzTx/>
              <a:buFontTx/>
              <a:buNone/>
              <a:tabLst/>
            </a:pPr>
            <a:endParaRPr kumimoji="0" lang="de-DE" sz="1800" b="0" i="0" u="none" strike="noStrike" cap="none" spc="0" normalizeH="0" baseline="0" dirty="0">
              <a:ln>
                <a:noFill/>
              </a:ln>
              <a:solidFill>
                <a:srgbClr val="000000"/>
              </a:solidFill>
              <a:effectLst/>
              <a:uFillTx/>
              <a:latin typeface="Calibri"/>
              <a:ea typeface="Calibri"/>
              <a:cs typeface="Calibri"/>
              <a:sym typeface="Calibri"/>
            </a:endParaRPr>
          </a:p>
          <a:p>
            <a:pPr marL="0" marR="0" indent="0" algn="l" defTabSz="457200" rtl="0" fontAlgn="auto" latinLnBrk="0" hangingPunct="0">
              <a:lnSpc>
                <a:spcPct val="100000"/>
              </a:lnSpc>
              <a:spcBef>
                <a:spcPts val="0"/>
              </a:spcBef>
              <a:spcAft>
                <a:spcPts val="0"/>
              </a:spcAft>
              <a:buClrTx/>
              <a:buSzTx/>
              <a:buFontTx/>
              <a:buNone/>
              <a:tabLst/>
            </a:pPr>
            <a:r>
              <a:rPr lang="de-DE" dirty="0"/>
              <a:t>Part 1: 1,25</a:t>
            </a:r>
          </a:p>
          <a:p>
            <a:pPr marL="0" marR="0" indent="0" algn="l" defTabSz="457200" rtl="0" fontAlgn="auto" latinLnBrk="0" hangingPunct="0">
              <a:lnSpc>
                <a:spcPct val="100000"/>
              </a:lnSpc>
              <a:spcBef>
                <a:spcPts val="0"/>
              </a:spcBef>
              <a:spcAft>
                <a:spcPts val="0"/>
              </a:spcAft>
              <a:buClrTx/>
              <a:buSzTx/>
              <a:buFontTx/>
              <a:buNone/>
              <a:tabLst/>
            </a:pPr>
            <a:r>
              <a:rPr kumimoji="0" lang="de-DE" sz="1800" b="0" i="0" u="none" strike="noStrike" cap="none" spc="0" normalizeH="0" baseline="0" dirty="0">
                <a:ln>
                  <a:noFill/>
                </a:ln>
                <a:solidFill>
                  <a:srgbClr val="000000"/>
                </a:solidFill>
                <a:effectLst/>
                <a:uFillTx/>
                <a:latin typeface="Calibri"/>
                <a:ea typeface="Calibri"/>
                <a:cs typeface="Calibri"/>
                <a:sym typeface="Calibri"/>
              </a:rPr>
              <a:t>Part 2: 2,25</a:t>
            </a:r>
          </a:p>
          <a:p>
            <a:pPr marL="0" marR="0" indent="0" algn="l" defTabSz="457200" rtl="0" fontAlgn="auto" latinLnBrk="0" hangingPunct="0">
              <a:lnSpc>
                <a:spcPct val="100000"/>
              </a:lnSpc>
              <a:spcBef>
                <a:spcPts val="0"/>
              </a:spcBef>
              <a:spcAft>
                <a:spcPts val="0"/>
              </a:spcAft>
              <a:buClrTx/>
              <a:buSzTx/>
              <a:buFontTx/>
              <a:buNone/>
              <a:tabLst/>
            </a:pPr>
            <a:r>
              <a:rPr lang="de-DE" dirty="0"/>
              <a:t>Debugging: 0,75</a:t>
            </a:r>
          </a:p>
          <a:p>
            <a:pPr marL="0" marR="0" indent="0" algn="l" defTabSz="457200" rtl="0" fontAlgn="auto" latinLnBrk="0" hangingPunct="0">
              <a:lnSpc>
                <a:spcPct val="100000"/>
              </a:lnSpc>
              <a:spcBef>
                <a:spcPts val="0"/>
              </a:spcBef>
              <a:spcAft>
                <a:spcPts val="0"/>
              </a:spcAft>
              <a:buClrTx/>
              <a:buSzTx/>
              <a:buFontTx/>
              <a:buNone/>
              <a:tabLst/>
            </a:pPr>
            <a:r>
              <a:rPr kumimoji="0" lang="de-DE" sz="1800" b="0" i="0" u="none" strike="noStrike" cap="none" spc="0" normalizeH="0" baseline="0" dirty="0">
                <a:ln>
                  <a:noFill/>
                </a:ln>
                <a:solidFill>
                  <a:srgbClr val="000000"/>
                </a:solidFill>
                <a:effectLst/>
                <a:uFillTx/>
                <a:latin typeface="Calibri"/>
                <a:ea typeface="Calibri"/>
                <a:cs typeface="Calibri"/>
                <a:sym typeface="Calibri"/>
              </a:rPr>
              <a:t>CI: 0,25</a:t>
            </a:r>
          </a:p>
        </p:txBody>
      </p:sp>
    </p:spTree>
    <p:extLst>
      <p:ext uri="{BB962C8B-B14F-4D97-AF65-F5344CB8AC3E}">
        <p14:creationId xmlns:p14="http://schemas.microsoft.com/office/powerpoint/2010/main" val="177107095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 name="Footer Placeholder 2"/>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157" name="Rectangle 2"/>
          <p:cNvSpPr txBox="1">
            <a:spLocks noGrp="1"/>
          </p:cNvSpPr>
          <p:nvPr>
            <p:ph type="title"/>
          </p:nvPr>
        </p:nvSpPr>
        <p:spPr>
          <a:xfrm>
            <a:off x="838200" y="365125"/>
            <a:ext cx="10515600" cy="903634"/>
          </a:xfrm>
          <a:prstGeom prst="rect">
            <a:avLst/>
          </a:prstGeom>
        </p:spPr>
        <p:txBody>
          <a:bodyPr/>
          <a:lstStyle/>
          <a:p>
            <a:r>
              <a:t>The agile development cycle</a:t>
            </a:r>
          </a:p>
        </p:txBody>
      </p:sp>
      <p:sp>
        <p:nvSpPr>
          <p:cNvPr id="158" name="Date Placeholder 1"/>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August 2023, CC BY-SA 4.0</a:t>
            </a:r>
          </a:p>
        </p:txBody>
      </p:sp>
      <p:sp>
        <p:nvSpPr>
          <p:cNvPr id="159"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33</a:t>
            </a:fld>
            <a:endParaRPr/>
          </a:p>
        </p:txBody>
      </p:sp>
      <p:grpSp>
        <p:nvGrpSpPr>
          <p:cNvPr id="181" name="Group 6"/>
          <p:cNvGrpSpPr/>
          <p:nvPr/>
        </p:nvGrpSpPr>
        <p:grpSpPr>
          <a:xfrm>
            <a:off x="1919535" y="1298321"/>
            <a:ext cx="4680531" cy="4780509"/>
            <a:chOff x="-1" y="0"/>
            <a:chExt cx="4680530" cy="4780508"/>
          </a:xfrm>
        </p:grpSpPr>
        <p:grpSp>
          <p:nvGrpSpPr>
            <p:cNvPr id="179" name="Diagram 16"/>
            <p:cNvGrpSpPr/>
            <p:nvPr/>
          </p:nvGrpSpPr>
          <p:grpSpPr>
            <a:xfrm>
              <a:off x="829242" y="0"/>
              <a:ext cx="3851287" cy="4780508"/>
              <a:chOff x="0" y="0"/>
              <a:chExt cx="3851286" cy="4780507"/>
            </a:xfrm>
          </p:grpSpPr>
          <p:sp>
            <p:nvSpPr>
              <p:cNvPr id="160" name="Rounded Rectangle"/>
              <p:cNvSpPr/>
              <p:nvPr/>
            </p:nvSpPr>
            <p:spPr>
              <a:xfrm>
                <a:off x="34855" y="0"/>
                <a:ext cx="3781574" cy="682931"/>
              </a:xfrm>
              <a:prstGeom prst="roundRect">
                <a:avLst>
                  <a:gd name="adj" fmla="val 10000"/>
                </a:avLst>
              </a:prstGeom>
              <a:solidFill>
                <a:srgbClr val="FFFFFF"/>
              </a:solidFill>
              <a:ln w="38100" cap="flat">
                <a:solidFill>
                  <a:srgbClr val="FF0000"/>
                </a:solidFill>
                <a:prstDash val="solid"/>
                <a:round/>
              </a:ln>
              <a:effectLst/>
            </p:spPr>
            <p:txBody>
              <a:bodyPr wrap="square" lIns="45719" tIns="45719" rIns="45719" bIns="45719" numCol="1"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a:pPr>
                <a:r>
                  <a:rPr kumimoji="0" lang="de-DE" sz="2400" b="0" i="0" u="none" strike="noStrike" kern="0" cap="none" spc="0" normalizeH="0" baseline="0" noProof="0" dirty="0">
                    <a:ln>
                      <a:noFill/>
                    </a:ln>
                    <a:solidFill>
                      <a:srgbClr val="000000"/>
                    </a:solidFill>
                    <a:effectLst/>
                    <a:uLnTx/>
                    <a:uFillTx/>
                    <a:latin typeface="Calibri"/>
                    <a:cs typeface="Calibri"/>
                    <a:sym typeface="Calibri"/>
                  </a:rPr>
                  <a:t>Pick </a:t>
                </a:r>
                <a:r>
                  <a:rPr kumimoji="0" lang="de-DE" sz="2400" b="0" i="0" u="none" strike="noStrike" kern="0" cap="none" spc="0" normalizeH="0" baseline="0" noProof="0" dirty="0" err="1">
                    <a:ln>
                      <a:noFill/>
                    </a:ln>
                    <a:solidFill>
                      <a:srgbClr val="000000"/>
                    </a:solidFill>
                    <a:effectLst/>
                    <a:uLnTx/>
                    <a:uFillTx/>
                    <a:latin typeface="Calibri"/>
                    <a:cs typeface="Calibri"/>
                    <a:sym typeface="Calibri"/>
                  </a:rPr>
                  <a:t>your</a:t>
                </a:r>
                <a:r>
                  <a:rPr kumimoji="0" lang="de-DE" sz="2400" b="0" i="0" u="none" strike="noStrike" kern="0" cap="none" spc="0" normalizeH="0" baseline="0" noProof="0" dirty="0">
                    <a:ln>
                      <a:noFill/>
                    </a:ln>
                    <a:solidFill>
                      <a:srgbClr val="000000"/>
                    </a:solidFill>
                    <a:effectLst/>
                    <a:uLnTx/>
                    <a:uFillTx/>
                    <a:latin typeface="Calibri"/>
                    <a:cs typeface="Calibri"/>
                    <a:sym typeface="Calibri"/>
                  </a:rPr>
                  <a:t> </a:t>
                </a:r>
                <a:r>
                  <a:rPr kumimoji="0" lang="de-DE" sz="2400" b="0" i="0" u="none" strike="noStrike" kern="0" cap="none" spc="0" normalizeH="0" baseline="0" noProof="0" dirty="0" err="1">
                    <a:ln>
                      <a:noFill/>
                    </a:ln>
                    <a:solidFill>
                      <a:srgbClr val="000000"/>
                    </a:solidFill>
                    <a:effectLst/>
                    <a:uLnTx/>
                    <a:uFillTx/>
                    <a:latin typeface="Calibri"/>
                    <a:cs typeface="Calibri"/>
                    <a:sym typeface="Calibri"/>
                  </a:rPr>
                  <a:t>next</a:t>
                </a:r>
                <a:r>
                  <a:rPr kumimoji="0" lang="de-DE" sz="2400" b="0" i="0" u="none" strike="noStrike" kern="0" cap="none" spc="0" normalizeH="0" baseline="0" noProof="0" dirty="0">
                    <a:ln>
                      <a:noFill/>
                    </a:ln>
                    <a:solidFill>
                      <a:srgbClr val="000000"/>
                    </a:solidFill>
                    <a:effectLst/>
                    <a:uLnTx/>
                    <a:uFillTx/>
                    <a:latin typeface="Calibri"/>
                    <a:cs typeface="Calibri"/>
                    <a:sym typeface="Calibri"/>
                  </a:rPr>
                  <a:t> feature</a:t>
                </a:r>
              </a:p>
            </p:txBody>
          </p:sp>
          <p:sp>
            <p:nvSpPr>
              <p:cNvPr id="163" name="Arrow"/>
              <p:cNvSpPr/>
              <p:nvPr/>
            </p:nvSpPr>
            <p:spPr>
              <a:xfrm rot="5400000">
                <a:off x="1797593" y="700003"/>
                <a:ext cx="256099" cy="307319"/>
              </a:xfrm>
              <a:prstGeom prst="rightArrow">
                <a:avLst>
                  <a:gd name="adj1" fmla="val 60000"/>
                  <a:gd name="adj2" fmla="val 50000"/>
                </a:avLst>
              </a:prstGeom>
              <a:solidFill>
                <a:srgbClr val="FFFFFF"/>
              </a:solidFill>
              <a:ln w="38100" cap="flat">
                <a:solidFill>
                  <a:srgbClr val="FF0000"/>
                </a:solidFill>
                <a:prstDash val="solid"/>
                <a:round/>
              </a:ln>
              <a:effectLst/>
            </p:spPr>
            <p:txBody>
              <a:bodyPr wrap="square" lIns="45719" tIns="45719" rIns="45719" bIns="45719" numCol="1" anchor="ctr">
                <a:noAutofit/>
              </a:bodyPr>
              <a:lstStyle/>
              <a:p>
                <a:pPr algn="ctr" defTabSz="488950">
                  <a:lnSpc>
                    <a:spcPct val="90000"/>
                  </a:lnSpc>
                  <a:spcBef>
                    <a:spcPts val="700"/>
                  </a:spcBef>
                  <a:defRPr sz="1100">
                    <a:solidFill>
                      <a:srgbClr val="FFFFFF"/>
                    </a:solidFill>
                  </a:defRPr>
                </a:pPr>
                <a:endParaRPr/>
              </a:p>
            </p:txBody>
          </p:sp>
          <p:sp>
            <p:nvSpPr>
              <p:cNvPr id="164" name="Rounded Rectangle"/>
              <p:cNvSpPr/>
              <p:nvPr/>
            </p:nvSpPr>
            <p:spPr>
              <a:xfrm>
                <a:off x="0" y="1024393"/>
                <a:ext cx="3851286" cy="682932"/>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1066800">
                  <a:lnSpc>
                    <a:spcPct val="90000"/>
                  </a:lnSpc>
                  <a:spcBef>
                    <a:spcPts val="700"/>
                  </a:spcBef>
                  <a:defRPr sz="2400"/>
                </a:pPr>
                <a:r>
                  <a:rPr lang="de-DE" dirty="0"/>
                  <a:t>Write </a:t>
                </a:r>
                <a:r>
                  <a:rPr lang="de-DE" dirty="0" err="1"/>
                  <a:t>tests</a:t>
                </a:r>
                <a:r>
                  <a:rPr lang="de-DE" dirty="0"/>
                  <a:t> </a:t>
                </a:r>
                <a:br>
                  <a:rPr lang="de-DE" dirty="0"/>
                </a:br>
                <a:r>
                  <a:rPr lang="de-DE" sz="2000" dirty="0" err="1"/>
                  <a:t>to</a:t>
                </a:r>
                <a:r>
                  <a:rPr lang="de-DE" sz="2000" dirty="0"/>
                  <a:t> check </a:t>
                </a:r>
                <a:r>
                  <a:rPr lang="de-DE" sz="2000" dirty="0" err="1"/>
                  <a:t>that</a:t>
                </a:r>
                <a:r>
                  <a:rPr lang="de-DE" sz="2000" dirty="0"/>
                  <a:t> feature </a:t>
                </a:r>
                <a:r>
                  <a:rPr lang="de-DE" sz="2000" dirty="0" err="1"/>
                  <a:t>works</a:t>
                </a:r>
                <a:r>
                  <a:rPr lang="de-DE" sz="2000" dirty="0"/>
                  <a:t> </a:t>
                </a:r>
              </a:p>
            </p:txBody>
          </p:sp>
          <p:sp>
            <p:nvSpPr>
              <p:cNvPr id="167" name="Arrow"/>
              <p:cNvSpPr/>
              <p:nvPr/>
            </p:nvSpPr>
            <p:spPr>
              <a:xfrm rot="5400000">
                <a:off x="1797593" y="1724397"/>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sp>
            <p:nvSpPr>
              <p:cNvPr id="168" name="Rounded Rectangle"/>
              <p:cNvSpPr/>
              <p:nvPr/>
            </p:nvSpPr>
            <p:spPr>
              <a:xfrm>
                <a:off x="1037775" y="2048787"/>
                <a:ext cx="2798309" cy="682932"/>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marL="0" marR="0" lvl="0" indent="0" algn="ctr" defTabSz="1066800" rtl="0" eaLnBrk="1" fontAlgn="auto" latinLnBrk="0" hangingPunct="0">
                  <a:lnSpc>
                    <a:spcPct val="90000"/>
                  </a:lnSpc>
                  <a:spcBef>
                    <a:spcPts val="1000"/>
                  </a:spcBef>
                  <a:spcAft>
                    <a:spcPts val="0"/>
                  </a:spcAft>
                  <a:buClrTx/>
                  <a:buSzTx/>
                  <a:buFontTx/>
                  <a:buNone/>
                  <a:tabLst/>
                  <a:defRPr sz="2400"/>
                </a:pPr>
                <a:r>
                  <a:rPr kumimoji="0" lang="de-DE" sz="2400" b="0" i="0" u="none" strike="noStrike" kern="0" cap="none" spc="0" normalizeH="0" baseline="0" noProof="0" dirty="0">
                    <a:ln>
                      <a:noFill/>
                    </a:ln>
                    <a:solidFill>
                      <a:srgbClr val="000000"/>
                    </a:solidFill>
                    <a:effectLst/>
                    <a:uLnTx/>
                    <a:uFillTx/>
                    <a:latin typeface="Calibri"/>
                    <a:cs typeface="Calibri"/>
                    <a:sym typeface="Calibri"/>
                  </a:rPr>
                  <a:t>Write </a:t>
                </a:r>
                <a:r>
                  <a:rPr kumimoji="0" lang="de-DE" sz="2400" b="0" i="0" u="none" strike="noStrike" kern="0" cap="none" spc="0" normalizeH="0" baseline="0" noProof="0" dirty="0" err="1">
                    <a:ln>
                      <a:noFill/>
                    </a:ln>
                    <a:solidFill>
                      <a:srgbClr val="000000"/>
                    </a:solidFill>
                    <a:effectLst/>
                    <a:uLnTx/>
                    <a:uFillTx/>
                    <a:latin typeface="Calibri"/>
                    <a:cs typeface="Calibri"/>
                    <a:sym typeface="Calibri"/>
                  </a:rPr>
                  <a:t>simplest</a:t>
                </a:r>
                <a:r>
                  <a:rPr kumimoji="0" lang="de-DE" sz="2400" b="0" i="0" u="none" strike="noStrike" kern="0" cap="none" spc="0" normalizeH="0" baseline="0" noProof="0" dirty="0">
                    <a:ln>
                      <a:noFill/>
                    </a:ln>
                    <a:solidFill>
                      <a:srgbClr val="000000"/>
                    </a:solidFill>
                    <a:effectLst/>
                    <a:uLnTx/>
                    <a:uFillTx/>
                    <a:latin typeface="Calibri"/>
                    <a:cs typeface="Calibri"/>
                    <a:sym typeface="Calibri"/>
                  </a:rPr>
                  <a:t> code </a:t>
                </a:r>
                <a:br>
                  <a:rPr kumimoji="0" lang="de-DE" sz="2400" b="0" i="0" u="none" strike="noStrike" kern="0" cap="none" spc="0" normalizeH="0" baseline="0" noProof="0" dirty="0">
                    <a:ln>
                      <a:noFill/>
                    </a:ln>
                    <a:solidFill>
                      <a:srgbClr val="000000"/>
                    </a:solidFill>
                    <a:effectLst/>
                    <a:uLnTx/>
                    <a:uFillTx/>
                    <a:latin typeface="Calibri"/>
                    <a:cs typeface="Calibri"/>
                    <a:sym typeface="Calibri"/>
                  </a:rPr>
                </a:b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that</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a:t>
                </a: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makes</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a:t>
                </a: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tests</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pass</a:t>
                </a:r>
              </a:p>
            </p:txBody>
          </p:sp>
          <p:sp>
            <p:nvSpPr>
              <p:cNvPr id="171" name="Arrow"/>
              <p:cNvSpPr/>
              <p:nvPr/>
            </p:nvSpPr>
            <p:spPr>
              <a:xfrm rot="5400000">
                <a:off x="1797593" y="2748791"/>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sp>
            <p:nvSpPr>
              <p:cNvPr id="172" name="Rounded Rectangle"/>
              <p:cNvSpPr/>
              <p:nvPr/>
            </p:nvSpPr>
            <p:spPr>
              <a:xfrm>
                <a:off x="1037775" y="3073181"/>
                <a:ext cx="2798309" cy="682932"/>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marL="0" marR="0" lvl="0" indent="0" algn="ctr" defTabSz="1066800" rtl="0" eaLnBrk="1" fontAlgn="auto" latinLnBrk="0" hangingPunct="0">
                  <a:lnSpc>
                    <a:spcPct val="90000"/>
                  </a:lnSpc>
                  <a:spcBef>
                    <a:spcPts val="1000"/>
                  </a:spcBef>
                  <a:spcAft>
                    <a:spcPts val="0"/>
                  </a:spcAft>
                  <a:buClrTx/>
                  <a:buSzTx/>
                  <a:buFontTx/>
                  <a:buNone/>
                  <a:tabLst/>
                  <a:defRPr sz="2400"/>
                </a:pPr>
                <a:r>
                  <a:rPr kumimoji="0" lang="de-DE" sz="2400" b="0" i="0" u="none" strike="noStrike" kern="0" cap="none" spc="0" normalizeH="0" baseline="0" noProof="0" dirty="0">
                    <a:ln>
                      <a:noFill/>
                    </a:ln>
                    <a:solidFill>
                      <a:srgbClr val="000000"/>
                    </a:solidFill>
                    <a:effectLst/>
                    <a:uLnTx/>
                    <a:uFillTx/>
                    <a:latin typeface="Calibri"/>
                    <a:cs typeface="Calibri"/>
                    <a:sym typeface="Calibri"/>
                  </a:rPr>
                  <a:t>Run </a:t>
                </a:r>
                <a:r>
                  <a:rPr kumimoji="0" lang="de-DE" sz="2400" b="0" i="0" u="none" strike="noStrike" kern="0" cap="none" spc="0" normalizeH="0" baseline="0" noProof="0" dirty="0" err="1">
                    <a:ln>
                      <a:noFill/>
                    </a:ln>
                    <a:solidFill>
                      <a:srgbClr val="000000"/>
                    </a:solidFill>
                    <a:effectLst/>
                    <a:uLnTx/>
                    <a:uFillTx/>
                    <a:latin typeface="Calibri"/>
                    <a:cs typeface="Calibri"/>
                    <a:sym typeface="Calibri"/>
                  </a:rPr>
                  <a:t>tests</a:t>
                </a:r>
                <a:br>
                  <a:rPr kumimoji="0" lang="de-DE" sz="2400" b="0" i="0" u="none" strike="noStrike" kern="0" cap="none" spc="0" normalizeH="0" baseline="0" noProof="0" dirty="0">
                    <a:ln>
                      <a:noFill/>
                    </a:ln>
                    <a:solidFill>
                      <a:srgbClr val="000000"/>
                    </a:solidFill>
                    <a:effectLst/>
                    <a:uLnTx/>
                    <a:uFillTx/>
                    <a:latin typeface="Calibri"/>
                    <a:cs typeface="Calibri"/>
                    <a:sym typeface="Calibri"/>
                  </a:rPr>
                </a:b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until</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a:t>
                </a:r>
                <a:r>
                  <a:rPr kumimoji="0" lang="de-DE" sz="2000" b="0" i="1" u="none" strike="noStrike" kern="0" cap="none" spc="0" normalizeH="0" baseline="0" noProof="0" dirty="0">
                    <a:ln>
                      <a:noFill/>
                    </a:ln>
                    <a:solidFill>
                      <a:srgbClr val="000000"/>
                    </a:solidFill>
                    <a:effectLst/>
                    <a:uLnTx/>
                    <a:uFillTx/>
                    <a:latin typeface="Calibri"/>
                    <a:cs typeface="Calibri"/>
                    <a:sym typeface="Calibri"/>
                  </a:rPr>
                  <a:t>all</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a:t>
                </a: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tests</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pass</a:t>
                </a:r>
              </a:p>
            </p:txBody>
          </p:sp>
          <p:sp>
            <p:nvSpPr>
              <p:cNvPr id="175" name="Arrow"/>
              <p:cNvSpPr/>
              <p:nvPr/>
            </p:nvSpPr>
            <p:spPr>
              <a:xfrm rot="5400000">
                <a:off x="1797593" y="3773185"/>
                <a:ext cx="256099" cy="307319"/>
              </a:xfrm>
              <a:prstGeom prst="rightArrow">
                <a:avLst>
                  <a:gd name="adj1" fmla="val 60000"/>
                  <a:gd name="adj2" fmla="val 5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algn="ctr" defTabSz="889000">
                  <a:lnSpc>
                    <a:spcPct val="90000"/>
                  </a:lnSpc>
                  <a:spcBef>
                    <a:spcPts val="700"/>
                  </a:spcBef>
                  <a:defRPr sz="2000">
                    <a:solidFill>
                      <a:srgbClr val="FFFFFF"/>
                    </a:solidFill>
                  </a:defRPr>
                </a:pPr>
                <a:endParaRPr/>
              </a:p>
            </p:txBody>
          </p:sp>
          <p:sp>
            <p:nvSpPr>
              <p:cNvPr id="176" name="Rounded Rectangle"/>
              <p:cNvSpPr/>
              <p:nvPr/>
            </p:nvSpPr>
            <p:spPr>
              <a:xfrm>
                <a:off x="1037775" y="4097576"/>
                <a:ext cx="2798309" cy="682931"/>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marL="0" marR="0" lvl="0" indent="0" algn="ctr" defTabSz="1066800" rtl="0" eaLnBrk="1" fontAlgn="auto" latinLnBrk="0" hangingPunct="0">
                  <a:lnSpc>
                    <a:spcPct val="90000"/>
                  </a:lnSpc>
                  <a:spcBef>
                    <a:spcPts val="1000"/>
                  </a:spcBef>
                  <a:spcAft>
                    <a:spcPts val="0"/>
                  </a:spcAft>
                  <a:buClrTx/>
                  <a:buSzTx/>
                  <a:buFontTx/>
                  <a:buNone/>
                  <a:tabLst/>
                  <a:defRPr sz="2400"/>
                </a:pPr>
                <a:r>
                  <a:rPr kumimoji="0" lang="de-DE" sz="2400" b="0" i="0" u="none" strike="noStrike" kern="0" cap="none" spc="0" normalizeH="0" baseline="0" noProof="0" dirty="0" err="1">
                    <a:ln>
                      <a:noFill/>
                    </a:ln>
                    <a:solidFill>
                      <a:srgbClr val="000000"/>
                    </a:solidFill>
                    <a:effectLst/>
                    <a:uLnTx/>
                    <a:uFillTx/>
                    <a:latin typeface="Calibri"/>
                    <a:cs typeface="Calibri"/>
                    <a:sym typeface="Calibri"/>
                  </a:rPr>
                  <a:t>Refactor</a:t>
                </a:r>
                <a:r>
                  <a:rPr kumimoji="0" lang="de-DE" sz="2400" b="0" i="0" u="none" strike="noStrike" kern="0" cap="none" spc="0" normalizeH="0" baseline="0" noProof="0" dirty="0">
                    <a:ln>
                      <a:noFill/>
                    </a:ln>
                    <a:solidFill>
                      <a:srgbClr val="000000"/>
                    </a:solidFill>
                    <a:effectLst/>
                    <a:uLnTx/>
                    <a:uFillTx/>
                    <a:latin typeface="Calibri"/>
                    <a:cs typeface="Calibri"/>
                    <a:sym typeface="Calibri"/>
                  </a:rPr>
                  <a:t> + </a:t>
                </a:r>
                <a:r>
                  <a:rPr kumimoji="0" lang="de-DE" sz="2400" b="0" i="0" u="none" strike="noStrike" kern="0" cap="none" spc="0" normalizeH="0" baseline="0" noProof="0" dirty="0" err="1">
                    <a:ln>
                      <a:noFill/>
                    </a:ln>
                    <a:solidFill>
                      <a:srgbClr val="000000"/>
                    </a:solidFill>
                    <a:effectLst/>
                    <a:uLnTx/>
                    <a:uFillTx/>
                    <a:latin typeface="Calibri"/>
                    <a:cs typeface="Calibri"/>
                    <a:sym typeface="Calibri"/>
                  </a:rPr>
                  <a:t>optimize</a:t>
                </a:r>
                <a:r>
                  <a:rPr kumimoji="0" lang="de-DE" sz="2400" b="0" i="0" u="none" strike="noStrike" kern="0" cap="none" spc="0" normalizeH="0" baseline="0" noProof="0" dirty="0">
                    <a:ln>
                      <a:noFill/>
                    </a:ln>
                    <a:solidFill>
                      <a:srgbClr val="000000"/>
                    </a:solidFill>
                    <a:effectLst/>
                    <a:uLnTx/>
                    <a:uFillTx/>
                    <a:latin typeface="Calibri"/>
                    <a:cs typeface="Calibri"/>
                    <a:sym typeface="Calibri"/>
                  </a:rPr>
                  <a:t> </a:t>
                </a:r>
                <a:br>
                  <a:rPr kumimoji="0" lang="de-DE" sz="2400" b="0" i="0" u="none" strike="noStrike" kern="0" cap="none" spc="0" normalizeH="0" baseline="0" noProof="0" dirty="0">
                    <a:ln>
                      <a:noFill/>
                    </a:ln>
                    <a:solidFill>
                      <a:srgbClr val="000000"/>
                    </a:solidFill>
                    <a:effectLst/>
                    <a:uLnTx/>
                    <a:uFillTx/>
                    <a:latin typeface="Calibri"/>
                    <a:cs typeface="Calibri"/>
                    <a:sym typeface="Calibri"/>
                  </a:rPr>
                </a:b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only</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a:t>
                </a: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if</a:t>
                </a:r>
                <a:r>
                  <a:rPr kumimoji="0" lang="de-DE" sz="2000" b="0" i="0" u="none" strike="noStrike" kern="0" cap="none" spc="0" normalizeH="0" baseline="0" noProof="0" dirty="0">
                    <a:ln>
                      <a:noFill/>
                    </a:ln>
                    <a:solidFill>
                      <a:srgbClr val="000000"/>
                    </a:solidFill>
                    <a:effectLst/>
                    <a:uLnTx/>
                    <a:uFillTx/>
                    <a:latin typeface="Calibri"/>
                    <a:cs typeface="Calibri"/>
                    <a:sym typeface="Calibri"/>
                  </a:rPr>
                  <a:t> </a:t>
                </a:r>
                <a:r>
                  <a:rPr kumimoji="0" lang="de-DE" sz="2000" b="0" i="0" u="none" strike="noStrike" kern="0" cap="none" spc="0" normalizeH="0" baseline="0" noProof="0" dirty="0" err="1">
                    <a:ln>
                      <a:noFill/>
                    </a:ln>
                    <a:solidFill>
                      <a:srgbClr val="000000"/>
                    </a:solidFill>
                    <a:effectLst/>
                    <a:uLnTx/>
                    <a:uFillTx/>
                    <a:latin typeface="Calibri"/>
                    <a:cs typeface="Calibri"/>
                    <a:sym typeface="Calibri"/>
                  </a:rPr>
                  <a:t>necessary</a:t>
                </a:r>
                <a:endParaRPr kumimoji="0" lang="de-DE" sz="2000" b="0" i="0" u="none" strike="noStrike" kern="0" cap="none" spc="0" normalizeH="0" baseline="0" noProof="0" dirty="0">
                  <a:ln>
                    <a:noFill/>
                  </a:ln>
                  <a:solidFill>
                    <a:srgbClr val="000000"/>
                  </a:solidFill>
                  <a:effectLst/>
                  <a:uLnTx/>
                  <a:uFillTx/>
                  <a:latin typeface="Calibri"/>
                  <a:cs typeface="Calibri"/>
                  <a:sym typeface="Calibri"/>
                </a:endParaRPr>
              </a:p>
            </p:txBody>
          </p:sp>
        </p:grpSp>
        <p:sp>
          <p:nvSpPr>
            <p:cNvPr id="180" name="U-Turn Arrow 17"/>
            <p:cNvSpPr/>
            <p:nvPr/>
          </p:nvSpPr>
          <p:spPr>
            <a:xfrm rot="16200000">
              <a:off x="-1800201" y="1914656"/>
              <a:ext cx="4392490" cy="79208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9450"/>
                  </a:lnTo>
                  <a:cubicBezTo>
                    <a:pt x="0" y="4231"/>
                    <a:pt x="763" y="0"/>
                    <a:pt x="1704" y="0"/>
                  </a:cubicBezTo>
                  <a:lnTo>
                    <a:pt x="19438" y="0"/>
                  </a:lnTo>
                  <a:cubicBezTo>
                    <a:pt x="20379" y="0"/>
                    <a:pt x="21142" y="4231"/>
                    <a:pt x="21142" y="9450"/>
                  </a:cubicBezTo>
                  <a:lnTo>
                    <a:pt x="21142" y="16200"/>
                  </a:lnTo>
                  <a:lnTo>
                    <a:pt x="21600" y="16200"/>
                  </a:lnTo>
                  <a:lnTo>
                    <a:pt x="20655" y="21600"/>
                  </a:lnTo>
                  <a:lnTo>
                    <a:pt x="19710" y="16200"/>
                  </a:lnTo>
                  <a:lnTo>
                    <a:pt x="20168" y="16200"/>
                  </a:lnTo>
                  <a:lnTo>
                    <a:pt x="20168" y="9450"/>
                  </a:lnTo>
                  <a:cubicBezTo>
                    <a:pt x="20168" y="7213"/>
                    <a:pt x="19841" y="5400"/>
                    <a:pt x="19438" y="5400"/>
                  </a:cubicBezTo>
                  <a:lnTo>
                    <a:pt x="1704" y="5400"/>
                  </a:lnTo>
                  <a:cubicBezTo>
                    <a:pt x="1301" y="5400"/>
                    <a:pt x="974" y="7213"/>
                    <a:pt x="974" y="9450"/>
                  </a:cubicBezTo>
                  <a:lnTo>
                    <a:pt x="974" y="21600"/>
                  </a:lnTo>
                  <a:close/>
                </a:path>
              </a:pathLst>
            </a:custGeom>
            <a:solidFill>
              <a:srgbClr val="FFFFFF"/>
            </a:solidFill>
            <a:ln w="38100" cap="flat">
              <a:solidFill>
                <a:srgbClr val="FF0000"/>
              </a:solidFill>
              <a:prstDash val="solid"/>
              <a:miter lim="800000"/>
            </a:ln>
            <a:effectLst/>
          </p:spPr>
          <p:txBody>
            <a:bodyPr wrap="square" lIns="45719" tIns="45719" rIns="45719" bIns="45719" numCol="1" anchor="ctr">
              <a:noAutofit/>
            </a:bodyPr>
            <a:lstStyle/>
            <a:p>
              <a:pPr algn="ctr">
                <a:defRPr sz="2800"/>
              </a:pPr>
              <a:endParaRPr/>
            </a:p>
          </p:txBody>
        </p:sp>
      </p:grpSp>
      <p:sp>
        <p:nvSpPr>
          <p:cNvPr id="182" name="U-Turn Arrow 18"/>
          <p:cNvSpPr/>
          <p:nvPr/>
        </p:nvSpPr>
        <p:spPr>
          <a:xfrm rot="16200000" flipV="1">
            <a:off x="6312024" y="4869160"/>
            <a:ext cx="1296145" cy="57606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12977"/>
                </a:lnTo>
                <a:cubicBezTo>
                  <a:pt x="0" y="5810"/>
                  <a:pt x="2582" y="0"/>
                  <a:pt x="5768" y="0"/>
                </a:cubicBezTo>
                <a:lnTo>
                  <a:pt x="14894" y="0"/>
                </a:lnTo>
                <a:cubicBezTo>
                  <a:pt x="18079" y="0"/>
                  <a:pt x="20661" y="5810"/>
                  <a:pt x="20661" y="12977"/>
                </a:cubicBezTo>
                <a:lnTo>
                  <a:pt x="20661" y="15080"/>
                </a:lnTo>
                <a:lnTo>
                  <a:pt x="21600" y="15080"/>
                </a:lnTo>
                <a:lnTo>
                  <a:pt x="19200" y="21600"/>
                </a:lnTo>
                <a:lnTo>
                  <a:pt x="16800" y="15080"/>
                </a:lnTo>
                <a:lnTo>
                  <a:pt x="17739" y="15080"/>
                </a:lnTo>
                <a:lnTo>
                  <a:pt x="17739" y="12977"/>
                </a:lnTo>
                <a:cubicBezTo>
                  <a:pt x="17739" y="9442"/>
                  <a:pt x="16465" y="6576"/>
                  <a:pt x="14894" y="6576"/>
                </a:cubicBezTo>
                <a:lnTo>
                  <a:pt x="5768" y="6576"/>
                </a:lnTo>
                <a:cubicBezTo>
                  <a:pt x="4196" y="6576"/>
                  <a:pt x="2923" y="9442"/>
                  <a:pt x="2923" y="12977"/>
                </a:cubicBezTo>
                <a:lnTo>
                  <a:pt x="2923" y="21600"/>
                </a:lnTo>
                <a:close/>
              </a:path>
            </a:pathLst>
          </a:custGeom>
          <a:solidFill>
            <a:srgbClr val="FFFFFF"/>
          </a:solidFill>
          <a:ln w="38100">
            <a:solidFill>
              <a:srgbClr val="0ECC00"/>
            </a:solidFill>
            <a:miter/>
          </a:ln>
        </p:spPr>
        <p:txBody>
          <a:bodyPr lIns="45719" rIns="45719" anchor="ctr"/>
          <a:lstStyle/>
          <a:p>
            <a:pPr algn="ctr">
              <a:defRPr sz="2800"/>
            </a:pPr>
            <a:endParaRPr/>
          </a:p>
        </p:txBody>
      </p:sp>
      <p:pic>
        <p:nvPicPr>
          <p:cNvPr id="183" name="Picture 6" descr="Picture 6"/>
          <p:cNvPicPr>
            <a:picLocks noChangeAspect="1"/>
          </p:cNvPicPr>
          <p:nvPr/>
        </p:nvPicPr>
        <p:blipFill>
          <a:blip r:embed="rId3"/>
          <a:stretch>
            <a:fillRect/>
          </a:stretch>
        </p:blipFill>
        <p:spPr>
          <a:xfrm flipH="1">
            <a:off x="9727702" y="4149080"/>
            <a:ext cx="2386137" cy="2386137"/>
          </a:xfrm>
          <a:prstGeom prst="rect">
            <a:avLst/>
          </a:prstGeom>
          <a:ln w="12700">
            <a:miter lim="400000"/>
          </a:ln>
        </p:spPr>
      </p:pic>
      <p:sp>
        <p:nvSpPr>
          <p:cNvPr id="2" name="Rounded Rectangle">
            <a:extLst>
              <a:ext uri="{FF2B5EF4-FFF2-40B4-BE49-F238E27FC236}">
                <a16:creationId xmlns:a16="http://schemas.microsoft.com/office/drawing/2014/main" id="{87BB35B2-3993-D1FF-FE23-05D37AF8E966}"/>
              </a:ext>
            </a:extLst>
          </p:cNvPr>
          <p:cNvSpPr/>
          <p:nvPr/>
        </p:nvSpPr>
        <p:spPr>
          <a:xfrm>
            <a:off x="2748778" y="3347108"/>
            <a:ext cx="950577" cy="2731721"/>
          </a:xfrm>
          <a:prstGeom prst="roundRect">
            <a:avLst>
              <a:gd name="adj" fmla="val 10000"/>
            </a:avLst>
          </a:prstGeom>
          <a:solidFill>
            <a:srgbClr val="FFFFFF"/>
          </a:solidFill>
          <a:ln w="38100" cap="flat">
            <a:solidFill>
              <a:srgbClr val="0ECC00"/>
            </a:solidFill>
            <a:prstDash val="solid"/>
            <a:round/>
          </a:ln>
          <a:effectLst/>
        </p:spPr>
        <p:txBody>
          <a:bodyPr wrap="square" lIns="45719" tIns="45719" rIns="45719" bIns="45719" numCol="1" anchor="ctr">
            <a:noAutofit/>
          </a:bodyPr>
          <a:lstStyle/>
          <a:p>
            <a:pPr marL="0" marR="0" lvl="0" indent="0" algn="ctr" defTabSz="1066800" rtl="0" eaLnBrk="1" fontAlgn="auto" latinLnBrk="0" hangingPunct="0">
              <a:lnSpc>
                <a:spcPct val="90000"/>
              </a:lnSpc>
              <a:spcBef>
                <a:spcPts val="1000"/>
              </a:spcBef>
              <a:spcAft>
                <a:spcPts val="0"/>
              </a:spcAft>
              <a:buClrTx/>
              <a:buSzTx/>
              <a:buFontTx/>
              <a:buNone/>
              <a:tabLst/>
              <a:defRPr sz="2400"/>
            </a:pPr>
            <a:r>
              <a:rPr kumimoji="0" lang="de-DE" sz="2400" b="0" i="0" u="none" strike="noStrike" kern="0" cap="none" spc="0" normalizeH="0" baseline="0" noProof="0" dirty="0" err="1">
                <a:ln>
                  <a:noFill/>
                </a:ln>
                <a:solidFill>
                  <a:srgbClr val="000000"/>
                </a:solidFill>
                <a:effectLst/>
                <a:uLnTx/>
                <a:uFillTx/>
                <a:latin typeface="Calibri"/>
                <a:cs typeface="Calibri"/>
                <a:sym typeface="Calibri"/>
              </a:rPr>
              <a:t>debug</a:t>
            </a:r>
            <a:endParaRPr kumimoji="0" lang="de-DE" sz="2000" b="0" i="0" u="none" strike="noStrike" kern="0" cap="none" spc="0" normalizeH="0" baseline="0" noProof="0" dirty="0">
              <a:ln>
                <a:noFill/>
              </a:ln>
              <a:solidFill>
                <a:srgbClr val="000000"/>
              </a:solidFill>
              <a:effectLst/>
              <a:uLnTx/>
              <a:uFillTx/>
              <a:latin typeface="Calibri"/>
              <a:cs typeface="Calibri"/>
              <a:sym typeface="Calibri"/>
            </a:endParaRPr>
          </a:p>
        </p:txBody>
      </p:sp>
    </p:spTree>
    <p:extLst>
      <p:ext uri="{BB962C8B-B14F-4D97-AF65-F5344CB8AC3E}">
        <p14:creationId xmlns:p14="http://schemas.microsoft.com/office/powerpoint/2010/main" val="3756418411"/>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9" name="Footer Placeholder 3"/>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270" name="Date Placeholder 2"/>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August 2023, CC BY-SA 4.0</a:t>
            </a:r>
          </a:p>
        </p:txBody>
      </p:sp>
      <p:sp>
        <p:nvSpPr>
          <p:cNvPr id="271" name="Slide Number Placeholder 13"/>
          <p:cNvSpPr txBox="1">
            <a:spLocks noGrp="1"/>
          </p:cNvSpPr>
          <p:nvPr>
            <p:ph type="sldNum" sz="quarter" idx="2"/>
          </p:nvPr>
        </p:nvSpPr>
        <p:spPr>
          <a:xfrm>
            <a:off x="11170557" y="6414760"/>
            <a:ext cx="18324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34</a:t>
            </a:fld>
            <a:endParaRPr/>
          </a:p>
        </p:txBody>
      </p:sp>
      <p:pic>
        <p:nvPicPr>
          <p:cNvPr id="272" name="Picture 5" descr="Picture 5"/>
          <p:cNvPicPr>
            <a:picLocks noChangeAspect="1"/>
          </p:cNvPicPr>
          <p:nvPr/>
        </p:nvPicPr>
        <p:blipFill>
          <a:blip r:embed="rId2"/>
          <a:stretch>
            <a:fillRect/>
          </a:stretch>
        </p:blipFill>
        <p:spPr>
          <a:xfrm>
            <a:off x="455135" y="122502"/>
            <a:ext cx="5172392" cy="1656185"/>
          </a:xfrm>
          <a:prstGeom prst="rect">
            <a:avLst/>
          </a:prstGeom>
          <a:ln w="12700">
            <a:miter lim="400000"/>
          </a:ln>
        </p:spPr>
      </p:pic>
      <p:pic>
        <p:nvPicPr>
          <p:cNvPr id="273" name="Picture 6" descr="Picture 6"/>
          <p:cNvPicPr>
            <a:picLocks noChangeAspect="1"/>
          </p:cNvPicPr>
          <p:nvPr/>
        </p:nvPicPr>
        <p:blipFill>
          <a:blip r:embed="rId3"/>
          <a:stretch>
            <a:fillRect/>
          </a:stretch>
        </p:blipFill>
        <p:spPr>
          <a:xfrm>
            <a:off x="7336207" y="336234"/>
            <a:ext cx="3753700" cy="4963122"/>
          </a:xfrm>
          <a:prstGeom prst="rect">
            <a:avLst/>
          </a:prstGeom>
          <a:ln w="12700">
            <a:miter lim="400000"/>
          </a:ln>
        </p:spPr>
      </p:pic>
      <p:grpSp>
        <p:nvGrpSpPr>
          <p:cNvPr id="276" name="Group 9"/>
          <p:cNvGrpSpPr/>
          <p:nvPr/>
        </p:nvGrpSpPr>
        <p:grpSpPr>
          <a:xfrm>
            <a:off x="469463" y="1838886"/>
            <a:ext cx="5343219" cy="2303779"/>
            <a:chOff x="0" y="0"/>
            <a:chExt cx="5343218" cy="2303778"/>
          </a:xfrm>
        </p:grpSpPr>
        <p:pic>
          <p:nvPicPr>
            <p:cNvPr id="274" name="Picture 7" descr="Picture 7"/>
            <p:cNvPicPr>
              <a:picLocks noChangeAspect="1"/>
            </p:cNvPicPr>
            <p:nvPr/>
          </p:nvPicPr>
          <p:blipFill>
            <a:blip r:embed="rId4"/>
            <a:stretch>
              <a:fillRect/>
            </a:stretch>
          </p:blipFill>
          <p:spPr>
            <a:xfrm>
              <a:off x="0" y="0"/>
              <a:ext cx="5343219" cy="2303779"/>
            </a:xfrm>
            <a:prstGeom prst="rect">
              <a:avLst/>
            </a:prstGeom>
            <a:ln w="12700" cap="flat">
              <a:noFill/>
              <a:miter lim="400000"/>
            </a:ln>
            <a:effectLst/>
          </p:spPr>
        </p:pic>
        <p:sp>
          <p:nvSpPr>
            <p:cNvPr id="275" name="Rectangle 8"/>
            <p:cNvSpPr/>
            <p:nvPr/>
          </p:nvSpPr>
          <p:spPr>
            <a:xfrm>
              <a:off x="2723324" y="1580498"/>
              <a:ext cx="2406659" cy="253333"/>
            </a:xfrm>
            <a:prstGeom prst="rect">
              <a:avLst/>
            </a:prstGeom>
            <a:solidFill>
              <a:srgbClr val="FFFF00">
                <a:alpha val="29804"/>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277" name="Rectangle 10"/>
          <p:cNvSpPr/>
          <p:nvPr/>
        </p:nvSpPr>
        <p:spPr>
          <a:xfrm>
            <a:off x="492328" y="6517000"/>
            <a:ext cx="8604448" cy="248306"/>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u="sng">
                <a:solidFill>
                  <a:srgbClr val="0563C1"/>
                </a:solidFill>
                <a:uFill>
                  <a:solidFill>
                    <a:srgbClr val="0563C1"/>
                  </a:solidFill>
                </a:uFill>
                <a:hlinkClick r:id="rId5"/>
              </a:defRPr>
            </a:lvl1pPr>
          </a:lstStyle>
          <a:p>
            <a:pPr>
              <a:defRPr u="none">
                <a:solidFill>
                  <a:srgbClr val="000000"/>
                </a:solidFill>
                <a:uFillTx/>
              </a:defRPr>
            </a:pPr>
            <a:r>
              <a:rPr u="sng">
                <a:solidFill>
                  <a:srgbClr val="0563C1"/>
                </a:solidFill>
                <a:uFill>
                  <a:solidFill>
                    <a:srgbClr val="0563C1"/>
                  </a:solidFill>
                </a:uFill>
                <a:hlinkClick r:id="rId5"/>
              </a:rPr>
              <a:t>https://www.businessinsider.fr/us/boeing-software-errors-jeopardized-starliner-spaceship-737-max-planes-2020-2</a:t>
            </a:r>
          </a:p>
        </p:txBody>
      </p:sp>
      <p:pic>
        <p:nvPicPr>
          <p:cNvPr id="278" name="Picture 11" descr="Picture 11"/>
          <p:cNvPicPr>
            <a:picLocks noChangeAspect="1"/>
          </p:cNvPicPr>
          <p:nvPr/>
        </p:nvPicPr>
        <p:blipFill>
          <a:blip r:embed="rId6"/>
          <a:stretch>
            <a:fillRect/>
          </a:stretch>
        </p:blipFill>
        <p:spPr>
          <a:xfrm>
            <a:off x="523390" y="4453671"/>
            <a:ext cx="5076057" cy="947448"/>
          </a:xfrm>
          <a:prstGeom prst="rect">
            <a:avLst/>
          </a:prstGeom>
          <a:ln w="12700">
            <a:miter lim="400000"/>
          </a:ln>
        </p:spPr>
      </p:pic>
      <p:sp>
        <p:nvSpPr>
          <p:cNvPr id="279" name="TextBox 12"/>
          <p:cNvSpPr txBox="1"/>
          <p:nvPr/>
        </p:nvSpPr>
        <p:spPr>
          <a:xfrm>
            <a:off x="525096" y="4160113"/>
            <a:ext cx="437972" cy="2642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a:latin typeface="+mj-lt"/>
                <a:ea typeface="+mj-ea"/>
                <a:cs typeface="+mj-cs"/>
                <a:sym typeface="Arial"/>
              </a:defRPr>
            </a:lvl1pPr>
          </a:lstStyle>
          <a:p>
            <a:r>
              <a:t>[...]</a:t>
            </a:r>
          </a:p>
        </p:txBody>
      </p:sp>
      <p:pic>
        <p:nvPicPr>
          <p:cNvPr id="280" name="Picture 14" descr="Picture 14"/>
          <p:cNvPicPr>
            <a:picLocks noChangeAspect="1"/>
          </p:cNvPicPr>
          <p:nvPr/>
        </p:nvPicPr>
        <p:blipFill>
          <a:blip r:embed="rId7"/>
          <a:stretch>
            <a:fillRect/>
          </a:stretch>
        </p:blipFill>
        <p:spPr>
          <a:xfrm>
            <a:off x="523390" y="5556460"/>
            <a:ext cx="7182027" cy="960542"/>
          </a:xfrm>
          <a:prstGeom prst="rect">
            <a:avLst/>
          </a:prstGeom>
          <a:ln w="12700">
            <a:miter lim="400000"/>
          </a:ln>
        </p:spPr>
      </p:pic>
      <p:sp>
        <p:nvSpPr>
          <p:cNvPr id="281" name="Rectangle 1"/>
          <p:cNvSpPr/>
          <p:nvPr/>
        </p:nvSpPr>
        <p:spPr>
          <a:xfrm>
            <a:off x="5447927" y="5892063"/>
            <a:ext cx="2169640" cy="274485"/>
          </a:xfrm>
          <a:prstGeom prst="rect">
            <a:avLst/>
          </a:prstGeom>
          <a:solidFill>
            <a:srgbClr val="FFFF00">
              <a:alpha val="29804"/>
            </a:srgbClr>
          </a:solidFill>
          <a:ln w="12700">
            <a:miter lim="400000"/>
          </a:ln>
        </p:spPr>
        <p:txBody>
          <a:bodyPr lIns="45719" rIns="45719" anchor="ctr"/>
          <a:lstStyle/>
          <a:p>
            <a:pPr algn="ctr">
              <a:defRPr>
                <a:solidFill>
                  <a:srgbClr val="FFFFFF"/>
                </a:solidFill>
              </a:defRPr>
            </a:pPr>
            <a:endParaRPr/>
          </a:p>
        </p:txBody>
      </p:sp>
      <p:sp>
        <p:nvSpPr>
          <p:cNvPr id="282" name="Rectangle 4"/>
          <p:cNvSpPr/>
          <p:nvPr/>
        </p:nvSpPr>
        <p:spPr>
          <a:xfrm>
            <a:off x="444283" y="6176336"/>
            <a:ext cx="1331237" cy="277001"/>
          </a:xfrm>
          <a:prstGeom prst="rect">
            <a:avLst/>
          </a:prstGeom>
          <a:solidFill>
            <a:srgbClr val="FFFF00">
              <a:alpha val="29804"/>
            </a:srgbClr>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114323126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5" name="Footer Placeholder 4"/>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416" name="Rectangle 2"/>
          <p:cNvSpPr txBox="1">
            <a:spLocks noGrp="1"/>
          </p:cNvSpPr>
          <p:nvPr>
            <p:ph type="title"/>
          </p:nvPr>
        </p:nvSpPr>
        <p:spPr>
          <a:xfrm>
            <a:off x="838200" y="365125"/>
            <a:ext cx="10515600" cy="903634"/>
          </a:xfrm>
          <a:prstGeom prst="rect">
            <a:avLst/>
          </a:prstGeom>
        </p:spPr>
        <p:txBody>
          <a:bodyPr/>
          <a:lstStyle/>
          <a:p>
            <a:r>
              <a:t>Testing error control</a:t>
            </a:r>
          </a:p>
        </p:txBody>
      </p:sp>
      <p:sp>
        <p:nvSpPr>
          <p:cNvPr id="417" name="Content Placeholder 1"/>
          <p:cNvSpPr txBox="1">
            <a:spLocks noGrp="1"/>
          </p:cNvSpPr>
          <p:nvPr>
            <p:ph type="body" idx="1"/>
          </p:nvPr>
        </p:nvSpPr>
        <p:spPr>
          <a:xfrm>
            <a:off x="1991543" y="1219199"/>
            <a:ext cx="8424938" cy="4937762"/>
          </a:xfrm>
          <a:prstGeom prst="rect">
            <a:avLst/>
          </a:prstGeom>
        </p:spPr>
        <p:txBody>
          <a:bodyPr>
            <a:normAutofit lnSpcReduction="10000"/>
          </a:bodyPr>
          <a:lstStyle/>
          <a:p>
            <a:pPr marL="208026" indent="-208026" defTabSz="832104">
              <a:spcBef>
                <a:spcPts val="900"/>
              </a:spcBef>
              <a:defRPr sz="2548"/>
            </a:pPr>
            <a:r>
              <a:t>Check that an exception is raised:</a:t>
            </a:r>
            <a:br/>
            <a:br/>
            <a:r>
              <a:rPr sz="1820">
                <a:solidFill>
                  <a:srgbClr val="7F007F"/>
                </a:solidFill>
                <a:latin typeface="Courier New"/>
                <a:ea typeface="Courier New"/>
                <a:cs typeface="Courier New"/>
                <a:sym typeface="Courier New"/>
              </a:rPr>
              <a:t>from</a:t>
            </a:r>
            <a:r>
              <a:rPr sz="1820">
                <a:latin typeface="Courier New"/>
                <a:ea typeface="Courier New"/>
                <a:cs typeface="Courier New"/>
                <a:sym typeface="Courier New"/>
              </a:rPr>
              <a:t> py.test </a:t>
            </a:r>
            <a:r>
              <a:rPr sz="1820">
                <a:solidFill>
                  <a:srgbClr val="7F007F"/>
                </a:solidFill>
                <a:latin typeface="Courier New"/>
                <a:ea typeface="Courier New"/>
                <a:cs typeface="Courier New"/>
                <a:sym typeface="Courier New"/>
              </a:rPr>
              <a:t>import</a:t>
            </a:r>
            <a:r>
              <a:rPr sz="1820">
                <a:latin typeface="Courier New"/>
                <a:ea typeface="Courier New"/>
                <a:cs typeface="Courier New"/>
                <a:sym typeface="Courier New"/>
              </a:rPr>
              <a:t> raises</a:t>
            </a:r>
            <a:br>
              <a:rPr sz="1820">
                <a:latin typeface="Courier New"/>
                <a:ea typeface="Courier New"/>
                <a:cs typeface="Courier New"/>
                <a:sym typeface="Courier New"/>
              </a:rPr>
            </a:br>
            <a:r>
              <a:rPr sz="1820">
                <a:solidFill>
                  <a:srgbClr val="7F007F"/>
                </a:solidFill>
                <a:latin typeface="Courier New"/>
                <a:ea typeface="Courier New"/>
                <a:cs typeface="Courier New"/>
                <a:sym typeface="Courier New"/>
              </a:rPr>
              <a:t>def</a:t>
            </a:r>
            <a:r>
              <a:rPr sz="1820">
                <a:latin typeface="Courier New"/>
                <a:ea typeface="Courier New"/>
                <a:cs typeface="Courier New"/>
                <a:sym typeface="Courier New"/>
              </a:rPr>
              <a:t> </a:t>
            </a:r>
            <a:r>
              <a:rPr sz="1820">
                <a:solidFill>
                  <a:srgbClr val="0000FF"/>
                </a:solidFill>
                <a:latin typeface="Courier New"/>
                <a:ea typeface="Courier New"/>
                <a:cs typeface="Courier New"/>
                <a:sym typeface="Courier New"/>
              </a:rPr>
              <a:t>test_raises</a:t>
            </a:r>
            <a:r>
              <a:rPr sz="1820">
                <a:latin typeface="Courier New"/>
                <a:ea typeface="Courier New"/>
                <a:cs typeface="Courier New"/>
                <a:sym typeface="Courier New"/>
              </a:rPr>
              <a:t>():</a:t>
            </a:r>
            <a:br>
              <a:rPr sz="1820">
                <a:latin typeface="Courier New"/>
                <a:ea typeface="Courier New"/>
                <a:cs typeface="Courier New"/>
                <a:sym typeface="Courier New"/>
              </a:rPr>
            </a:br>
            <a:r>
              <a:rPr sz="1820">
                <a:latin typeface="Courier New"/>
                <a:ea typeface="Courier New"/>
                <a:cs typeface="Courier New"/>
                <a:sym typeface="Courier New"/>
              </a:rPr>
              <a:t>    </a:t>
            </a:r>
            <a:r>
              <a:rPr sz="1820">
                <a:solidFill>
                  <a:srgbClr val="7F007F"/>
                </a:solidFill>
                <a:latin typeface="Courier New"/>
                <a:ea typeface="Courier New"/>
                <a:cs typeface="Courier New"/>
                <a:sym typeface="Courier New"/>
              </a:rPr>
              <a:t>with</a:t>
            </a:r>
            <a:r>
              <a:rPr sz="1820">
                <a:latin typeface="Courier New"/>
                <a:ea typeface="Courier New"/>
                <a:cs typeface="Courier New"/>
                <a:sym typeface="Courier New"/>
              </a:rPr>
              <a:t> raises(SomeException):</a:t>
            </a:r>
            <a:br>
              <a:rPr sz="1820">
                <a:latin typeface="Courier New"/>
                <a:ea typeface="Courier New"/>
                <a:cs typeface="Courier New"/>
                <a:sym typeface="Courier New"/>
              </a:rPr>
            </a:br>
            <a:r>
              <a:rPr sz="1820">
                <a:latin typeface="Courier New"/>
                <a:ea typeface="Courier New"/>
                <a:cs typeface="Courier New"/>
                <a:sym typeface="Courier New"/>
              </a:rPr>
              <a:t>        do_something()</a:t>
            </a:r>
            <a:br>
              <a:rPr sz="1820">
                <a:latin typeface="Courier New"/>
                <a:ea typeface="Courier New"/>
                <a:cs typeface="Courier New"/>
                <a:sym typeface="Courier New"/>
              </a:rPr>
            </a:br>
            <a:r>
              <a:rPr sz="1820">
                <a:latin typeface="Courier New"/>
                <a:ea typeface="Courier New"/>
                <a:cs typeface="Courier New"/>
                <a:sym typeface="Courier New"/>
              </a:rPr>
              <a:t>        do_something_else()</a:t>
            </a:r>
            <a:br>
              <a:rPr sz="1820">
                <a:latin typeface="Courier New"/>
                <a:ea typeface="Courier New"/>
                <a:cs typeface="Courier New"/>
                <a:sym typeface="Courier New"/>
              </a:rPr>
            </a:br>
            <a:endParaRPr sz="1820">
              <a:latin typeface="Courier New"/>
              <a:ea typeface="Courier New"/>
              <a:cs typeface="Courier New"/>
              <a:sym typeface="Courier New"/>
            </a:endParaRPr>
          </a:p>
          <a:p>
            <a:pPr marL="208026" indent="-208026" defTabSz="832104">
              <a:spcBef>
                <a:spcPts val="900"/>
              </a:spcBef>
              <a:defRPr sz="2548"/>
            </a:pPr>
            <a:r>
              <a:t>For example:</a:t>
            </a:r>
            <a:br/>
            <a:br/>
            <a:r>
              <a:rPr sz="1820">
                <a:solidFill>
                  <a:srgbClr val="7F007F"/>
                </a:solidFill>
                <a:latin typeface="Courier New"/>
                <a:ea typeface="Courier New"/>
                <a:cs typeface="Courier New"/>
                <a:sym typeface="Courier New"/>
              </a:rPr>
              <a:t>with</a:t>
            </a:r>
            <a:r>
              <a:rPr sz="1820">
                <a:latin typeface="Courier New"/>
                <a:ea typeface="Courier New"/>
                <a:cs typeface="Courier New"/>
                <a:sym typeface="Courier New"/>
              </a:rPr>
              <a:t> raises(ValueError):</a:t>
            </a:r>
            <a:br>
              <a:rPr sz="1820">
                <a:latin typeface="Courier New"/>
                <a:ea typeface="Courier New"/>
                <a:cs typeface="Courier New"/>
                <a:sym typeface="Courier New"/>
              </a:rPr>
            </a:br>
            <a:r>
              <a:rPr sz="1820">
                <a:latin typeface="Courier New"/>
                <a:ea typeface="Courier New"/>
                <a:cs typeface="Courier New"/>
                <a:sym typeface="Courier New"/>
              </a:rPr>
              <a:t>    </a:t>
            </a:r>
            <a:r>
              <a:rPr sz="1820">
                <a:solidFill>
                  <a:srgbClr val="7F007F"/>
                </a:solidFill>
                <a:latin typeface="Courier New"/>
                <a:ea typeface="Courier New"/>
                <a:cs typeface="Courier New"/>
                <a:sym typeface="Courier New"/>
              </a:rPr>
              <a:t>int</a:t>
            </a:r>
            <a:r>
              <a:rPr sz="1820">
                <a:latin typeface="Courier New"/>
                <a:ea typeface="Courier New"/>
                <a:cs typeface="Courier New"/>
                <a:sym typeface="Courier New"/>
              </a:rPr>
              <a:t>(</a:t>
            </a:r>
            <a:r>
              <a:rPr sz="1820">
                <a:solidFill>
                  <a:srgbClr val="8B2252"/>
                </a:solidFill>
                <a:latin typeface="Courier New"/>
                <a:ea typeface="Courier New"/>
                <a:cs typeface="Courier New"/>
                <a:sym typeface="Courier New"/>
              </a:rPr>
              <a:t>'XYZ’</a:t>
            </a:r>
            <a:r>
              <a:rPr sz="1820">
                <a:latin typeface="Courier New"/>
                <a:ea typeface="Courier New"/>
                <a:cs typeface="Courier New"/>
                <a:sym typeface="Courier New"/>
              </a:rPr>
              <a:t>)</a:t>
            </a:r>
            <a:br>
              <a:rPr sz="1820">
                <a:latin typeface="Courier New"/>
                <a:ea typeface="Courier New"/>
                <a:cs typeface="Courier New"/>
                <a:sym typeface="Courier New"/>
              </a:rPr>
            </a:br>
            <a:br>
              <a:rPr sz="1820">
                <a:latin typeface="Courier New"/>
                <a:ea typeface="Courier New"/>
                <a:cs typeface="Courier New"/>
                <a:sym typeface="Courier New"/>
              </a:rPr>
            </a:br>
            <a:r>
              <a:rPr>
                <a:latin typeface="Calibri Light"/>
                <a:ea typeface="Calibri Light"/>
                <a:cs typeface="Calibri Light"/>
                <a:sym typeface="Calibri Light"/>
              </a:rPr>
              <a:t>passes, because</a:t>
            </a:r>
            <a:br>
              <a:rPr>
                <a:latin typeface="Calibri Light"/>
                <a:ea typeface="Calibri Light"/>
                <a:cs typeface="Calibri Light"/>
                <a:sym typeface="Calibri Light"/>
              </a:rPr>
            </a:br>
            <a:br>
              <a:rPr>
                <a:latin typeface="Calibri Light"/>
                <a:ea typeface="Calibri Light"/>
                <a:cs typeface="Calibri Light"/>
                <a:sym typeface="Calibri Light"/>
              </a:rPr>
            </a:br>
            <a:r>
              <a:rPr sz="1638">
                <a:solidFill>
                  <a:srgbClr val="7F007F"/>
                </a:solidFill>
                <a:latin typeface="Courier New"/>
                <a:ea typeface="Courier New"/>
                <a:cs typeface="Courier New"/>
                <a:sym typeface="Courier New"/>
              </a:rPr>
              <a:t>int</a:t>
            </a:r>
            <a:r>
              <a:rPr sz="1638">
                <a:latin typeface="Courier New"/>
                <a:ea typeface="Courier New"/>
                <a:cs typeface="Courier New"/>
                <a:sym typeface="Courier New"/>
              </a:rPr>
              <a:t>(</a:t>
            </a:r>
            <a:r>
              <a:rPr sz="1638">
                <a:solidFill>
                  <a:srgbClr val="8B2252"/>
                </a:solidFill>
                <a:latin typeface="Courier New"/>
                <a:ea typeface="Courier New"/>
                <a:cs typeface="Courier New"/>
                <a:sym typeface="Courier New"/>
              </a:rPr>
              <a:t>'XYZ’</a:t>
            </a:r>
            <a:r>
              <a:rPr sz="1638">
                <a:latin typeface="Courier New"/>
                <a:ea typeface="Courier New"/>
                <a:cs typeface="Courier New"/>
                <a:sym typeface="Courier New"/>
              </a:rPr>
              <a:t>)</a:t>
            </a:r>
            <a:br>
              <a:rPr sz="1638">
                <a:latin typeface="Courier New"/>
                <a:ea typeface="Courier New"/>
                <a:cs typeface="Courier New"/>
                <a:sym typeface="Courier New"/>
              </a:rPr>
            </a:br>
            <a:r>
              <a:rPr sz="1638">
                <a:latin typeface="Courier New"/>
                <a:ea typeface="Courier New"/>
                <a:cs typeface="Courier New"/>
                <a:sym typeface="Courier New"/>
              </a:rPr>
              <a:t>ValueError: invalid literal for int() with base 10: 'XYZ'</a:t>
            </a:r>
          </a:p>
        </p:txBody>
      </p:sp>
      <p:sp>
        <p:nvSpPr>
          <p:cNvPr id="418" name="Date Placeholder 3"/>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419" name="Slide Number Placeholder 2"/>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35</a:t>
            </a:fld>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3" name="Footer Placeholder 6"/>
          <p:cNvSpPr txBox="1"/>
          <p:nvPr/>
        </p:nvSpPr>
        <p:spPr>
          <a:xfrm>
            <a:off x="4084319" y="6414760"/>
            <a:ext cx="40233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1200">
                <a:solidFill>
                  <a:srgbClr val="888888"/>
                </a:solidFill>
              </a:defRPr>
            </a:lvl1pPr>
          </a:lstStyle>
          <a:p>
            <a:r>
              <a:t>Testing scientific code, v16.0</a:t>
            </a:r>
          </a:p>
        </p:txBody>
      </p:sp>
      <p:sp>
        <p:nvSpPr>
          <p:cNvPr id="424" name="Title 1"/>
          <p:cNvSpPr txBox="1">
            <a:spLocks noGrp="1"/>
          </p:cNvSpPr>
          <p:nvPr>
            <p:ph type="title"/>
          </p:nvPr>
        </p:nvSpPr>
        <p:spPr>
          <a:xfrm>
            <a:off x="838200" y="365125"/>
            <a:ext cx="10515600" cy="903634"/>
          </a:xfrm>
          <a:prstGeom prst="rect">
            <a:avLst/>
          </a:prstGeom>
        </p:spPr>
        <p:txBody>
          <a:bodyPr/>
          <a:lstStyle/>
          <a:p>
            <a:r>
              <a:t>Testing error control</a:t>
            </a:r>
          </a:p>
        </p:txBody>
      </p:sp>
      <p:sp>
        <p:nvSpPr>
          <p:cNvPr id="425" name="Content Placeholder 2"/>
          <p:cNvSpPr txBox="1">
            <a:spLocks noGrp="1"/>
          </p:cNvSpPr>
          <p:nvPr>
            <p:ph type="body" idx="1"/>
          </p:nvPr>
        </p:nvSpPr>
        <p:spPr>
          <a:xfrm>
            <a:off x="838200" y="1412775"/>
            <a:ext cx="10515600" cy="4764189"/>
          </a:xfrm>
          <a:prstGeom prst="rect">
            <a:avLst/>
          </a:prstGeom>
        </p:spPr>
        <p:txBody>
          <a:bodyPr/>
          <a:lstStyle/>
          <a:p>
            <a:r>
              <a:t>Use the most specific exception class, or the test may pass because of collateral damage:</a:t>
            </a:r>
            <a:br/>
            <a:br/>
            <a:r>
              <a:rPr>
                <a:latin typeface="Courier New"/>
                <a:ea typeface="Courier New"/>
                <a:cs typeface="Courier New"/>
                <a:sym typeface="Courier New"/>
              </a:rPr>
              <a:t>    </a:t>
            </a:r>
            <a:r>
              <a:rPr sz="2000">
                <a:latin typeface="Courier New"/>
                <a:ea typeface="Courier New"/>
                <a:cs typeface="Courier New"/>
                <a:sym typeface="Courier New"/>
              </a:rPr>
              <a:t># Test that file "None" cannot be opened.</a:t>
            </a:r>
            <a:br>
              <a:rPr sz="2000">
                <a:latin typeface="Courier New"/>
                <a:ea typeface="Courier New"/>
                <a:cs typeface="Courier New"/>
                <a:sym typeface="Courier New"/>
              </a:rPr>
            </a:br>
            <a:r>
              <a:rPr>
                <a:latin typeface="Courier New"/>
                <a:ea typeface="Courier New"/>
                <a:cs typeface="Courier New"/>
                <a:sym typeface="Courier New"/>
              </a:rPr>
              <a:t>    </a:t>
            </a:r>
            <a:r>
              <a:rPr sz="2000">
                <a:latin typeface="Courier New"/>
                <a:ea typeface="Courier New"/>
                <a:cs typeface="Courier New"/>
                <a:sym typeface="Courier New"/>
              </a:rPr>
              <a:t>with raises(IOError):</a:t>
            </a:r>
            <a:br>
              <a:rPr sz="2000">
                <a:latin typeface="Courier New"/>
                <a:ea typeface="Courier New"/>
                <a:cs typeface="Courier New"/>
                <a:sym typeface="Courier New"/>
              </a:rPr>
            </a:br>
            <a:r>
              <a:rPr sz="2000">
                <a:latin typeface="Courier New"/>
                <a:ea typeface="Courier New"/>
                <a:cs typeface="Courier New"/>
                <a:sym typeface="Courier New"/>
              </a:rPr>
              <a:t>        open(None, 'r')</a:t>
            </a:r>
            <a:br>
              <a:rPr sz="2000">
                <a:latin typeface="Courier New"/>
                <a:ea typeface="Courier New"/>
                <a:cs typeface="Courier New"/>
                <a:sym typeface="Courier New"/>
              </a:rPr>
            </a:br>
            <a:br>
              <a:rPr sz="2000">
                <a:latin typeface="Courier New"/>
                <a:ea typeface="Courier New"/>
                <a:cs typeface="Courier New"/>
                <a:sym typeface="Courier New"/>
              </a:rPr>
            </a:br>
            <a:r>
              <a:t>as expected, but</a:t>
            </a:r>
            <a:br/>
            <a:br/>
            <a:r>
              <a:rPr>
                <a:latin typeface="Courier New"/>
                <a:ea typeface="Courier New"/>
                <a:cs typeface="Courier New"/>
                <a:sym typeface="Courier New"/>
              </a:rPr>
              <a:t>    </a:t>
            </a:r>
            <a:r>
              <a:rPr sz="2000">
                <a:latin typeface="Courier New"/>
                <a:ea typeface="Courier New"/>
                <a:cs typeface="Courier New"/>
                <a:sym typeface="Courier New"/>
              </a:rPr>
              <a:t>with raises(Exception):</a:t>
            </a:r>
            <a:br>
              <a:rPr sz="2000">
                <a:latin typeface="Courier New"/>
                <a:ea typeface="Courier New"/>
                <a:cs typeface="Courier New"/>
                <a:sym typeface="Courier New"/>
              </a:rPr>
            </a:br>
            <a:r>
              <a:rPr sz="2000">
                <a:latin typeface="Courier New"/>
                <a:ea typeface="Courier New"/>
                <a:cs typeface="Courier New"/>
                <a:sym typeface="Courier New"/>
              </a:rPr>
              <a:t>        open(None, 'r’)</a:t>
            </a:r>
            <a:br>
              <a:rPr sz="2000">
                <a:latin typeface="Courier New"/>
                <a:ea typeface="Courier New"/>
                <a:cs typeface="Courier New"/>
                <a:sym typeface="Courier New"/>
              </a:rPr>
            </a:br>
            <a:endParaRPr sz="2000">
              <a:latin typeface="Courier New"/>
              <a:ea typeface="Courier New"/>
              <a:cs typeface="Courier New"/>
              <a:sym typeface="Courier New"/>
            </a:endParaRPr>
          </a:p>
        </p:txBody>
      </p:sp>
      <p:sp>
        <p:nvSpPr>
          <p:cNvPr id="426" name="Date Placeholder 5"/>
          <p:cNvSpPr txBox="1"/>
          <p:nvPr/>
        </p:nvSpPr>
        <p:spPr>
          <a:xfrm>
            <a:off x="883919" y="6400413"/>
            <a:ext cx="2651762" cy="276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rPr lang="de-DE" dirty="0"/>
              <a:t>August 2026, CC BY-SA 4.0</a:t>
            </a:r>
          </a:p>
        </p:txBody>
      </p:sp>
      <p:sp>
        <p:nvSpPr>
          <p:cNvPr id="427"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36</a:t>
            </a:fld>
            <a:endParaRPr/>
          </a:p>
        </p:txBody>
      </p:sp>
      <p:sp>
        <p:nvSpPr>
          <p:cNvPr id="428" name="Rectangle 7"/>
          <p:cNvSpPr txBox="1"/>
          <p:nvPr/>
        </p:nvSpPr>
        <p:spPr>
          <a:xfrm>
            <a:off x="8301960" y="3039344"/>
            <a:ext cx="1064417" cy="345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solidFill>
                  <a:srgbClr val="FF0000"/>
                </a:solidFill>
                <a:latin typeface="Courier New"/>
                <a:ea typeface="Courier New"/>
                <a:cs typeface="Courier New"/>
                <a:sym typeface="Courier New"/>
              </a:defRPr>
            </a:lvl1pPr>
          </a:lstStyle>
          <a:p>
            <a:r>
              <a:t>=&gt; fail</a:t>
            </a:r>
          </a:p>
        </p:txBody>
      </p:sp>
      <p:sp>
        <p:nvSpPr>
          <p:cNvPr id="429" name="Rectangle 8"/>
          <p:cNvSpPr txBox="1"/>
          <p:nvPr/>
        </p:nvSpPr>
        <p:spPr>
          <a:xfrm>
            <a:off x="8301960" y="4221090"/>
            <a:ext cx="1064417" cy="345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solidFill>
                  <a:srgbClr val="0ECC00"/>
                </a:solidFill>
                <a:latin typeface="Courier New"/>
                <a:ea typeface="Courier New"/>
                <a:cs typeface="Courier New"/>
                <a:sym typeface="Courier New"/>
              </a:defRPr>
            </a:lvl1pPr>
          </a:lstStyle>
          <a:p>
            <a:r>
              <a:t>=&gt; pass</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D9A78"/>
      </a:accent1>
      <a:accent2>
        <a:srgbClr val="8BC145"/>
      </a:accent2>
      <a:accent3>
        <a:srgbClr val="36AFCE"/>
      </a:accent3>
      <a:accent4>
        <a:srgbClr val="1D6FA9"/>
      </a:accent4>
      <a:accent5>
        <a:srgbClr val="B74919"/>
      </a:accent5>
      <a:accent6>
        <a:srgbClr val="F19D19"/>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D9A78"/>
      </a:accent1>
      <a:accent2>
        <a:srgbClr val="8BC145"/>
      </a:accent2>
      <a:accent3>
        <a:srgbClr val="36AFCE"/>
      </a:accent3>
      <a:accent4>
        <a:srgbClr val="1D6FA9"/>
      </a:accent4>
      <a:accent5>
        <a:srgbClr val="B74919"/>
      </a:accent5>
      <a:accent6>
        <a:srgbClr val="F19D19"/>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1926</TotalTime>
  <Words>8937</Words>
  <Application>Microsoft Macintosh PowerPoint</Application>
  <PresentationFormat>Widescreen</PresentationFormat>
  <Paragraphs>1065</Paragraphs>
  <Slides>36</Slides>
  <Notes>33</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Calibri Light</vt:lpstr>
      <vt:lpstr>Consolas</vt:lpstr>
      <vt:lpstr>Courier New</vt:lpstr>
      <vt:lpstr>Menlo</vt:lpstr>
      <vt:lpstr>Menlo Regular</vt:lpstr>
      <vt:lpstr>Wingdings</vt:lpstr>
      <vt:lpstr>Office Theme</vt:lpstr>
      <vt:lpstr>Testing scientific code Because you’re worth it</vt:lpstr>
      <vt:lpstr>You, as the Master of Research</vt:lpstr>
      <vt:lpstr>How to reach enlightenment</vt:lpstr>
      <vt:lpstr>Outline</vt:lpstr>
      <vt:lpstr>Warm-up project</vt:lpstr>
      <vt:lpstr>Warm-up project</vt:lpstr>
      <vt:lpstr>PowerPoint Presentation</vt:lpstr>
      <vt:lpstr>The agile development cycle</vt:lpstr>
      <vt:lpstr>Python tools for agile development</vt:lpstr>
      <vt:lpstr>PowerPoint Presentation</vt:lpstr>
      <vt:lpstr>Why write tests at all?</vt:lpstr>
      <vt:lpstr>Effect of software bugs in science</vt:lpstr>
      <vt:lpstr>The unfortunate story of Geoffrey Chang</vt:lpstr>
      <vt:lpstr>2024 CrowdStrike incident</vt:lpstr>
      <vt:lpstr>PowerPoint Presentation</vt:lpstr>
      <vt:lpstr>A test is just another function</vt:lpstr>
      <vt:lpstr>Testing frameworks</vt:lpstr>
      <vt:lpstr>Hands-on!</vt:lpstr>
      <vt:lpstr>Test suites in Python with pytest</vt:lpstr>
      <vt:lpstr>Assertions</vt:lpstr>
      <vt:lpstr>Hands-on! Possibly your first test</vt:lpstr>
      <vt:lpstr>Hands-on! Possibly your first test</vt:lpstr>
      <vt:lpstr>Hands-on! Possibly your first test</vt:lpstr>
      <vt:lpstr>Floating point equality</vt:lpstr>
      <vt:lpstr>Hands-on!</vt:lpstr>
      <vt:lpstr>Testing with numpy arrays</vt:lpstr>
      <vt:lpstr>Testing with numpy arrays</vt:lpstr>
      <vt:lpstr>Watch out for nans! </vt:lpstr>
      <vt:lpstr>Write a working version of find_maxima, with testing </vt:lpstr>
      <vt:lpstr>Up next: Testing patterns</vt:lpstr>
      <vt:lpstr>PowerPoint Presentation</vt:lpstr>
      <vt:lpstr>PowerPoint Presentation</vt:lpstr>
      <vt:lpstr>The agile development cycle</vt:lpstr>
      <vt:lpstr>PowerPoint Presentation</vt:lpstr>
      <vt:lpstr>Testing error control</vt:lpstr>
      <vt:lpstr>Testing error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scientific code Because you’re worth it</dc:title>
  <cp:lastModifiedBy>IT</cp:lastModifiedBy>
  <cp:revision>51</cp:revision>
  <dcterms:modified xsi:type="dcterms:W3CDTF">2026-08-31T14:54:41Z</dcterms:modified>
</cp:coreProperties>
</file>