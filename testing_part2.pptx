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96" r:id="rId1"/>
  </p:sldMasterIdLst>
  <p:notesMasterIdLst>
    <p:notesMasterId r:id="rId64"/>
  </p:notesMasterIdLst>
  <p:handoutMasterIdLst>
    <p:handoutMasterId r:id="rId65"/>
  </p:handoutMasterIdLst>
  <p:sldIdLst>
    <p:sldId id="544" r:id="rId2"/>
    <p:sldId id="555" r:id="rId3"/>
    <p:sldId id="548" r:id="rId4"/>
    <p:sldId id="581" r:id="rId5"/>
    <p:sldId id="582" r:id="rId6"/>
    <p:sldId id="583" r:id="rId7"/>
    <p:sldId id="584" r:id="rId8"/>
    <p:sldId id="550" r:id="rId9"/>
    <p:sldId id="549" r:id="rId10"/>
    <p:sldId id="546" r:id="rId11"/>
    <p:sldId id="500" r:id="rId12"/>
    <p:sldId id="348" r:id="rId13"/>
    <p:sldId id="349" r:id="rId14"/>
    <p:sldId id="350" r:id="rId15"/>
    <p:sldId id="588" r:id="rId16"/>
    <p:sldId id="351" r:id="rId17"/>
    <p:sldId id="556" r:id="rId18"/>
    <p:sldId id="557" r:id="rId19"/>
    <p:sldId id="559" r:id="rId20"/>
    <p:sldId id="564" r:id="rId21"/>
    <p:sldId id="561" r:id="rId22"/>
    <p:sldId id="565" r:id="rId23"/>
    <p:sldId id="566" r:id="rId24"/>
    <p:sldId id="567" r:id="rId25"/>
    <p:sldId id="568" r:id="rId26"/>
    <p:sldId id="569" r:id="rId27"/>
    <p:sldId id="571" r:id="rId28"/>
    <p:sldId id="531" r:id="rId29"/>
    <p:sldId id="533" r:id="rId30"/>
    <p:sldId id="534" r:id="rId31"/>
    <p:sldId id="598" r:id="rId32"/>
    <p:sldId id="538" r:id="rId33"/>
    <p:sldId id="539" r:id="rId34"/>
    <p:sldId id="535" r:id="rId35"/>
    <p:sldId id="570" r:id="rId36"/>
    <p:sldId id="572" r:id="rId37"/>
    <p:sldId id="575" r:id="rId38"/>
    <p:sldId id="532" r:id="rId39"/>
    <p:sldId id="506" r:id="rId40"/>
    <p:sldId id="577" r:id="rId41"/>
    <p:sldId id="578" r:id="rId42"/>
    <p:sldId id="595" r:id="rId43"/>
    <p:sldId id="587" r:id="rId44"/>
    <p:sldId id="586" r:id="rId45"/>
    <p:sldId id="545" r:id="rId46"/>
    <p:sldId id="579" r:id="rId47"/>
    <p:sldId id="599" r:id="rId48"/>
    <p:sldId id="509" r:id="rId49"/>
    <p:sldId id="573" r:id="rId50"/>
    <p:sldId id="521" r:id="rId51"/>
    <p:sldId id="518" r:id="rId52"/>
    <p:sldId id="593" r:id="rId53"/>
    <p:sldId id="591" r:id="rId54"/>
    <p:sldId id="511" r:id="rId55"/>
    <p:sldId id="589" r:id="rId56"/>
    <p:sldId id="594" r:id="rId57"/>
    <p:sldId id="513" r:id="rId58"/>
    <p:sldId id="576" r:id="rId59"/>
    <p:sldId id="526" r:id="rId60"/>
    <p:sldId id="525" r:id="rId61"/>
    <p:sldId id="530" r:id="rId62"/>
    <p:sldId id="516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AA15BF6-FE96-3445-86D7-BE737DCC358B}">
          <p14:sldIdLst>
            <p14:sldId id="544"/>
            <p14:sldId id="555"/>
            <p14:sldId id="548"/>
            <p14:sldId id="581"/>
            <p14:sldId id="582"/>
            <p14:sldId id="583"/>
            <p14:sldId id="584"/>
            <p14:sldId id="550"/>
            <p14:sldId id="549"/>
            <p14:sldId id="546"/>
            <p14:sldId id="500"/>
            <p14:sldId id="348"/>
            <p14:sldId id="349"/>
            <p14:sldId id="350"/>
            <p14:sldId id="588"/>
            <p14:sldId id="351"/>
            <p14:sldId id="556"/>
            <p14:sldId id="557"/>
            <p14:sldId id="559"/>
            <p14:sldId id="564"/>
            <p14:sldId id="561"/>
            <p14:sldId id="565"/>
            <p14:sldId id="566"/>
            <p14:sldId id="567"/>
            <p14:sldId id="568"/>
            <p14:sldId id="569"/>
            <p14:sldId id="571"/>
            <p14:sldId id="531"/>
            <p14:sldId id="533"/>
            <p14:sldId id="534"/>
            <p14:sldId id="598"/>
            <p14:sldId id="538"/>
            <p14:sldId id="539"/>
            <p14:sldId id="535"/>
            <p14:sldId id="570"/>
            <p14:sldId id="572"/>
            <p14:sldId id="575"/>
            <p14:sldId id="532"/>
            <p14:sldId id="506"/>
            <p14:sldId id="577"/>
            <p14:sldId id="578"/>
            <p14:sldId id="595"/>
            <p14:sldId id="587"/>
            <p14:sldId id="586"/>
            <p14:sldId id="545"/>
            <p14:sldId id="579"/>
            <p14:sldId id="599"/>
            <p14:sldId id="509"/>
            <p14:sldId id="573"/>
            <p14:sldId id="521"/>
            <p14:sldId id="518"/>
            <p14:sldId id="593"/>
            <p14:sldId id="591"/>
            <p14:sldId id="511"/>
            <p14:sldId id="589"/>
            <p14:sldId id="594"/>
            <p14:sldId id="513"/>
            <p14:sldId id="576"/>
            <p14:sldId id="526"/>
            <p14:sldId id="525"/>
            <p14:sldId id="530"/>
            <p14:sldId id="5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71EB"/>
    <a:srgbClr val="0000FF"/>
    <a:srgbClr val="0ECC00"/>
    <a:srgbClr val="FF0000"/>
    <a:srgbClr val="80008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03" autoAdjust="0"/>
    <p:restoredTop sz="82740" autoAdjust="0"/>
  </p:normalViewPr>
  <p:slideViewPr>
    <p:cSldViewPr>
      <p:cViewPr varScale="1">
        <p:scale>
          <a:sx n="104" d="100"/>
          <a:sy n="104" d="100"/>
        </p:scale>
        <p:origin x="624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341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C11AF-147E-0A48-A5B0-8DA858D84551}" type="datetimeFigureOut">
              <a:rPr lang="en-US" smtClean="0"/>
              <a:pPr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6F090-DD87-7740-9678-0E1C7887DC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514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9B30722-7DAA-4E93-8206-71F83E27528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404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34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The logistic map is a discrete dynamical system </a:t>
            </a:r>
          </a:p>
          <a:p>
            <a:pPr marL="171450" indent="-171450">
              <a:buFontTx/>
              <a:buChar char="-"/>
            </a:pPr>
            <a:r>
              <a:rPr lang="en-GB" dirty="0"/>
              <a:t>Often used to model population growth</a:t>
            </a:r>
          </a:p>
          <a:p>
            <a:pPr marL="171450" indent="-171450">
              <a:buFontTx/>
              <a:buChar char="-"/>
            </a:pPr>
            <a:r>
              <a:rPr lang="en-GB" dirty="0"/>
              <a:t>2 terms: reproduction term and starvation term</a:t>
            </a:r>
          </a:p>
          <a:p>
            <a:pPr marL="171450" indent="-171450">
              <a:buFontTx/>
              <a:buChar char="-"/>
            </a:pPr>
            <a:r>
              <a:rPr lang="en-GB" dirty="0"/>
              <a:t>Uses x as current population, equation finds the population at the next discrete time step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3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0E36-8662-E8A5-E577-0A0CA880E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0287F-DB0F-244D-1E4A-58C0F6AED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ECDD3-8F90-DB60-380E-1B90FF3B4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The logistic map is a discrete dynamical system </a:t>
            </a:r>
          </a:p>
          <a:p>
            <a:pPr marL="171450" indent="-171450">
              <a:buFontTx/>
              <a:buChar char="-"/>
            </a:pP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CDB73-F066-FE99-14C8-29C02B6D0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55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DC99A-E256-6811-F9B4-1CF769152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F7DED-A9BE-9DC4-CE01-96739B267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353EE-84E8-5F68-3E55-7A3119D40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The logistic map is a discrete dynamical system </a:t>
            </a:r>
          </a:p>
          <a:p>
            <a:pPr marL="171450" indent="-171450">
              <a:buFontTx/>
              <a:buChar char="-"/>
            </a:pP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080D9-9DD2-F7AA-07AC-A228565A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19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A60EC-91C5-F05E-4C81-6120DFD43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393E3-32B5-F06B-B187-2AF46B7AA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92B85-B479-58DA-AC6A-316B04827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The logistic map is a discrete dynamical system </a:t>
            </a:r>
          </a:p>
          <a:p>
            <a:pPr marL="171450" indent="-171450">
              <a:buFontTx/>
              <a:buChar char="-"/>
            </a:pP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C4A0D-3FCD-78AD-6BD3-EAD30012B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93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04975-DC28-3565-E4C9-471BB7E69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D206C-2B03-40A8-6E59-ADD6A5499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D46E6-0B27-FC46-1ED0-9F0537115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A</a:t>
            </a:r>
            <a:r>
              <a:rPr lang="en-DE" dirty="0"/>
              <a:t> fixed point is when the population stabilizes because x = f(x)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54B4D-B008-BA10-5D82-7CC5FB4B4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Now we plot over iteration (i.e. time) instead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14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59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7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saw how to test, but what is a good test? and what should we test?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38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378627-E3FE-44FD-B5FA-4582AC800163}" type="slidenum">
              <a:rPr lang="en-GB" smtClean="0"/>
              <a:pPr/>
              <a:t>13</a:t>
            </a:fld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None/>
            </a:pPr>
            <a:r>
              <a:rPr lang="en-GB" baseline="0" dirty="0"/>
              <a:t>First of all, you should start with testing your code with</a:t>
            </a:r>
          </a:p>
          <a:p>
            <a:pPr marL="228600" indent="-228600">
              <a:buNone/>
            </a:pPr>
            <a:endParaRPr lang="en-GB" dirty="0"/>
          </a:p>
          <a:p>
            <a:pPr marL="228600" indent="-228600">
              <a:buAutoNum type="arabicParenR"/>
            </a:pPr>
            <a:r>
              <a:rPr lang="en-GB" dirty="0"/>
              <a:t>explain typical test</a:t>
            </a:r>
            <a:r>
              <a:rPr lang="en-GB" baseline="0" dirty="0"/>
              <a:t> structure</a:t>
            </a:r>
          </a:p>
          <a:p>
            <a:pPr marL="228600" indent="-228600">
              <a:buAutoNum type="arabicParenR"/>
            </a:pPr>
            <a:r>
              <a:rPr lang="en-GB" baseline="0" dirty="0"/>
              <a:t>show general case: two words, upper case chars randomly dispersed</a:t>
            </a:r>
          </a:p>
          <a:p>
            <a:pPr marL="228600" indent="-228600">
              <a:buAutoNum type="arabicParenR"/>
            </a:pPr>
            <a:r>
              <a:rPr lang="en-GB" baseline="0" dirty="0"/>
              <a:t>special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378627-E3FE-44FD-B5FA-4582AC800163}" type="slidenum">
              <a:rPr lang="en-GB" smtClean="0"/>
              <a:pPr/>
              <a:t>14</a:t>
            </a:fld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378627-E3FE-44FD-B5FA-4582AC800163}" type="slidenum">
              <a:rPr lang="en-GB" smtClean="0"/>
              <a:pPr/>
              <a:t>16</a:t>
            </a:fld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r>
              <a:rPr lang="en-CH"/>
              <a:t>Generic</a:t>
            </a:r>
            <a:r>
              <a:rPr lang="en-CH" dirty="0"/>
              <a:t>: what would convince you that it works? would 1 value be sufficient? where do we find the values? </a:t>
            </a:r>
          </a:p>
          <a:p>
            <a:r>
              <a:rPr lang="en-CH" dirty="0"/>
              <a:t>	compute by hand, look it up, fixed points  -- the important is that the source is independent</a:t>
            </a:r>
          </a:p>
          <a:p>
            <a:r>
              <a:rPr lang="en-CH" dirty="0"/>
              <a:t>	would writing the function, running it, then using the output as a test value be meaningful? only to avoid regressions</a:t>
            </a:r>
          </a:p>
          <a:p>
            <a:r>
              <a:rPr lang="en-CH" dirty="0"/>
              <a:t>Corner cases: x = 0, x= 1</a:t>
            </a:r>
          </a:p>
          <a:p>
            <a:r>
              <a:rPr lang="en-CH" dirty="0"/>
              <a:t>Error cases (r&lt;=0, r&gt;=4, x&lt;0, x&gt;1)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94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48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Remember to import pytest!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775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814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262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arenR"/>
            </a:pPr>
            <a:r>
              <a:rPr lang="en-US" baseline="0" dirty="0"/>
              <a:t>…</a:t>
            </a:r>
          </a:p>
          <a:p>
            <a:pPr marL="228600" indent="-228600">
              <a:buAutoNum type="arabicParenR"/>
            </a:pPr>
            <a:r>
              <a:rPr lang="en-US" baseline="0" dirty="0"/>
              <a:t>There is no general rule for testing these algorithm, for each specific algorithm there are usually validation cases (</a:t>
            </a:r>
            <a:r>
              <a:rPr lang="en-US" baseline="0" dirty="0" err="1"/>
              <a:t>e.g</a:t>
            </a:r>
            <a:r>
              <a:rPr lang="en-US" baseline="0" dirty="0"/>
              <a:t>, a classifier might be validated using two classes of very different objects)</a:t>
            </a:r>
          </a:p>
          <a:p>
            <a:pPr marL="228600" indent="-228600"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258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288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85010-FD16-8BCC-4E57-F31806AD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DDF07-217C-E092-5D1B-547A88081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308A5B-C4F7-D210-AC7E-CCFAF5212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656D2-D7CB-F306-AB05-D0EF50A61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101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354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154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073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No need to parametrize this at all.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933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774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code </a:t>
            </a:r>
            <a:r>
              <a:rPr lang="de-DE" dirty="0" err="1"/>
              <a:t>does</a:t>
            </a:r>
            <a:r>
              <a:rPr lang="de-DE" dirty="0"/>
              <a:t>: </a:t>
            </a:r>
            <a:r>
              <a:rPr lang="de-DE" dirty="0" err="1"/>
              <a:t>try</a:t>
            </a:r>
            <a:r>
              <a:rPr lang="de-DE" dirty="0"/>
              <a:t> 100 </a:t>
            </a:r>
            <a:r>
              <a:rPr lang="de-DE" dirty="0" err="1"/>
              <a:t>times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random</a:t>
            </a:r>
            <a:r>
              <a:rPr lang="de-DE" dirty="0"/>
              <a:t> </a:t>
            </a:r>
            <a:r>
              <a:rPr lang="de-DE" dirty="0" err="1"/>
              <a:t>starting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and rate,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recover</a:t>
            </a:r>
            <a:r>
              <a:rPr lang="de-DE" dirty="0"/>
              <a:t> r.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But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happens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fails</a:t>
            </a:r>
            <a:r>
              <a:rPr lang="de-DE" dirty="0"/>
              <a:t>?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853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GB" dirty="0"/>
              <a:t>R</a:t>
            </a:r>
            <a:r>
              <a:rPr lang="en-DE" dirty="0"/>
              <a:t>eimplements the same code</a:t>
            </a:r>
          </a:p>
          <a:p>
            <a:pPr marL="228600" indent="-228600">
              <a:buAutoNum type="arabicParenR"/>
            </a:pPr>
            <a:r>
              <a:rPr lang="en-GB" dirty="0"/>
              <a:t>T</a:t>
            </a:r>
            <a:r>
              <a:rPr lang="en-DE" dirty="0"/>
              <a:t>ests something that is unlikely to change ever and is guaranteed by the use of a for loop</a:t>
            </a:r>
          </a:p>
          <a:p>
            <a:pPr marL="228600" indent="-228600">
              <a:buAutoNum type="arabicParenR"/>
            </a:pPr>
            <a:r>
              <a:rPr lang="en-DE" dirty="0"/>
              <a:t>Tests that the first value is correctly inserted in the first spot. </a:t>
            </a:r>
            <a:r>
              <a:rPr lang="en-GB" dirty="0"/>
              <a:t>B</a:t>
            </a:r>
            <a:r>
              <a:rPr lang="en-DE" dirty="0"/>
              <a:t>ut is that really the most crucial thing to test?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783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30722-7DAA-4E93-8206-71F83E275281}" type="slidenum">
              <a:rPr lang="en-US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386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553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/>
              <a:t>numpy.random.RandomState!</a:t>
            </a:r>
          </a:p>
          <a:p>
            <a:endParaRPr lang="en-CH"/>
          </a:p>
          <a:p>
            <a:r>
              <a:rPr lang="en-CH"/>
              <a:t>random_state = np.random.RandomState(SEED)</a:t>
            </a:r>
          </a:p>
          <a:p>
            <a:r>
              <a:rPr lang="en-CH"/>
              <a:t>random_state.rand()</a:t>
            </a:r>
          </a:p>
          <a:p>
            <a:endParaRPr lang="en-CH"/>
          </a:p>
          <a:p>
            <a:r>
              <a:rPr lang="en-CH"/>
              <a:t>otherwise using the global seed, if any external library uses np.random it can screw up the determinism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393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703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</a:t>
            </a:r>
            <a:r>
              <a:rPr lang="en-DE" dirty="0"/>
              <a:t>roblem with that: still need to manually change the seed, remember the seed, etc</a:t>
            </a:r>
          </a:p>
          <a:p>
            <a:endParaRPr lang="en-DE" dirty="0"/>
          </a:p>
          <a:p>
            <a:r>
              <a:rPr lang="en-GB" dirty="0"/>
              <a:t>S</a:t>
            </a:r>
            <a:r>
              <a:rPr lang="en-DE" dirty="0"/>
              <a:t>o I’m going to show you 2 very magical things:</a:t>
            </a:r>
          </a:p>
          <a:p>
            <a:endParaRPr lang="en-DE" dirty="0"/>
          </a:p>
          <a:p>
            <a:pPr marL="171450" indent="-171450">
              <a:buFontTx/>
              <a:buChar char="-"/>
            </a:pPr>
            <a:r>
              <a:rPr lang="en-GB" dirty="0"/>
              <a:t>L</a:t>
            </a:r>
            <a:r>
              <a:rPr lang="en-DE" dirty="0"/>
              <a:t>ivecode from solution: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L</a:t>
            </a:r>
            <a:r>
              <a:rPr lang="en-DE" dirty="0"/>
              <a:t>ook at the part we would like to be separate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S</a:t>
            </a:r>
            <a:r>
              <a:rPr lang="en-DE" dirty="0"/>
              <a:t>ay: okay, wouldn’t it be nice if this were just a thing that </a:t>
            </a:r>
            <a:r>
              <a:rPr lang="en-GB" dirty="0"/>
              <a:t>I</a:t>
            </a:r>
            <a:r>
              <a:rPr lang="en-DE" dirty="0"/>
              <a:t> can run separately just at the beginning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W</a:t>
            </a:r>
            <a:r>
              <a:rPr lang="en-DE" dirty="0"/>
              <a:t>e still need the SEED globvar at the top, so we can still rerun</a:t>
            </a:r>
          </a:p>
          <a:p>
            <a:pPr marL="628650" lvl="1" indent="-171450">
              <a:buFontTx/>
              <a:buChar char="-"/>
            </a:pP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330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670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6B60F-D849-4139-4A72-B93BD69D0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8770B-96AB-5F08-C192-D450319A8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CDF71-3862-4D9D-7360-12D92117A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</a:t>
            </a:r>
            <a:r>
              <a:rPr lang="en-DE" dirty="0"/>
              <a:t>roblem with that: still need to manually change the seed, remember the seed, etc</a:t>
            </a:r>
          </a:p>
          <a:p>
            <a:endParaRPr lang="en-DE" dirty="0"/>
          </a:p>
          <a:p>
            <a:r>
              <a:rPr lang="en-GB" dirty="0"/>
              <a:t>S</a:t>
            </a:r>
            <a:r>
              <a:rPr lang="en-DE" dirty="0"/>
              <a:t>o I’m going to show you 2 very magical things:</a:t>
            </a:r>
          </a:p>
          <a:p>
            <a:endParaRPr lang="en-DE" dirty="0"/>
          </a:p>
          <a:p>
            <a:pPr marL="171450" indent="-171450">
              <a:buFontTx/>
              <a:buChar char="-"/>
            </a:pPr>
            <a:r>
              <a:rPr lang="en-GB" dirty="0"/>
              <a:t>L</a:t>
            </a:r>
            <a:r>
              <a:rPr lang="en-DE" dirty="0"/>
              <a:t>ivecode from solution: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L</a:t>
            </a:r>
            <a:r>
              <a:rPr lang="en-DE" dirty="0"/>
              <a:t>ook at the part we would like to be separate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S</a:t>
            </a:r>
            <a:r>
              <a:rPr lang="en-DE" dirty="0"/>
              <a:t>ay: okay, wouldn’t it be nice if this were just a thing that </a:t>
            </a:r>
            <a:r>
              <a:rPr lang="en-GB" dirty="0"/>
              <a:t>I</a:t>
            </a:r>
            <a:r>
              <a:rPr lang="en-DE" dirty="0"/>
              <a:t> can run separately just at the beginning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W</a:t>
            </a:r>
            <a:r>
              <a:rPr lang="en-DE" dirty="0"/>
              <a:t>e still need the SEED globvar at the top, so we can still rerun</a:t>
            </a:r>
          </a:p>
          <a:p>
            <a:pPr marL="628650" lvl="1" indent="-171450">
              <a:buFontTx/>
              <a:buChar char="-"/>
            </a:pP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2275C-D6EB-5BB8-6DBA-5BB0ED494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160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/>
              <a:t>If an input argument of a test matches the name of a fixture, then the fixture is called and the return value assigned to the argument.</a:t>
            </a:r>
          </a:p>
          <a:p>
            <a:endParaRPr lang="en-CH"/>
          </a:p>
          <a:p>
            <a:r>
              <a:rPr lang="en-CH"/>
              <a:t>pytest handles that automatically as part of running the test suite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709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877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</a:t>
            </a:r>
            <a:r>
              <a:rPr lang="en-DE" dirty="0"/>
              <a:t> axis is different vals of r</a:t>
            </a:r>
          </a:p>
          <a:p>
            <a:endParaRPr lang="en-DE" dirty="0"/>
          </a:p>
          <a:p>
            <a:r>
              <a:rPr lang="en-DE" dirty="0"/>
              <a:t>X axis is which values the logistic map visits. So two branches= a period of 2</a:t>
            </a:r>
          </a:p>
          <a:p>
            <a:endParaRPr lang="en-DE" dirty="0"/>
          </a:p>
          <a:p>
            <a:r>
              <a:rPr lang="en-GB" dirty="0"/>
              <a:t>I</a:t>
            </a:r>
            <a:r>
              <a:rPr lang="en-DE" dirty="0"/>
              <a:t>slands of stability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30722-7DAA-4E93-8206-71F83E275281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54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06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2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1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0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41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4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85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AB8C0-1AFE-4AD2-A399-FC2954A194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8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5A131-7E6B-4BFA-A2D4-3B708019D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33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53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84784"/>
            <a:ext cx="10515600" cy="46921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9ADEA-B933-47CC-A4E9-04E6298B91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1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est.org/en/7.1.x/example/markers.html#registering-markers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9B30C8B-B7EA-E43D-12A0-28FE49F4C559}"/>
              </a:ext>
            </a:extLst>
          </p:cNvPr>
          <p:cNvSpPr txBox="1">
            <a:spLocks/>
          </p:cNvSpPr>
          <p:nvPr/>
        </p:nvSpPr>
        <p:spPr>
          <a:xfrm>
            <a:off x="263352" y="260648"/>
            <a:ext cx="10081120" cy="170236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8000" b="1" dirty="0"/>
              <a:t>Testing scientific code</a:t>
            </a:r>
            <a:br>
              <a:rPr lang="en-US" sz="5400" dirty="0"/>
            </a:br>
            <a:r>
              <a:rPr lang="en-US" sz="4800" dirty="0"/>
              <a:t>Because you’re worth it</a:t>
            </a:r>
            <a:endParaRPr lang="en-GB" sz="400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B3065C6-8368-ADA9-51D1-56948C3C7FCC}"/>
              </a:ext>
            </a:extLst>
          </p:cNvPr>
          <p:cNvSpPr txBox="1">
            <a:spLocks/>
          </p:cNvSpPr>
          <p:nvPr/>
        </p:nvSpPr>
        <p:spPr>
          <a:xfrm>
            <a:off x="263352" y="6237312"/>
            <a:ext cx="5921896" cy="32561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dirty="0"/>
              <a:t>Lisa Schwetlick and Carlos Echeverría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919536" y="1628801"/>
            <a:ext cx="82089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Introduction to testing project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31B42B-279E-891E-4D3B-F44B41AF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22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5CDB-6463-B741-94CA-651D1204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Excursion: Logistic </a:t>
            </a:r>
            <a:r>
              <a:rPr lang="en-US" dirty="0"/>
              <a:t>Map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28BE7-2DBF-E146-89FA-99BFF5729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101"/>
            <a:ext cx="9372600" cy="5163773"/>
          </a:xfrm>
        </p:spPr>
        <p:txBody>
          <a:bodyPr>
            <a:normAutofit/>
          </a:bodyPr>
          <a:lstStyle/>
          <a:p>
            <a:r>
              <a:rPr lang="en-US" dirty="0"/>
              <a:t>Simple, discrete </a:t>
            </a:r>
            <a:r>
              <a:rPr lang="en-DE" dirty="0"/>
              <a:t>model for population growth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0D210-69C2-254F-A712-34EDC8A34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F89F0-6046-F74F-9841-B0C36739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CFA75-F217-2055-36C5-1C3548503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2585" y="6338298"/>
            <a:ext cx="2743200" cy="365125"/>
          </a:xfrm>
        </p:spPr>
        <p:txBody>
          <a:bodyPr/>
          <a:lstStyle/>
          <a:p>
            <a:fld id="{EF79ADEA-B933-47CC-A4E9-04E6298B917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92BEBF-D6AF-8E10-0BDF-5567AA8784D1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7030A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387687F-0CDE-C435-8F7C-C35A856F221F}"/>
              </a:ext>
            </a:extLst>
          </p:cNvPr>
          <p:cNvGrpSpPr/>
          <p:nvPr/>
        </p:nvGrpSpPr>
        <p:grpSpPr>
          <a:xfrm>
            <a:off x="223306" y="2040244"/>
            <a:ext cx="6585733" cy="2650702"/>
            <a:chOff x="-332086" y="2070705"/>
            <a:chExt cx="6585733" cy="2650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2787AEE-F455-3AF2-A775-03765327C196}"/>
                    </a:ext>
                  </a:extLst>
                </p:cNvPr>
                <p:cNvSpPr txBox="1"/>
                <p:nvPr/>
              </p:nvSpPr>
              <p:spPr>
                <a:xfrm>
                  <a:off x="1239525" y="2541475"/>
                  <a:ext cx="4641031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3600" smtClean="0">
                            <a:latin typeface="Cambria Math" panose="020405030504060302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de-DE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360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de-DE" sz="3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e-DE" sz="3600" i="1" smtClean="0">
                            <a:ln>
                              <a:noFill/>
                            </a:ln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2787AEE-F455-3AF2-A775-03765327C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9525" y="2541475"/>
                  <a:ext cx="4641031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639" b="-23077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4AA7E5-8A77-1203-CE60-44F7547A3B08}"/>
                </a:ext>
              </a:extLst>
            </p:cNvPr>
            <p:cNvSpPr txBox="1"/>
            <p:nvPr/>
          </p:nvSpPr>
          <p:spPr>
            <a:xfrm>
              <a:off x="-332086" y="3705744"/>
              <a:ext cx="29725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chemeClr val="accent5"/>
                  </a:solidFill>
                </a:rPr>
                <a:t>current population size, as fraction of maximum possible size, 0…1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F81ED7-3114-0669-FED8-D4D90EDBF6F8}"/>
                </a:ext>
              </a:extLst>
            </p:cNvPr>
            <p:cNvSpPr txBox="1"/>
            <p:nvPr/>
          </p:nvSpPr>
          <p:spPr>
            <a:xfrm>
              <a:off x="1788688" y="2070705"/>
              <a:ext cx="29725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chemeClr val="accent6"/>
                  </a:solidFill>
                </a:rPr>
                <a:t>reproduction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3DF6A2E-EF80-2363-E84C-2E28C0C29F08}"/>
                </a:ext>
              </a:extLst>
            </p:cNvPr>
            <p:cNvSpPr txBox="1"/>
            <p:nvPr/>
          </p:nvSpPr>
          <p:spPr>
            <a:xfrm>
              <a:off x="3281103" y="3142615"/>
              <a:ext cx="29725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rgbClr val="FF0000"/>
                  </a:solidFill>
                </a:rPr>
                <a:t>starvation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714B69F-6B79-2D6E-3B00-A2323D692E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4582" y="3121688"/>
              <a:ext cx="185092" cy="45633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 descr="A picture containing lagomorph, mammal, standing, staring&#10;&#10;Description automatically generated">
            <a:extLst>
              <a:ext uri="{FF2B5EF4-FFF2-40B4-BE49-F238E27FC236}">
                <a16:creationId xmlns:a16="http://schemas.microsoft.com/office/drawing/2014/main" id="{4C526C8A-FE68-4230-AC40-2777907A06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50" y="4818664"/>
            <a:ext cx="1870742" cy="1621310"/>
          </a:xfrm>
          <a:prstGeom prst="rect">
            <a:avLst/>
          </a:prstGeom>
        </p:spPr>
      </p:pic>
      <p:sp>
        <p:nvSpPr>
          <p:cNvPr id="15" name="Left Brace 14">
            <a:extLst>
              <a:ext uri="{FF2B5EF4-FFF2-40B4-BE49-F238E27FC236}">
                <a16:creationId xmlns:a16="http://schemas.microsoft.com/office/drawing/2014/main" id="{B18ACCAC-7810-9E4F-FCD9-AD8E952B1809}"/>
              </a:ext>
            </a:extLst>
          </p:cNvPr>
          <p:cNvSpPr/>
          <p:nvPr/>
        </p:nvSpPr>
        <p:spPr>
          <a:xfrm rot="5400000">
            <a:off x="3653029" y="2052310"/>
            <a:ext cx="227058" cy="964215"/>
          </a:xfrm>
          <a:prstGeom prst="lef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2EA936-91EA-6445-0DFF-86623CDC653F}"/>
              </a:ext>
            </a:extLst>
          </p:cNvPr>
          <p:cNvSpPr txBox="1"/>
          <p:nvPr/>
        </p:nvSpPr>
        <p:spPr>
          <a:xfrm>
            <a:off x="3098008" y="3309268"/>
            <a:ext cx="1567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solidFill>
                  <a:schemeClr val="accent6"/>
                </a:solidFill>
              </a:rPr>
              <a:t>growth rate, 0…4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F6BB11-6093-8FF7-747A-B5C45A45D39C}"/>
              </a:ext>
            </a:extLst>
          </p:cNvPr>
          <p:cNvCxnSpPr>
            <a:cxnSpLocks/>
          </p:cNvCxnSpPr>
          <p:nvPr/>
        </p:nvCxnSpPr>
        <p:spPr>
          <a:xfrm flipH="1" flipV="1">
            <a:off x="3431704" y="3091227"/>
            <a:ext cx="149696" cy="21804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726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19C0E-891D-1917-D6FE-1510BB80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1E7-0C74-966B-AE49-F23A415C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Excursion: Logistic </a:t>
            </a:r>
            <a:r>
              <a:rPr lang="en-US" dirty="0"/>
              <a:t>Map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7FE6E-83C3-BB6B-575C-DB16B7093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101"/>
            <a:ext cx="9372600" cy="5163773"/>
          </a:xfrm>
        </p:spPr>
        <p:txBody>
          <a:bodyPr>
            <a:normAutofit/>
          </a:bodyPr>
          <a:lstStyle/>
          <a:p>
            <a:r>
              <a:rPr lang="en-US" dirty="0"/>
              <a:t>Simple, discrete </a:t>
            </a:r>
            <a:r>
              <a:rPr lang="en-DE" dirty="0"/>
              <a:t>model for population growth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36D1D-FB2D-2E79-ECFF-01958CDA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F7124-CD05-1493-829C-81EAACC82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C0954-5EB4-039D-F334-58DE463CB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2585" y="6338298"/>
            <a:ext cx="2743200" cy="365125"/>
          </a:xfrm>
        </p:spPr>
        <p:txBody>
          <a:bodyPr/>
          <a:lstStyle/>
          <a:p>
            <a:fld id="{EF79ADEA-B933-47CC-A4E9-04E6298B917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8B9AF0-D5B4-BCAB-7482-244F00A7F576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7030A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2" name="Picture 31" descr="A picture containing lagomorph, mammal, standing, staring&#10;&#10;Description automatically generated">
            <a:extLst>
              <a:ext uri="{FF2B5EF4-FFF2-40B4-BE49-F238E27FC236}">
                <a16:creationId xmlns:a16="http://schemas.microsoft.com/office/drawing/2014/main" id="{0BC6E98A-FC0B-3920-4552-B3338A4AE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50" y="4818664"/>
            <a:ext cx="1870742" cy="16213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4577AD-1E92-A55B-6491-632BD6A27C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0423" y="1894907"/>
            <a:ext cx="4085457" cy="40713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BA451D-6400-C75A-C28B-535BA3548BB1}"/>
              </a:ext>
            </a:extLst>
          </p:cNvPr>
          <p:cNvSpPr txBox="1"/>
          <p:nvPr/>
        </p:nvSpPr>
        <p:spPr>
          <a:xfrm>
            <a:off x="8192630" y="6021288"/>
            <a:ext cx="2475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 err="1"/>
              <a:t>Current</a:t>
            </a:r>
            <a:r>
              <a:rPr lang="de-DE" sz="1800" dirty="0"/>
              <a:t> </a:t>
            </a:r>
            <a:r>
              <a:rPr lang="en-CH" sz="1800"/>
              <a:t>population size</a:t>
            </a:r>
            <a:r>
              <a:rPr lang="de-DE" sz="1800" dirty="0"/>
              <a:t> (e.g. # </a:t>
            </a:r>
            <a:r>
              <a:rPr lang="de-DE" sz="1800" dirty="0" err="1"/>
              <a:t>bunnies</a:t>
            </a:r>
            <a:r>
              <a:rPr lang="de-DE" sz="1800" dirty="0"/>
              <a:t> </a:t>
            </a:r>
            <a:r>
              <a:rPr lang="de-DE" dirty="0"/>
              <a:t>in 2026</a:t>
            </a:r>
            <a:r>
              <a:rPr lang="de-DE" sz="1800" dirty="0"/>
              <a:t>)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99B323-08BF-B9B0-152B-9703FA17CA70}"/>
              </a:ext>
            </a:extLst>
          </p:cNvPr>
          <p:cNvSpPr txBox="1"/>
          <p:nvPr/>
        </p:nvSpPr>
        <p:spPr>
          <a:xfrm>
            <a:off x="5637038" y="4343694"/>
            <a:ext cx="17111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/>
              <a:t>Next </a:t>
            </a:r>
            <a:r>
              <a:rPr lang="en-CH" sz="1800"/>
              <a:t>population size</a:t>
            </a:r>
            <a:endParaRPr lang="de-DE" sz="1800" dirty="0"/>
          </a:p>
          <a:p>
            <a:pPr algn="ctr"/>
            <a:r>
              <a:rPr lang="de-DE" dirty="0"/>
              <a:t>(e.g. # </a:t>
            </a:r>
            <a:r>
              <a:rPr lang="de-DE" dirty="0" err="1"/>
              <a:t>bunnies</a:t>
            </a:r>
            <a:r>
              <a:rPr lang="de-DE" dirty="0"/>
              <a:t> in 2027)</a:t>
            </a:r>
            <a:endParaRPr lang="en-DE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1DE1AE8-2373-5A1A-916C-E840055E59D1}"/>
              </a:ext>
            </a:extLst>
          </p:cNvPr>
          <p:cNvCxnSpPr>
            <a:cxnSpLocks/>
          </p:cNvCxnSpPr>
          <p:nvPr/>
        </p:nvCxnSpPr>
        <p:spPr>
          <a:xfrm flipV="1">
            <a:off x="8616280" y="5805264"/>
            <a:ext cx="576064" cy="2880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DE32169-6737-9F12-05FE-13F57E363E34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6492632" y="3846674"/>
            <a:ext cx="587775" cy="4970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D6165C-E65E-6A55-FDD0-A566EAE93328}"/>
              </a:ext>
            </a:extLst>
          </p:cNvPr>
          <p:cNvGrpSpPr/>
          <p:nvPr/>
        </p:nvGrpSpPr>
        <p:grpSpPr>
          <a:xfrm>
            <a:off x="223306" y="2040244"/>
            <a:ext cx="6585733" cy="2650702"/>
            <a:chOff x="-332086" y="2070705"/>
            <a:chExt cx="6585733" cy="2650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06DFB23-628E-48D2-CCB4-5FC2012DE075}"/>
                    </a:ext>
                  </a:extLst>
                </p:cNvPr>
                <p:cNvSpPr txBox="1"/>
                <p:nvPr/>
              </p:nvSpPr>
              <p:spPr>
                <a:xfrm>
                  <a:off x="1239525" y="2541475"/>
                  <a:ext cx="4641031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3600" smtClean="0">
                            <a:latin typeface="Cambria Math" panose="020405030504060302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de-DE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360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de-DE" sz="3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e-DE" sz="3600" i="1" smtClean="0">
                            <a:ln>
                              <a:noFill/>
                            </a:ln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06DFB23-628E-48D2-CCB4-5FC2012DE0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9525" y="2541475"/>
                  <a:ext cx="4641031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1639" b="-23077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EE3449-B881-5FC4-6F95-21719F6EB6B9}"/>
                </a:ext>
              </a:extLst>
            </p:cNvPr>
            <p:cNvSpPr txBox="1"/>
            <p:nvPr/>
          </p:nvSpPr>
          <p:spPr>
            <a:xfrm>
              <a:off x="-332086" y="3705744"/>
              <a:ext cx="29725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chemeClr val="accent5"/>
                  </a:solidFill>
                </a:rPr>
                <a:t>current population size, as fraction of maximum possible size, 0…1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B46606E-4A77-693C-5006-ED897C1DE2D0}"/>
                </a:ext>
              </a:extLst>
            </p:cNvPr>
            <p:cNvSpPr txBox="1"/>
            <p:nvPr/>
          </p:nvSpPr>
          <p:spPr>
            <a:xfrm>
              <a:off x="1788688" y="2070705"/>
              <a:ext cx="29725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chemeClr val="accent6"/>
                  </a:solidFill>
                </a:rPr>
                <a:t>reproduction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02FDE16-EAE8-91CE-68F7-97A9376BB31C}"/>
                </a:ext>
              </a:extLst>
            </p:cNvPr>
            <p:cNvSpPr txBox="1"/>
            <p:nvPr/>
          </p:nvSpPr>
          <p:spPr>
            <a:xfrm>
              <a:off x="3281103" y="3142615"/>
              <a:ext cx="29725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rgbClr val="FF0000"/>
                  </a:solidFill>
                </a:rPr>
                <a:t>starvation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FD8BDEF-102F-66FB-D13E-C066B6CC1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4582" y="3121688"/>
              <a:ext cx="185092" cy="45633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Left Brace 25">
            <a:extLst>
              <a:ext uri="{FF2B5EF4-FFF2-40B4-BE49-F238E27FC236}">
                <a16:creationId xmlns:a16="http://schemas.microsoft.com/office/drawing/2014/main" id="{2A673BC1-4556-9328-6020-F8F3BED30FFC}"/>
              </a:ext>
            </a:extLst>
          </p:cNvPr>
          <p:cNvSpPr/>
          <p:nvPr/>
        </p:nvSpPr>
        <p:spPr>
          <a:xfrm rot="5400000">
            <a:off x="3653029" y="2052310"/>
            <a:ext cx="227058" cy="964215"/>
          </a:xfrm>
          <a:prstGeom prst="lef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A2DCCA-380A-2552-326B-BD3D3C968596}"/>
              </a:ext>
            </a:extLst>
          </p:cNvPr>
          <p:cNvSpPr txBox="1"/>
          <p:nvPr/>
        </p:nvSpPr>
        <p:spPr>
          <a:xfrm>
            <a:off x="3098008" y="3309268"/>
            <a:ext cx="1567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solidFill>
                  <a:schemeClr val="accent6"/>
                </a:solidFill>
              </a:rPr>
              <a:t>growth rate, 0…4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466A34-DB22-D780-0F4F-5994836A4F1F}"/>
              </a:ext>
            </a:extLst>
          </p:cNvPr>
          <p:cNvCxnSpPr>
            <a:cxnSpLocks/>
          </p:cNvCxnSpPr>
          <p:nvPr/>
        </p:nvCxnSpPr>
        <p:spPr>
          <a:xfrm flipH="1" flipV="1">
            <a:off x="3431704" y="3091227"/>
            <a:ext cx="149696" cy="21804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531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62A09-279E-4E9E-91FC-51302ECAB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94B5-732D-9F14-B1EA-969B66C4B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Excursion: Logistic </a:t>
            </a:r>
            <a:r>
              <a:rPr lang="en-US" dirty="0"/>
              <a:t>Map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F54EA-5826-A411-B239-4A911A72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101"/>
            <a:ext cx="9372600" cy="5163773"/>
          </a:xfrm>
        </p:spPr>
        <p:txBody>
          <a:bodyPr>
            <a:normAutofit/>
          </a:bodyPr>
          <a:lstStyle/>
          <a:p>
            <a:r>
              <a:rPr lang="en-US" dirty="0"/>
              <a:t>Simple, discrete </a:t>
            </a:r>
            <a:r>
              <a:rPr lang="en-DE" dirty="0"/>
              <a:t>model for population growth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647F3-3597-42D4-DB96-024963BA4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7EE7E-E234-8A0B-A19B-9F7549CD5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A07A2-FA81-24C8-5C43-0496A106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2585" y="6338298"/>
            <a:ext cx="2743200" cy="365125"/>
          </a:xfrm>
        </p:spPr>
        <p:txBody>
          <a:bodyPr/>
          <a:lstStyle/>
          <a:p>
            <a:fld id="{EF79ADEA-B933-47CC-A4E9-04E6298B917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E88ED9-28B8-8A3F-531A-A2A79A11D124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7030A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2" name="Picture 31" descr="A picture containing lagomorph, mammal, standing, staring&#10;&#10;Description automatically generated">
            <a:extLst>
              <a:ext uri="{FF2B5EF4-FFF2-40B4-BE49-F238E27FC236}">
                <a16:creationId xmlns:a16="http://schemas.microsoft.com/office/drawing/2014/main" id="{65AFEFFC-FFFB-21C6-ACAD-27045226D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50" y="4818664"/>
            <a:ext cx="1870742" cy="16213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E26B4F-DEB0-9A7B-A57F-0B68FA185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0423" y="1894907"/>
            <a:ext cx="4085457" cy="407137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CB738FA-95D3-6556-6375-D1615A1A8128}"/>
              </a:ext>
            </a:extLst>
          </p:cNvPr>
          <p:cNvGrpSpPr/>
          <p:nvPr/>
        </p:nvGrpSpPr>
        <p:grpSpPr>
          <a:xfrm>
            <a:off x="223306" y="2040244"/>
            <a:ext cx="6585733" cy="2650702"/>
            <a:chOff x="-332086" y="2070705"/>
            <a:chExt cx="6585733" cy="2650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F82417C-BA0C-8161-9863-9B3E59D29C93}"/>
                    </a:ext>
                  </a:extLst>
                </p:cNvPr>
                <p:cNvSpPr txBox="1"/>
                <p:nvPr/>
              </p:nvSpPr>
              <p:spPr>
                <a:xfrm>
                  <a:off x="1239525" y="2541475"/>
                  <a:ext cx="4641031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3600" smtClean="0">
                            <a:latin typeface="Cambria Math" panose="020405030504060302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de-DE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360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de-DE" sz="3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e-DE" sz="3600" i="1" smtClean="0">
                            <a:ln>
                              <a:noFill/>
                            </a:ln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F82417C-BA0C-8161-9863-9B3E59D29C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9525" y="2541475"/>
                  <a:ext cx="4641031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1639" b="-23077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38C9FC1-97E9-8F6A-1FF8-806EFAF33AAD}"/>
                </a:ext>
              </a:extLst>
            </p:cNvPr>
            <p:cNvSpPr txBox="1"/>
            <p:nvPr/>
          </p:nvSpPr>
          <p:spPr>
            <a:xfrm>
              <a:off x="-332086" y="3705744"/>
              <a:ext cx="29725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chemeClr val="accent5"/>
                  </a:solidFill>
                </a:rPr>
                <a:t>current population size, as fraction of maximum possible size, 0…1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6A1448-CF84-E49F-AF0B-17FCA2917A7D}"/>
                </a:ext>
              </a:extLst>
            </p:cNvPr>
            <p:cNvSpPr txBox="1"/>
            <p:nvPr/>
          </p:nvSpPr>
          <p:spPr>
            <a:xfrm>
              <a:off x="1788688" y="2070705"/>
              <a:ext cx="29725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chemeClr val="accent6"/>
                  </a:solidFill>
                </a:rPr>
                <a:t>reproduction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9B301A6-6589-145E-ED6E-79E0AB10ABBA}"/>
                </a:ext>
              </a:extLst>
            </p:cNvPr>
            <p:cNvSpPr txBox="1"/>
            <p:nvPr/>
          </p:nvSpPr>
          <p:spPr>
            <a:xfrm>
              <a:off x="3281103" y="3142615"/>
              <a:ext cx="29725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rgbClr val="FF0000"/>
                  </a:solidFill>
                </a:rPr>
                <a:t>starvation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EA1A47E-F80C-2AEF-B0D6-DB98616CFD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4582" y="3121688"/>
              <a:ext cx="185092" cy="45633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Left Brace 25">
            <a:extLst>
              <a:ext uri="{FF2B5EF4-FFF2-40B4-BE49-F238E27FC236}">
                <a16:creationId xmlns:a16="http://schemas.microsoft.com/office/drawing/2014/main" id="{FA60FD0D-884D-C5B5-AEF3-B74E5CA8F3D4}"/>
              </a:ext>
            </a:extLst>
          </p:cNvPr>
          <p:cNvSpPr/>
          <p:nvPr/>
        </p:nvSpPr>
        <p:spPr>
          <a:xfrm rot="5400000">
            <a:off x="3653029" y="2052310"/>
            <a:ext cx="227058" cy="964215"/>
          </a:xfrm>
          <a:prstGeom prst="lef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32A7A8-4E49-6A2F-7DCD-0108DCC130E5}"/>
              </a:ext>
            </a:extLst>
          </p:cNvPr>
          <p:cNvSpPr txBox="1"/>
          <p:nvPr/>
        </p:nvSpPr>
        <p:spPr>
          <a:xfrm>
            <a:off x="3098008" y="3309268"/>
            <a:ext cx="1567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solidFill>
                  <a:schemeClr val="accent6"/>
                </a:solidFill>
              </a:rPr>
              <a:t>growth rate, 0…4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5DC5F06-F0A2-590E-B7BA-DC1CC5D6CBF5}"/>
              </a:ext>
            </a:extLst>
          </p:cNvPr>
          <p:cNvCxnSpPr>
            <a:cxnSpLocks/>
          </p:cNvCxnSpPr>
          <p:nvPr/>
        </p:nvCxnSpPr>
        <p:spPr>
          <a:xfrm flipH="1" flipV="1">
            <a:off x="3431704" y="3091227"/>
            <a:ext cx="149696" cy="21804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83C781-475F-CAA9-417C-26F5B33E9658}"/>
              </a:ext>
            </a:extLst>
          </p:cNvPr>
          <p:cNvSpPr txBox="1"/>
          <p:nvPr/>
        </p:nvSpPr>
        <p:spPr>
          <a:xfrm>
            <a:off x="8192630" y="6021288"/>
            <a:ext cx="2475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 err="1"/>
              <a:t>Current</a:t>
            </a:r>
            <a:r>
              <a:rPr lang="de-DE" sz="1800" dirty="0"/>
              <a:t> </a:t>
            </a:r>
            <a:r>
              <a:rPr lang="en-CH" sz="1800"/>
              <a:t>population size</a:t>
            </a:r>
            <a:r>
              <a:rPr lang="de-DE" sz="1800" dirty="0"/>
              <a:t> (e.g. # </a:t>
            </a:r>
            <a:r>
              <a:rPr lang="de-DE" sz="1800" dirty="0" err="1"/>
              <a:t>bunnies</a:t>
            </a:r>
            <a:r>
              <a:rPr lang="de-DE" sz="1800" dirty="0"/>
              <a:t> </a:t>
            </a:r>
            <a:r>
              <a:rPr lang="de-DE" dirty="0"/>
              <a:t>in 2026</a:t>
            </a:r>
            <a:r>
              <a:rPr lang="de-DE" sz="1800" dirty="0"/>
              <a:t>)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194D8A-D120-6623-BA75-672CD223C4D8}"/>
              </a:ext>
            </a:extLst>
          </p:cNvPr>
          <p:cNvSpPr txBox="1"/>
          <p:nvPr/>
        </p:nvSpPr>
        <p:spPr>
          <a:xfrm>
            <a:off x="5637038" y="4343694"/>
            <a:ext cx="17111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/>
              <a:t>Next </a:t>
            </a:r>
            <a:r>
              <a:rPr lang="en-CH" sz="1800"/>
              <a:t>population size</a:t>
            </a:r>
            <a:endParaRPr lang="de-DE" sz="1800" dirty="0"/>
          </a:p>
          <a:p>
            <a:pPr algn="ctr"/>
            <a:r>
              <a:rPr lang="de-DE" dirty="0"/>
              <a:t>(e.g. # </a:t>
            </a:r>
            <a:r>
              <a:rPr lang="de-DE" dirty="0" err="1"/>
              <a:t>bunnies</a:t>
            </a:r>
            <a:r>
              <a:rPr lang="de-DE" dirty="0"/>
              <a:t> in 2027)</a:t>
            </a:r>
            <a:endParaRPr lang="en-D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6B2025-81D6-49D8-FD61-33EEF66D7769}"/>
              </a:ext>
            </a:extLst>
          </p:cNvPr>
          <p:cNvCxnSpPr>
            <a:cxnSpLocks/>
          </p:cNvCxnSpPr>
          <p:nvPr/>
        </p:nvCxnSpPr>
        <p:spPr>
          <a:xfrm flipV="1">
            <a:off x="8616280" y="5805264"/>
            <a:ext cx="576064" cy="2880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361D5A-0FF3-AA8A-B5B3-5361B596DE0C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6492632" y="3846674"/>
            <a:ext cx="587775" cy="4970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023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131FB-0ECB-CB73-1DBE-02171884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3F138-3F75-7F1A-27A4-BC88AF92D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Excursion: Logistic </a:t>
            </a:r>
            <a:r>
              <a:rPr lang="en-US" dirty="0"/>
              <a:t>Map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4DFF5-043B-45DB-5F05-60055FF63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101"/>
            <a:ext cx="9372600" cy="5163773"/>
          </a:xfrm>
        </p:spPr>
        <p:txBody>
          <a:bodyPr>
            <a:normAutofit/>
          </a:bodyPr>
          <a:lstStyle/>
          <a:p>
            <a:r>
              <a:rPr lang="en-US" dirty="0"/>
              <a:t>Simple, discrete </a:t>
            </a:r>
            <a:r>
              <a:rPr lang="en-DE" dirty="0"/>
              <a:t>model for population growth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9D47C-77B1-8D01-65A6-176F471EE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BD1B1-929D-47B5-1269-1CDB1F91E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9EC67-16E6-74EB-D10D-82FF7659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2585" y="6338298"/>
            <a:ext cx="2743200" cy="365125"/>
          </a:xfrm>
        </p:spPr>
        <p:txBody>
          <a:bodyPr/>
          <a:lstStyle/>
          <a:p>
            <a:fld id="{EF79ADEA-B933-47CC-A4E9-04E6298B917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EB55DD-69C0-7D00-5FA7-D38D07FBBA37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7030A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2" name="Picture 31" descr="A picture containing lagomorph, mammal, standing, staring&#10;&#10;Description automatically generated">
            <a:extLst>
              <a:ext uri="{FF2B5EF4-FFF2-40B4-BE49-F238E27FC236}">
                <a16:creationId xmlns:a16="http://schemas.microsoft.com/office/drawing/2014/main" id="{F6A79E9D-4ACA-8D2D-D640-7327CBEF3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50" y="4818664"/>
            <a:ext cx="1870742" cy="16213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62553D-023F-9156-BE7E-1CCE85AB5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0423" y="1894907"/>
            <a:ext cx="4085457" cy="407137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A1FD4FC-9FE4-EA2A-B55C-8BBA51A17D14}"/>
              </a:ext>
            </a:extLst>
          </p:cNvPr>
          <p:cNvGrpSpPr/>
          <p:nvPr/>
        </p:nvGrpSpPr>
        <p:grpSpPr>
          <a:xfrm>
            <a:off x="223306" y="2040244"/>
            <a:ext cx="6585733" cy="2650702"/>
            <a:chOff x="-332086" y="2070705"/>
            <a:chExt cx="6585733" cy="2650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02F426C-207E-48B5-B0FD-F15E5C543A98}"/>
                    </a:ext>
                  </a:extLst>
                </p:cNvPr>
                <p:cNvSpPr txBox="1"/>
                <p:nvPr/>
              </p:nvSpPr>
              <p:spPr>
                <a:xfrm>
                  <a:off x="1239525" y="2541475"/>
                  <a:ext cx="4641031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3600" smtClean="0">
                            <a:latin typeface="Cambria Math" panose="020405030504060302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de-DE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360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de-DE" sz="3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e-DE" sz="3600" i="1" smtClean="0">
                            <a:ln>
                              <a:noFill/>
                            </a:ln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02F426C-207E-48B5-B0FD-F15E5C543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9525" y="2541475"/>
                  <a:ext cx="4641031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1639" b="-23077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05ED57-CFF2-A088-D8B4-66E82926B7C7}"/>
                </a:ext>
              </a:extLst>
            </p:cNvPr>
            <p:cNvSpPr txBox="1"/>
            <p:nvPr/>
          </p:nvSpPr>
          <p:spPr>
            <a:xfrm>
              <a:off x="-332086" y="3705744"/>
              <a:ext cx="29725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chemeClr val="accent5"/>
                  </a:solidFill>
                </a:rPr>
                <a:t>current population size, as fraction of maximum possible size, 0…1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A2740B7-B5E6-CB7F-DF2B-C1A652998679}"/>
                </a:ext>
              </a:extLst>
            </p:cNvPr>
            <p:cNvSpPr txBox="1"/>
            <p:nvPr/>
          </p:nvSpPr>
          <p:spPr>
            <a:xfrm>
              <a:off x="1788688" y="2070705"/>
              <a:ext cx="29725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chemeClr val="accent6"/>
                  </a:solidFill>
                </a:rPr>
                <a:t>reproduction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30B0150-02C0-255C-17C0-7B67F68DE120}"/>
                </a:ext>
              </a:extLst>
            </p:cNvPr>
            <p:cNvSpPr txBox="1"/>
            <p:nvPr/>
          </p:nvSpPr>
          <p:spPr>
            <a:xfrm>
              <a:off x="3281103" y="3142615"/>
              <a:ext cx="29725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rgbClr val="FF0000"/>
                  </a:solidFill>
                </a:rPr>
                <a:t>starvation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2F55953-5C78-7794-3B63-3BC670AA83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4582" y="3121688"/>
              <a:ext cx="185092" cy="45633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Left Brace 25">
            <a:extLst>
              <a:ext uri="{FF2B5EF4-FFF2-40B4-BE49-F238E27FC236}">
                <a16:creationId xmlns:a16="http://schemas.microsoft.com/office/drawing/2014/main" id="{CEFFEAFB-E3FE-46BA-F4E3-6BFD356F69D8}"/>
              </a:ext>
            </a:extLst>
          </p:cNvPr>
          <p:cNvSpPr/>
          <p:nvPr/>
        </p:nvSpPr>
        <p:spPr>
          <a:xfrm rot="5400000">
            <a:off x="3653029" y="2052310"/>
            <a:ext cx="227058" cy="964215"/>
          </a:xfrm>
          <a:prstGeom prst="lef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C26097-E895-B6B8-B390-83F4883657B4}"/>
              </a:ext>
            </a:extLst>
          </p:cNvPr>
          <p:cNvSpPr txBox="1"/>
          <p:nvPr/>
        </p:nvSpPr>
        <p:spPr>
          <a:xfrm>
            <a:off x="3098008" y="3309268"/>
            <a:ext cx="1567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solidFill>
                  <a:schemeClr val="accent6"/>
                </a:solidFill>
              </a:rPr>
              <a:t>growth rate, 0…4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EA2B813-78B3-5910-3ED6-4D000D3C7E30}"/>
              </a:ext>
            </a:extLst>
          </p:cNvPr>
          <p:cNvCxnSpPr>
            <a:cxnSpLocks/>
          </p:cNvCxnSpPr>
          <p:nvPr/>
        </p:nvCxnSpPr>
        <p:spPr>
          <a:xfrm flipH="1" flipV="1">
            <a:off x="3431704" y="3091227"/>
            <a:ext cx="149696" cy="21804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3E1BD54-8439-26F6-0B10-106426528A9B}"/>
              </a:ext>
            </a:extLst>
          </p:cNvPr>
          <p:cNvSpPr txBox="1"/>
          <p:nvPr/>
        </p:nvSpPr>
        <p:spPr>
          <a:xfrm>
            <a:off x="6528048" y="5601434"/>
            <a:ext cx="2518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solidFill>
                  <a:srgbClr val="00B050"/>
                </a:solidFill>
              </a:rPr>
              <a:t>reproduction</a:t>
            </a:r>
          </a:p>
          <a:p>
            <a:pPr algn="ctr"/>
            <a:r>
              <a:rPr lang="en-CH" sz="2000" dirty="0">
                <a:solidFill>
                  <a:srgbClr val="00B050"/>
                </a:solidFill>
              </a:rPr>
              <a:t>dominates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B2069-C0D2-AA18-3D08-0F0DD9BB765F}"/>
              </a:ext>
            </a:extLst>
          </p:cNvPr>
          <p:cNvSpPr/>
          <p:nvPr/>
        </p:nvSpPr>
        <p:spPr>
          <a:xfrm>
            <a:off x="7763109" y="2204864"/>
            <a:ext cx="769911" cy="3244856"/>
          </a:xfrm>
          <a:prstGeom prst="rect">
            <a:avLst/>
          </a:prstGeom>
          <a:solidFill>
            <a:srgbClr val="0ECC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76B69F-FDBE-6F61-FAFF-CC75C78CFE92}"/>
              </a:ext>
            </a:extLst>
          </p:cNvPr>
          <p:cNvSpPr/>
          <p:nvPr/>
        </p:nvSpPr>
        <p:spPr>
          <a:xfrm>
            <a:off x="10235716" y="2215458"/>
            <a:ext cx="769911" cy="3244856"/>
          </a:xfrm>
          <a:prstGeom prst="rect">
            <a:avLst/>
          </a:prstGeom>
          <a:solidFill>
            <a:srgbClr val="FF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F72F56-5BFB-0865-E360-6EBC37BEC478}"/>
              </a:ext>
            </a:extLst>
          </p:cNvPr>
          <p:cNvSpPr txBox="1"/>
          <p:nvPr/>
        </p:nvSpPr>
        <p:spPr>
          <a:xfrm>
            <a:off x="9914138" y="5601434"/>
            <a:ext cx="2518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solidFill>
                  <a:srgbClr val="FF0000"/>
                </a:solidFill>
              </a:rPr>
              <a:t>starvation</a:t>
            </a:r>
          </a:p>
          <a:p>
            <a:pPr algn="ctr"/>
            <a:r>
              <a:rPr lang="en-CH" sz="2000" dirty="0">
                <a:solidFill>
                  <a:srgbClr val="FF0000"/>
                </a:solidFill>
              </a:rPr>
              <a:t>dominates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0EE088-6323-40E4-992C-A537D5A704B5}"/>
              </a:ext>
            </a:extLst>
          </p:cNvPr>
          <p:cNvSpPr txBox="1"/>
          <p:nvPr/>
        </p:nvSpPr>
        <p:spPr>
          <a:xfrm>
            <a:off x="8192630" y="6021288"/>
            <a:ext cx="2475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 err="1"/>
              <a:t>Current</a:t>
            </a:r>
            <a:r>
              <a:rPr lang="de-DE" sz="1800" dirty="0"/>
              <a:t> </a:t>
            </a:r>
            <a:r>
              <a:rPr lang="en-CH" sz="1800"/>
              <a:t>population size</a:t>
            </a:r>
            <a:r>
              <a:rPr lang="de-DE" sz="1800" dirty="0"/>
              <a:t> (e.g. # </a:t>
            </a:r>
            <a:r>
              <a:rPr lang="de-DE" sz="1800" dirty="0" err="1"/>
              <a:t>bunnies</a:t>
            </a:r>
            <a:r>
              <a:rPr lang="de-DE" sz="1800" dirty="0"/>
              <a:t> </a:t>
            </a:r>
            <a:r>
              <a:rPr lang="de-DE" dirty="0"/>
              <a:t>in 2026</a:t>
            </a:r>
            <a:r>
              <a:rPr lang="de-DE" sz="1800" dirty="0"/>
              <a:t>)</a:t>
            </a:r>
            <a:endParaRPr lang="en-D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379D83-B235-4448-D66B-07B319582437}"/>
              </a:ext>
            </a:extLst>
          </p:cNvPr>
          <p:cNvSpPr txBox="1"/>
          <p:nvPr/>
        </p:nvSpPr>
        <p:spPr>
          <a:xfrm>
            <a:off x="5637038" y="4343694"/>
            <a:ext cx="17111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/>
              <a:t>Next </a:t>
            </a:r>
            <a:r>
              <a:rPr lang="en-CH" sz="1800"/>
              <a:t>population size</a:t>
            </a:r>
            <a:endParaRPr lang="de-DE" sz="1800" dirty="0"/>
          </a:p>
          <a:p>
            <a:pPr algn="ctr"/>
            <a:r>
              <a:rPr lang="de-DE" dirty="0"/>
              <a:t>(e.g. # </a:t>
            </a:r>
            <a:r>
              <a:rPr lang="de-DE" dirty="0" err="1"/>
              <a:t>bunnies</a:t>
            </a:r>
            <a:r>
              <a:rPr lang="de-DE" dirty="0"/>
              <a:t> in 2027)</a:t>
            </a:r>
            <a:endParaRPr lang="en-DE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986A2E-B60C-EA41-DD78-500264504732}"/>
              </a:ext>
            </a:extLst>
          </p:cNvPr>
          <p:cNvCxnSpPr>
            <a:cxnSpLocks/>
          </p:cNvCxnSpPr>
          <p:nvPr/>
        </p:nvCxnSpPr>
        <p:spPr>
          <a:xfrm flipV="1">
            <a:off x="8616280" y="5805264"/>
            <a:ext cx="576064" cy="2880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89B772C-2F3F-7DB4-7131-CAFE4112449D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6492632" y="3846674"/>
            <a:ext cx="587775" cy="4970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192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34788-7812-9B51-B328-4BA51A20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C2FF-FD48-3E4F-30D5-4F54E6DFF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Excursion: Logistic </a:t>
            </a:r>
            <a:r>
              <a:rPr lang="en-US" dirty="0"/>
              <a:t>Map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BBC75-B446-ABEB-98FD-6248D2883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101"/>
            <a:ext cx="9372600" cy="5163773"/>
          </a:xfrm>
        </p:spPr>
        <p:txBody>
          <a:bodyPr>
            <a:normAutofit/>
          </a:bodyPr>
          <a:lstStyle/>
          <a:p>
            <a:r>
              <a:rPr lang="en-US" dirty="0"/>
              <a:t>Simple, discrete </a:t>
            </a:r>
            <a:r>
              <a:rPr lang="en-DE" dirty="0"/>
              <a:t>model for population growth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2ACDA-6F1D-196A-5C49-2A2A7F3E3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8AA94-17B4-9A56-12E1-F8FB0B1B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F241D-5A37-78C5-7D99-3C58069D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2585" y="6338298"/>
            <a:ext cx="2743200" cy="365125"/>
          </a:xfrm>
        </p:spPr>
        <p:txBody>
          <a:bodyPr/>
          <a:lstStyle/>
          <a:p>
            <a:fld id="{EF79ADEA-B933-47CC-A4E9-04E6298B917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925212-C53C-E036-1975-2FC94AD9B8F5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7030A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2" name="Picture 31" descr="A picture containing lagomorph, mammal, standing, staring&#10;&#10;Description automatically generated">
            <a:extLst>
              <a:ext uri="{FF2B5EF4-FFF2-40B4-BE49-F238E27FC236}">
                <a16:creationId xmlns:a16="http://schemas.microsoft.com/office/drawing/2014/main" id="{D3026EB7-8E87-1D4F-744C-A96E09B59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50" y="4818664"/>
            <a:ext cx="1870742" cy="16213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6C31BB-05C7-DB4F-022E-8D2CCB92A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0423" y="1894907"/>
            <a:ext cx="4085457" cy="407137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1049422-5E4B-C8D8-0D92-A5146528C0CF}"/>
              </a:ext>
            </a:extLst>
          </p:cNvPr>
          <p:cNvGrpSpPr/>
          <p:nvPr/>
        </p:nvGrpSpPr>
        <p:grpSpPr>
          <a:xfrm>
            <a:off x="223306" y="2040244"/>
            <a:ext cx="6585733" cy="2650702"/>
            <a:chOff x="-332086" y="2070705"/>
            <a:chExt cx="6585733" cy="2650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32ACA98-030E-4D49-3071-1AF39097C6C1}"/>
                    </a:ext>
                  </a:extLst>
                </p:cNvPr>
                <p:cNvSpPr txBox="1"/>
                <p:nvPr/>
              </p:nvSpPr>
              <p:spPr>
                <a:xfrm>
                  <a:off x="1239525" y="2541475"/>
                  <a:ext cx="4641031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3600" smtClean="0">
                            <a:latin typeface="Cambria Math" panose="020405030504060302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de-DE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360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de-DE" sz="3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e-DE" sz="3600" i="1" smtClean="0">
                            <a:ln>
                              <a:noFill/>
                            </a:ln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32ACA98-030E-4D49-3071-1AF39097C6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9525" y="2541475"/>
                  <a:ext cx="4641031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1639" b="-23077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B2C4CEE-7C64-A7B7-CBE4-E06ABEEBF270}"/>
                </a:ext>
              </a:extLst>
            </p:cNvPr>
            <p:cNvSpPr txBox="1"/>
            <p:nvPr/>
          </p:nvSpPr>
          <p:spPr>
            <a:xfrm>
              <a:off x="-332086" y="3705744"/>
              <a:ext cx="29725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chemeClr val="accent5"/>
                  </a:solidFill>
                </a:rPr>
                <a:t>current population size, as fraction of maximum possible size, 0…1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75621A8-1232-31D4-7722-15679A0F5B18}"/>
                </a:ext>
              </a:extLst>
            </p:cNvPr>
            <p:cNvSpPr txBox="1"/>
            <p:nvPr/>
          </p:nvSpPr>
          <p:spPr>
            <a:xfrm>
              <a:off x="1788688" y="2070705"/>
              <a:ext cx="29725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chemeClr val="accent6"/>
                  </a:solidFill>
                </a:rPr>
                <a:t>reproduction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1E24560-B23C-5CAA-4D0D-B6C3F1DDE204}"/>
                </a:ext>
              </a:extLst>
            </p:cNvPr>
            <p:cNvSpPr txBox="1"/>
            <p:nvPr/>
          </p:nvSpPr>
          <p:spPr>
            <a:xfrm>
              <a:off x="3281103" y="3142615"/>
              <a:ext cx="29725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2000" dirty="0">
                  <a:solidFill>
                    <a:srgbClr val="FF0000"/>
                  </a:solidFill>
                </a:rPr>
                <a:t>starvation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4506D60-C0FD-9010-27A4-B64B296CD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4582" y="3121688"/>
              <a:ext cx="185092" cy="45633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Left Brace 25">
            <a:extLst>
              <a:ext uri="{FF2B5EF4-FFF2-40B4-BE49-F238E27FC236}">
                <a16:creationId xmlns:a16="http://schemas.microsoft.com/office/drawing/2014/main" id="{424CF822-2C12-BBED-1C48-392DFAF18C7A}"/>
              </a:ext>
            </a:extLst>
          </p:cNvPr>
          <p:cNvSpPr/>
          <p:nvPr/>
        </p:nvSpPr>
        <p:spPr>
          <a:xfrm rot="5400000">
            <a:off x="3653029" y="2052310"/>
            <a:ext cx="227058" cy="964215"/>
          </a:xfrm>
          <a:prstGeom prst="lef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F72DD1-DA63-84A9-5A77-7852448F62B5}"/>
              </a:ext>
            </a:extLst>
          </p:cNvPr>
          <p:cNvSpPr txBox="1"/>
          <p:nvPr/>
        </p:nvSpPr>
        <p:spPr>
          <a:xfrm>
            <a:off x="3098008" y="3309268"/>
            <a:ext cx="1567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solidFill>
                  <a:schemeClr val="accent6"/>
                </a:solidFill>
              </a:rPr>
              <a:t>growth rate, 0…4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BB499B1-3269-875F-07F1-52E7F44C3A80}"/>
              </a:ext>
            </a:extLst>
          </p:cNvPr>
          <p:cNvCxnSpPr>
            <a:cxnSpLocks/>
          </p:cNvCxnSpPr>
          <p:nvPr/>
        </p:nvCxnSpPr>
        <p:spPr>
          <a:xfrm flipH="1" flipV="1">
            <a:off x="3431704" y="3091227"/>
            <a:ext cx="149696" cy="21804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6C065923-7632-93A8-5099-F3A264D247DD}"/>
              </a:ext>
            </a:extLst>
          </p:cNvPr>
          <p:cNvSpPr/>
          <p:nvPr/>
        </p:nvSpPr>
        <p:spPr>
          <a:xfrm>
            <a:off x="8783742" y="4221088"/>
            <a:ext cx="195808" cy="1958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D1C906-6C4E-9BDC-2921-F85C9DFAB511}"/>
              </a:ext>
            </a:extLst>
          </p:cNvPr>
          <p:cNvSpPr txBox="1"/>
          <p:nvPr/>
        </p:nvSpPr>
        <p:spPr>
          <a:xfrm>
            <a:off x="8063571" y="3463240"/>
            <a:ext cx="1429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/>
              <a:t>fixed point</a:t>
            </a:r>
            <a:r>
              <a:rPr lang="de-DE" dirty="0"/>
              <a:t>:</a:t>
            </a:r>
          </a:p>
          <a:p>
            <a:pPr algn="ctr"/>
            <a:r>
              <a:rPr lang="de-DE" dirty="0"/>
              <a:t>x = f(x)</a:t>
            </a:r>
            <a:endParaRPr lang="en-CH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BBF9F3-98D8-BA08-57BE-4E17625D70DF}"/>
              </a:ext>
            </a:extLst>
          </p:cNvPr>
          <p:cNvSpPr txBox="1"/>
          <p:nvPr/>
        </p:nvSpPr>
        <p:spPr>
          <a:xfrm>
            <a:off x="8192630" y="6021288"/>
            <a:ext cx="2475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 err="1"/>
              <a:t>Current</a:t>
            </a:r>
            <a:r>
              <a:rPr lang="de-DE" sz="1800" dirty="0"/>
              <a:t> </a:t>
            </a:r>
            <a:r>
              <a:rPr lang="en-CH" sz="1800"/>
              <a:t>population size</a:t>
            </a:r>
            <a:r>
              <a:rPr lang="de-DE" sz="1800" dirty="0"/>
              <a:t> (e.g. # </a:t>
            </a:r>
            <a:r>
              <a:rPr lang="de-DE" sz="1800" dirty="0" err="1"/>
              <a:t>bunnies</a:t>
            </a:r>
            <a:r>
              <a:rPr lang="de-DE" sz="1800" dirty="0"/>
              <a:t> </a:t>
            </a:r>
            <a:r>
              <a:rPr lang="de-DE" dirty="0"/>
              <a:t>in 2026</a:t>
            </a:r>
            <a:r>
              <a:rPr lang="de-DE" sz="1800" dirty="0"/>
              <a:t>)</a:t>
            </a:r>
            <a:endParaRPr lang="en-DE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2AB198-05A6-B6F0-54AE-D33A508F4DC1}"/>
              </a:ext>
            </a:extLst>
          </p:cNvPr>
          <p:cNvSpPr txBox="1"/>
          <p:nvPr/>
        </p:nvSpPr>
        <p:spPr>
          <a:xfrm>
            <a:off x="5637038" y="4343694"/>
            <a:ext cx="17111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/>
              <a:t>Next </a:t>
            </a:r>
            <a:r>
              <a:rPr lang="en-CH" sz="1800"/>
              <a:t>population size</a:t>
            </a:r>
            <a:endParaRPr lang="de-DE" sz="1800" dirty="0"/>
          </a:p>
          <a:p>
            <a:pPr algn="ctr"/>
            <a:r>
              <a:rPr lang="de-DE" dirty="0"/>
              <a:t>(e.g. # </a:t>
            </a:r>
            <a:r>
              <a:rPr lang="de-DE" dirty="0" err="1"/>
              <a:t>bunnies</a:t>
            </a:r>
            <a:r>
              <a:rPr lang="de-DE" dirty="0"/>
              <a:t> in 2027)</a:t>
            </a:r>
            <a:endParaRPr lang="en-DE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65D91C-C616-60BD-1E07-A1DFA13B8AC3}"/>
              </a:ext>
            </a:extLst>
          </p:cNvPr>
          <p:cNvCxnSpPr>
            <a:cxnSpLocks/>
          </p:cNvCxnSpPr>
          <p:nvPr/>
        </p:nvCxnSpPr>
        <p:spPr>
          <a:xfrm flipV="1">
            <a:off x="8616280" y="5805264"/>
            <a:ext cx="576064" cy="2880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E762D1F-BD74-8943-E1AF-958997035086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6492632" y="3846674"/>
            <a:ext cx="587775" cy="4970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058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5CDB-6463-B741-94CA-651D1204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Excursion: </a:t>
            </a:r>
            <a:r>
              <a:rPr lang="en-DE"/>
              <a:t>Logistic </a:t>
            </a:r>
            <a:r>
              <a:rPr lang="en-US" dirty="0"/>
              <a:t>Map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28BE7-2DBF-E146-89FA-99BFF5729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102"/>
            <a:ext cx="9372600" cy="130333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baseline="-25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/>
              <a:t> : initial population size</a:t>
            </a:r>
          </a:p>
          <a:p>
            <a:r>
              <a:rPr lang="en-US" dirty="0"/>
              <a:t>Iterated function: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f(</a:t>
            </a:r>
            <a:r>
              <a:rPr lang="en-US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baseline="-250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)=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baseline="-25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-&gt;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f(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baseline="-25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)=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baseline="-25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-&gt;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f(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baseline="-25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)=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baseline="-250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0D210-69C2-254F-A712-34EDC8A34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F89F0-6046-F74F-9841-B0C36739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pic>
        <p:nvPicPr>
          <p:cNvPr id="11" name="Picture 10" descr="A picture containing lagomorph, mammal, standing, staring&#10;&#10;Description automatically generated">
            <a:extLst>
              <a:ext uri="{FF2B5EF4-FFF2-40B4-BE49-F238E27FC236}">
                <a16:creationId xmlns:a16="http://schemas.microsoft.com/office/drawing/2014/main" id="{877EADEF-8685-2644-9F1E-6EA1BE97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806" y="2861039"/>
            <a:ext cx="3624194" cy="3140968"/>
          </a:xfrm>
          <a:prstGeom prst="rect">
            <a:avLst/>
          </a:prstGeom>
        </p:spPr>
      </p:pic>
      <p:pic>
        <p:nvPicPr>
          <p:cNvPr id="16" name="Picture 15" descr="A picture containing text, diagram, line, screenshot&#10;&#10;Description automatically generated">
            <a:extLst>
              <a:ext uri="{FF2B5EF4-FFF2-40B4-BE49-F238E27FC236}">
                <a16:creationId xmlns:a16="http://schemas.microsoft.com/office/drawing/2014/main" id="{37D1FA22-A2CE-3169-7ABD-C47A3B6B59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79" y="2267115"/>
            <a:ext cx="4220883" cy="422088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CFA75-F217-2055-36C5-1C3548503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92BEBF-D6AF-8E10-0BDF-5567AA8784D1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7030A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B589D-950E-5BEF-49EE-BBC4421D7503}"/>
              </a:ext>
            </a:extLst>
          </p:cNvPr>
          <p:cNvSpPr txBox="1"/>
          <p:nvPr/>
        </p:nvSpPr>
        <p:spPr>
          <a:xfrm>
            <a:off x="5594541" y="3548038"/>
            <a:ext cx="11825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converges</a:t>
            </a:r>
          </a:p>
          <a:p>
            <a:pPr algn="ctr"/>
            <a:r>
              <a:rPr lang="en-CH" dirty="0"/>
              <a:t>to fixed point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150851-CF1C-DD3D-6623-17B091B761BA}"/>
              </a:ext>
            </a:extLst>
          </p:cNvPr>
          <p:cNvCxnSpPr>
            <a:cxnSpLocks/>
          </p:cNvCxnSpPr>
          <p:nvPr/>
        </p:nvCxnSpPr>
        <p:spPr>
          <a:xfrm flipH="1" flipV="1">
            <a:off x="5327848" y="4009703"/>
            <a:ext cx="264096" cy="648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A355F2-C424-E5FD-397E-92195BC47DBA}"/>
              </a:ext>
            </a:extLst>
          </p:cNvPr>
          <p:cNvSpPr txBox="1"/>
          <p:nvPr/>
        </p:nvSpPr>
        <p:spPr>
          <a:xfrm>
            <a:off x="456073" y="6002007"/>
            <a:ext cx="2475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/>
              <a:t>Time (e.g. </a:t>
            </a:r>
            <a:r>
              <a:rPr lang="de-DE" sz="1800" dirty="0" err="1"/>
              <a:t>year</a:t>
            </a:r>
            <a:r>
              <a:rPr lang="de-DE" sz="1800" dirty="0"/>
              <a:t>)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7E5683-DE79-9A1E-8082-FF31B4374540}"/>
              </a:ext>
            </a:extLst>
          </p:cNvPr>
          <p:cNvSpPr txBox="1"/>
          <p:nvPr/>
        </p:nvSpPr>
        <p:spPr>
          <a:xfrm>
            <a:off x="191344" y="3211484"/>
            <a:ext cx="17111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/>
              <a:t>P</a:t>
            </a:r>
            <a:r>
              <a:rPr lang="en-CH" sz="1800"/>
              <a:t>opulation size</a:t>
            </a:r>
            <a:endParaRPr lang="de-DE" sz="1800" dirty="0"/>
          </a:p>
          <a:p>
            <a:pPr algn="ctr"/>
            <a:r>
              <a:rPr lang="de-DE" dirty="0"/>
              <a:t>(e.g. # </a:t>
            </a:r>
            <a:r>
              <a:rPr lang="de-DE" dirty="0" err="1"/>
              <a:t>bunnies</a:t>
            </a:r>
            <a:r>
              <a:rPr lang="de-DE" dirty="0"/>
              <a:t>)</a:t>
            </a:r>
            <a:endParaRPr lang="en-D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43DA15-E32C-680C-71B4-424314D2BBF1}"/>
              </a:ext>
            </a:extLst>
          </p:cNvPr>
          <p:cNvCxnSpPr>
            <a:cxnSpLocks/>
          </p:cNvCxnSpPr>
          <p:nvPr/>
        </p:nvCxnSpPr>
        <p:spPr>
          <a:xfrm flipV="1">
            <a:off x="2495600" y="6035163"/>
            <a:ext cx="579859" cy="1515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E6B6D2-8B9E-6A47-B9F8-9CB64A542565}"/>
              </a:ext>
            </a:extLst>
          </p:cNvPr>
          <p:cNvCxnSpPr>
            <a:cxnSpLocks/>
          </p:cNvCxnSpPr>
          <p:nvPr/>
        </p:nvCxnSpPr>
        <p:spPr>
          <a:xfrm>
            <a:off x="1271464" y="3933056"/>
            <a:ext cx="252536" cy="3128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56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5CDB-6463-B741-94CA-651D1204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Excursion: Logistic </a:t>
            </a:r>
            <a:r>
              <a:rPr lang="en-US" dirty="0"/>
              <a:t>Map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0D210-69C2-254F-A712-34EDC8A34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F89F0-6046-F74F-9841-B0C36739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A385C-57F5-080C-4FAA-BCB410C3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54F2A-E86C-FB7E-F27E-F1A82ABFFE2A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7030A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611F94-433F-DEA1-55CC-29D537117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63" y="2692781"/>
            <a:ext cx="3337670" cy="33931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004A2D-D345-7665-0A89-AB0B70AC0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038" y="2692782"/>
            <a:ext cx="3241144" cy="33931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AF072E-4307-0F8A-15E6-51FC2501DB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1387" y="2692782"/>
            <a:ext cx="3399189" cy="34200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D950B68-8A91-8F32-29E6-11FED3AFD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102"/>
            <a:ext cx="10442376" cy="1303337"/>
          </a:xfrm>
        </p:spPr>
        <p:txBody>
          <a:bodyPr>
            <a:normAutofit/>
          </a:bodyPr>
          <a:lstStyle/>
          <a:p>
            <a:r>
              <a:rPr lang="en-US" dirty="0"/>
              <a:t>Different </a:t>
            </a:r>
            <a:r>
              <a:rPr lang="en-US" b="1" dirty="0">
                <a:solidFill>
                  <a:schemeClr val="accent6"/>
                </a:solidFill>
              </a:rPr>
              <a:t>growth rates</a:t>
            </a:r>
            <a:r>
              <a:rPr lang="en-US" dirty="0"/>
              <a:t> lead to a variety of population dynamics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3B643C-B1F0-6CB7-E5F9-AE72FBFBB113}"/>
              </a:ext>
            </a:extLst>
          </p:cNvPr>
          <p:cNvSpPr txBox="1"/>
          <p:nvPr/>
        </p:nvSpPr>
        <p:spPr>
          <a:xfrm>
            <a:off x="1703512" y="1916832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/>
              <a:t>Convergence </a:t>
            </a:r>
            <a:br>
              <a:rPr lang="en-CH" sz="2000" dirty="0"/>
            </a:br>
            <a:r>
              <a:rPr lang="en-CH" sz="2000" dirty="0"/>
              <a:t>to fix point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C03CDC-A205-EC88-B6DC-186694191D3C}"/>
              </a:ext>
            </a:extLst>
          </p:cNvPr>
          <p:cNvSpPr txBox="1"/>
          <p:nvPr/>
        </p:nvSpPr>
        <p:spPr>
          <a:xfrm>
            <a:off x="5267908" y="1924553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/>
              <a:t>Convergence </a:t>
            </a:r>
            <a:br>
              <a:rPr lang="en-CH" sz="2000" dirty="0"/>
            </a:br>
            <a:r>
              <a:rPr lang="en-CH" sz="2000" dirty="0"/>
              <a:t>to oscillations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B61CB5-7677-EA2D-0A2C-BF25EDCF899E}"/>
              </a:ext>
            </a:extLst>
          </p:cNvPr>
          <p:cNvSpPr txBox="1"/>
          <p:nvPr/>
        </p:nvSpPr>
        <p:spPr>
          <a:xfrm>
            <a:off x="8832304" y="1970833"/>
            <a:ext cx="19484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/>
              <a:t>Chaos</a:t>
            </a:r>
          </a:p>
        </p:txBody>
      </p:sp>
    </p:spTree>
    <p:extLst>
      <p:ext uri="{BB962C8B-B14F-4D97-AF65-F5344CB8AC3E}">
        <p14:creationId xmlns:p14="http://schemas.microsoft.com/office/powerpoint/2010/main" val="634765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attern, colorfulness, yellow, art&#10;&#10;Description automatically generated">
            <a:extLst>
              <a:ext uri="{FF2B5EF4-FFF2-40B4-BE49-F238E27FC236}">
                <a16:creationId xmlns:a16="http://schemas.microsoft.com/office/drawing/2014/main" id="{08982044-ECAE-B07E-B258-2345477C02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" b="1740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97280" y="325550"/>
            <a:ext cx="100584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Testing patterns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r>
              <a:rPr lang="en-US">
                <a:solidFill>
                  <a:srgbClr val="FFFFFF"/>
                </a:solidFill>
                <a:latin typeface="Calibri" panose="020F0502020204030204"/>
              </a:rPr>
              <a:t>June 2023, CC BY-SA 4.0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r>
              <a:rPr lang="en-US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Testing scientific code, v15.0</a:t>
            </a:r>
          </a:p>
        </p:txBody>
      </p:sp>
    </p:spTree>
    <p:extLst>
      <p:ext uri="{BB962C8B-B14F-4D97-AF65-F5344CB8AC3E}">
        <p14:creationId xmlns:p14="http://schemas.microsoft.com/office/powerpoint/2010/main" val="2958440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does a good test look like? What should I test?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772816"/>
            <a:ext cx="10515600" cy="4404147"/>
          </a:xfrm>
        </p:spPr>
        <p:txBody>
          <a:bodyPr>
            <a:normAutofit/>
          </a:bodyPr>
          <a:lstStyle/>
          <a:p>
            <a:r>
              <a:rPr lang="en-US" b="1" dirty="0"/>
              <a:t>Good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Short and quick to execute</a:t>
            </a:r>
          </a:p>
          <a:p>
            <a:pPr lvl="1"/>
            <a:r>
              <a:rPr lang="en-US" dirty="0"/>
              <a:t>Easy to read</a:t>
            </a:r>
          </a:p>
          <a:p>
            <a:pPr lvl="1"/>
            <a:r>
              <a:rPr lang="en-US" dirty="0"/>
              <a:t>Tests </a:t>
            </a:r>
            <a:r>
              <a:rPr lang="en-US" i="1" dirty="0"/>
              <a:t>one</a:t>
            </a:r>
            <a:r>
              <a:rPr lang="en-US" dirty="0"/>
              <a:t> thing</a:t>
            </a:r>
          </a:p>
          <a:p>
            <a:r>
              <a:rPr lang="en-US" b="1" dirty="0"/>
              <a:t>Bad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Relies on data files</a:t>
            </a:r>
          </a:p>
          <a:p>
            <a:pPr lvl="1"/>
            <a:r>
              <a:rPr lang="en-US" dirty="0"/>
              <a:t>Messes with “real-life” files, servers, databases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ED024E-D2EB-5A00-FFC3-698FD8C6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8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structure of test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/>
              <a:t>Given</a:t>
            </a:r>
            <a:r>
              <a:rPr lang="en-US" dirty="0"/>
              <a:t>: Put your system in the right state for testing</a:t>
            </a:r>
          </a:p>
          <a:p>
            <a:pPr lvl="2"/>
            <a:r>
              <a:rPr lang="en-US" dirty="0"/>
              <a:t>Create data, initialize parameters, define constants…</a:t>
            </a:r>
          </a:p>
          <a:p>
            <a:pPr marL="274320" lvl="1" indent="0">
              <a:buNone/>
            </a:pPr>
            <a:endParaRPr lang="en-US" b="1" dirty="0"/>
          </a:p>
          <a:p>
            <a:pPr marL="274320" lvl="1" indent="0">
              <a:buNone/>
            </a:pPr>
            <a:endParaRPr lang="en-US" b="1" dirty="0"/>
          </a:p>
          <a:p>
            <a:pPr lvl="1"/>
            <a:r>
              <a:rPr lang="en-US" b="1" dirty="0"/>
              <a:t>When</a:t>
            </a:r>
            <a:r>
              <a:rPr lang="en-US" dirty="0"/>
              <a:t>: Execute the feature that you are testing</a:t>
            </a:r>
          </a:p>
          <a:p>
            <a:pPr lvl="2"/>
            <a:r>
              <a:rPr lang="en-US" dirty="0"/>
              <a:t>Typically, one or two lines of code</a:t>
            </a:r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Then</a:t>
            </a:r>
            <a:r>
              <a:rPr lang="en-US" dirty="0"/>
              <a:t>: Compare outcomes with the expected ones</a:t>
            </a:r>
          </a:p>
          <a:p>
            <a:pPr lvl="2"/>
            <a:r>
              <a:rPr lang="en-US" dirty="0"/>
              <a:t>Define the expected result of the test</a:t>
            </a:r>
          </a:p>
          <a:p>
            <a:pPr lvl="2"/>
            <a:r>
              <a:rPr lang="en-US" dirty="0"/>
              <a:t>Set of </a:t>
            </a:r>
            <a:r>
              <a:rPr lang="en-US" i="1" dirty="0"/>
              <a:t>assertions</a:t>
            </a:r>
            <a:r>
              <a:rPr lang="en-US" dirty="0"/>
              <a:t> that check that the new state of your system matches your expectations</a:t>
            </a:r>
          </a:p>
          <a:p>
            <a:pPr lvl="2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60ED96-FCDE-40D4-DD96-4939244C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727B1FF5-08FC-0D67-AFC3-0F33322044D5}"/>
              </a:ext>
            </a:extLst>
          </p:cNvPr>
          <p:cNvSpPr/>
          <p:nvPr/>
        </p:nvSpPr>
        <p:spPr>
          <a:xfrm>
            <a:off x="4583832" y="2276872"/>
            <a:ext cx="1368152" cy="648072"/>
          </a:xfrm>
          <a:prstGeom prst="downArrow">
            <a:avLst/>
          </a:prstGeom>
          <a:solidFill>
            <a:schemeClr val="accent6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55FC2EE3-C335-8318-569C-CE53FEB11493}"/>
              </a:ext>
            </a:extLst>
          </p:cNvPr>
          <p:cNvSpPr/>
          <p:nvPr/>
        </p:nvSpPr>
        <p:spPr>
          <a:xfrm>
            <a:off x="4583832" y="3789040"/>
            <a:ext cx="1368152" cy="648072"/>
          </a:xfrm>
          <a:prstGeom prst="downArrow">
            <a:avLst/>
          </a:prstGeom>
          <a:solidFill>
            <a:schemeClr val="accent6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84042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Test simple </a:t>
            </a:r>
            <a:r>
              <a:rPr lang="en-US" dirty="0"/>
              <a:t>but general cases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with simple, general case</a:t>
            </a:r>
          </a:p>
          <a:p>
            <a:pPr lvl="1"/>
            <a:r>
              <a:rPr lang="en-US" dirty="0"/>
              <a:t>Take a realistic scenario for your code, try to reduce it to the simplest example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Example: Tests for ‘lower’ method of strings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ACF074-A0CD-BB3A-45FC-7D220B28A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87180" y="3404335"/>
            <a:ext cx="421764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Given</a:t>
            </a:r>
            <a:br>
              <a:rPr lang="en-US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string = </a:t>
            </a:r>
            <a:r>
              <a:rPr lang="en-US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US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wOrld</a:t>
            </a:r>
            <a:r>
              <a:rPr lang="en-US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expected = </a:t>
            </a:r>
            <a:r>
              <a:rPr lang="en-US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'hello world'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When</a:t>
            </a:r>
            <a:br>
              <a:rPr lang="en-US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output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string.lower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Then</a:t>
            </a:r>
            <a:br>
              <a:rPr lang="en-US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output == expected</a:t>
            </a:r>
          </a:p>
        </p:txBody>
      </p:sp>
    </p:spTree>
    <p:extLst>
      <p:ext uri="{BB962C8B-B14F-4D97-AF65-F5344CB8AC3E}">
        <p14:creationId xmlns:p14="http://schemas.microsoft.com/office/powerpoint/2010/main" val="3034021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Test special cases and boundary conditions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268760"/>
            <a:ext cx="10515600" cy="5224115"/>
          </a:xfrm>
        </p:spPr>
        <p:txBody>
          <a:bodyPr>
            <a:normAutofit/>
          </a:bodyPr>
          <a:lstStyle/>
          <a:p>
            <a:r>
              <a:rPr lang="en-US" sz="2100" dirty="0"/>
              <a:t>Code often breaks in corner cases: empty lists, None, </a:t>
            </a:r>
            <a:r>
              <a:rPr lang="en-US" sz="2100" dirty="0" err="1"/>
              <a:t>NaN</a:t>
            </a:r>
            <a:r>
              <a:rPr lang="en-US" sz="2100" dirty="0"/>
              <a:t>, 0.0, lists with repeated elements, non-existing file, …</a:t>
            </a:r>
          </a:p>
          <a:p>
            <a:r>
              <a:rPr lang="en-US" sz="2100" dirty="0"/>
              <a:t>This often involves making design decision: handle corner case with special behavior, or raise a meaningful exception?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02D98E-09CB-3DCA-1A19-BAA74EF2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184948" y="2770165"/>
            <a:ext cx="3822104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00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test_lower_empty_string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Given</a:t>
            </a:r>
            <a:br>
              <a:rPr lang="en-US" sz="14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string = </a:t>
            </a:r>
            <a:r>
              <a:rPr lang="en-US" sz="1400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''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expected = </a:t>
            </a:r>
            <a:r>
              <a:rPr lang="en-US" sz="1400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''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When</a:t>
            </a:r>
            <a:br>
              <a:rPr lang="en-US" sz="14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output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string.lower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Then</a:t>
            </a:r>
            <a:br>
              <a:rPr lang="en-US" sz="14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7F00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output == expected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838200" y="5245534"/>
            <a:ext cx="8229600" cy="12241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/>
              <a:t>Other good corner cases for </a:t>
            </a:r>
            <a:r>
              <a:rPr lang="en-US" sz="2100" dirty="0" err="1"/>
              <a:t>string.lower</a:t>
            </a:r>
            <a:r>
              <a:rPr lang="en-US" sz="2100" dirty="0"/>
              <a:t>(): </a:t>
            </a:r>
          </a:p>
          <a:p>
            <a:pPr lvl="1"/>
            <a:r>
              <a:rPr lang="en-US" sz="1900" dirty="0"/>
              <a:t>‘do-nothing case’:   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string = 'hi'</a:t>
            </a:r>
          </a:p>
          <a:p>
            <a:pPr lvl="1"/>
            <a:r>
              <a:rPr lang="en-US" sz="1900" dirty="0"/>
              <a:t>symbols:                    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string = '123 (!'</a:t>
            </a:r>
          </a:p>
          <a:p>
            <a:pPr lvl="1"/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00787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BBA8E-D663-42ED-4AEC-A8300C500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Similar testcases</a:t>
            </a:r>
          </a:p>
        </p:txBody>
      </p:sp>
      <p:pic>
        <p:nvPicPr>
          <p:cNvPr id="12" name="Content Placeholder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01642AF-0DDA-498E-1D96-D4A077B33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511" y="1124744"/>
            <a:ext cx="3505200" cy="25654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14FAA-A65F-26AC-AB0D-9D9480C5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27A34-B252-2EEB-B237-0B4857260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14AD9-0ADC-9B96-B033-47319EA1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5512C4-EA26-FB1E-D632-315A8A4A65EC}"/>
              </a:ext>
            </a:extLst>
          </p:cNvPr>
          <p:cNvSpPr txBox="1"/>
          <p:nvPr/>
        </p:nvSpPr>
        <p:spPr>
          <a:xfrm>
            <a:off x="3049929" y="-2814801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72FC245-7F80-58E9-D8E1-2C7531D32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2"/>
          <a:stretch>
            <a:fillRect/>
          </a:stretch>
        </p:blipFill>
        <p:spPr>
          <a:xfrm>
            <a:off x="5369875" y="1124744"/>
            <a:ext cx="3441700" cy="2565400"/>
          </a:xfrm>
          <a:prstGeom prst="rect">
            <a:avLst/>
          </a:prstGeom>
        </p:spPr>
      </p:pic>
      <p:pic>
        <p:nvPicPr>
          <p:cNvPr id="16" name="Picture 1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2E57B94-F5FA-0156-3956-B667ADD3CB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849836"/>
            <a:ext cx="3924300" cy="2603500"/>
          </a:xfrm>
          <a:prstGeom prst="rect">
            <a:avLst/>
          </a:prstGeom>
        </p:spPr>
      </p:pic>
      <p:pic>
        <p:nvPicPr>
          <p:cNvPr id="18" name="Picture 1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0DF12F7-112C-0EBD-00A3-D831E743B4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875" y="3830786"/>
            <a:ext cx="3568700" cy="26416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A464F0C-D179-3FA7-8BD0-4E171E6F62F7}"/>
              </a:ext>
            </a:extLst>
          </p:cNvPr>
          <p:cNvSpPr/>
          <p:nvPr/>
        </p:nvSpPr>
        <p:spPr>
          <a:xfrm>
            <a:off x="1559496" y="2708920"/>
            <a:ext cx="2664296" cy="288032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7C653A-574F-7F0B-C434-AE2B685F3650}"/>
              </a:ext>
            </a:extLst>
          </p:cNvPr>
          <p:cNvSpPr/>
          <p:nvPr/>
        </p:nvSpPr>
        <p:spPr>
          <a:xfrm>
            <a:off x="5758577" y="2708920"/>
            <a:ext cx="2664296" cy="288032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156B0F-17E2-02F5-116B-C45EE29CE979}"/>
              </a:ext>
            </a:extLst>
          </p:cNvPr>
          <p:cNvSpPr/>
          <p:nvPr/>
        </p:nvSpPr>
        <p:spPr>
          <a:xfrm>
            <a:off x="1622502" y="5434012"/>
            <a:ext cx="2664296" cy="288032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EC0ECA-6DD3-C4AB-1E34-40BDB35DB2D2}"/>
              </a:ext>
            </a:extLst>
          </p:cNvPr>
          <p:cNvSpPr/>
          <p:nvPr/>
        </p:nvSpPr>
        <p:spPr>
          <a:xfrm>
            <a:off x="5822077" y="5456276"/>
            <a:ext cx="2664296" cy="288032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6125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51384" y="365125"/>
            <a:ext cx="11017224" cy="903635"/>
          </a:xfrm>
          <a:noFill/>
        </p:spPr>
        <p:txBody>
          <a:bodyPr>
            <a:normAutofit fontScale="90000"/>
          </a:bodyPr>
          <a:lstStyle/>
          <a:p>
            <a:r>
              <a:rPr lang="en-US" dirty="0"/>
              <a:t>Common for-loop pattern for testing multiple cases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268760"/>
            <a:ext cx="10515600" cy="4908203"/>
          </a:xfrm>
        </p:spPr>
        <p:txBody>
          <a:bodyPr>
            <a:normAutofit/>
          </a:bodyPr>
          <a:lstStyle/>
          <a:p>
            <a:r>
              <a:rPr lang="en-US" dirty="0"/>
              <a:t>Often these cases are collected in a single test:</a:t>
            </a:r>
            <a:endParaRPr lang="en-US" sz="21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D0D331-E35D-BCDB-57EC-7A583846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79576" y="2076811"/>
            <a:ext cx="6755344" cy="32932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pl-PL" sz="1600" dirty="0">
                <a:solidFill>
                  <a:srgbClr val="7F00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test_lower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  <a:b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pl-PL" sz="1600" dirty="0" err="1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Given</a:t>
            </a:r>
            <a:b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pl-PL" sz="1600" dirty="0" err="1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Each</a:t>
            </a:r>
            <a: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test </a:t>
            </a:r>
            <a:r>
              <a:rPr lang="pl-PL" sz="1600" dirty="0" err="1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case</a:t>
            </a:r>
            <a: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sz="1600" dirty="0" err="1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pl-PL" sz="1600" dirty="0" err="1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tuple</a:t>
            </a:r>
            <a: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of (</a:t>
            </a:r>
            <a:r>
              <a:rPr lang="pl-PL" sz="1600" dirty="0" err="1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  <a: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l-PL" sz="1600" dirty="0" err="1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expected_result</a:t>
            </a:r>
            <a: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pl-PL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test_cases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[(</a:t>
            </a:r>
            <a:r>
              <a:rPr lang="pl-PL" sz="1600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pl-PL" sz="1600" dirty="0" err="1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pl-PL" sz="1600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sz="1600" dirty="0" err="1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wOrld</a:t>
            </a:r>
            <a:r>
              <a:rPr lang="pl-PL" sz="1600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l-PL" sz="1600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'hello </a:t>
            </a:r>
            <a:r>
              <a:rPr lang="pl-PL" sz="1600" dirty="0" err="1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world</a:t>
            </a:r>
            <a:r>
              <a:rPr lang="pl-PL" sz="1600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b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  (</a:t>
            </a:r>
            <a:r>
              <a:rPr lang="pl-PL" sz="1600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'hi'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l-PL" sz="1600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'hi'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b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  (</a:t>
            </a:r>
            <a:r>
              <a:rPr lang="pl-PL" sz="1600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'123 ([?'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l-PL" sz="1600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'123 ([?'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b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  (</a:t>
            </a:r>
            <a:r>
              <a:rPr lang="pl-PL" sz="1600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''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l-PL" sz="1600" dirty="0">
                <a:solidFill>
                  <a:srgbClr val="8B225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''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)]</a:t>
            </a:r>
            <a:b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pl-PL" sz="1600" dirty="0">
                <a:solidFill>
                  <a:srgbClr val="7F00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string, </a:t>
            </a:r>
            <a:r>
              <a:rPr lang="pl-PL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expected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sz="1600" dirty="0">
                <a:solidFill>
                  <a:srgbClr val="7F00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test_cases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pl-PL" sz="1600" dirty="0" err="1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When</a:t>
            </a:r>
            <a:b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pl-PL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l-PL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string.lower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Then</a:t>
            </a:r>
            <a:br>
              <a:rPr lang="pl-PL" sz="1600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pl-PL" sz="1600" dirty="0" err="1">
                <a:solidFill>
                  <a:srgbClr val="7F00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l-PL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pl-PL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pl-PL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expected</a:t>
            </a:r>
            <a:endParaRPr lang="pl-PL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18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Discuss!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0B0981-2C87-9AA3-39A9-191599CBF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Take a look at the logistic map</a:t>
            </a:r>
          </a:p>
          <a:p>
            <a:r>
              <a:rPr lang="en-CH" dirty="0"/>
              <a:t>or, in Python</a:t>
            </a:r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r>
              <a:rPr lang="en-CH" dirty="0"/>
              <a:t>What should we test?</a:t>
            </a:r>
          </a:p>
          <a:p>
            <a:pPr lvl="1"/>
            <a:r>
              <a:rPr lang="en-CH" dirty="0"/>
              <a:t>Generic cases</a:t>
            </a:r>
          </a:p>
          <a:p>
            <a:pPr lvl="1"/>
            <a:r>
              <a:rPr lang="en-CH" dirty="0"/>
              <a:t>Corner cases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C1100-0F29-412E-1D73-36A6D9B4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0C0E68-7AC2-DD4C-BE07-D1DA700766ED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00B05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E584B1-58C5-E623-7C5F-0103E21E286C}"/>
                  </a:ext>
                </a:extLst>
              </p:cNvPr>
              <p:cNvSpPr txBox="1"/>
              <p:nvPr/>
            </p:nvSpPr>
            <p:spPr>
              <a:xfrm>
                <a:off x="5663952" y="1373085"/>
                <a:ext cx="464103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360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de-DE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DE" sz="3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e-DE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de-DE" sz="3600" i="1" smtClean="0">
                          <a:solidFill>
                            <a:srgbClr val="0ECC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36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de-DE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de-DE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E584B1-58C5-E623-7C5F-0103E21E2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1373085"/>
                <a:ext cx="4641031" cy="646331"/>
              </a:xfrm>
              <a:prstGeom prst="rect">
                <a:avLst/>
              </a:prstGeom>
              <a:blipFill>
                <a:blip r:embed="rId3"/>
                <a:stretch>
                  <a:fillRect l="-1362" b="-23529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89581F4-A085-BBD5-ABF9-F41140A8BE75}"/>
              </a:ext>
            </a:extLst>
          </p:cNvPr>
          <p:cNvSpPr txBox="1"/>
          <p:nvPr/>
        </p:nvSpPr>
        <p:spPr>
          <a:xfrm>
            <a:off x="1416596" y="2695441"/>
            <a:ext cx="93588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D961E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(x, r):</a:t>
            </a: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US" i="1" dirty="0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""" Compute the logistic map for a given value of x and r. """</a:t>
            </a:r>
            <a:endParaRPr lang="en-US" dirty="0">
              <a:solidFill>
                <a:srgbClr val="9FA0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US" b="1" dirty="0">
                <a:solidFill>
                  <a:srgbClr val="2D961E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 * x *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 x)</a:t>
            </a:r>
          </a:p>
        </p:txBody>
      </p:sp>
    </p:spTree>
    <p:extLst>
      <p:ext uri="{BB962C8B-B14F-4D97-AF65-F5344CB8AC3E}">
        <p14:creationId xmlns:p14="http://schemas.microsoft.com/office/powerpoint/2010/main" val="1188288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1!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0B0981-2C87-9AA3-39A9-191599CBF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760"/>
            <a:ext cx="10730408" cy="4908203"/>
          </a:xfrm>
        </p:spPr>
        <p:txBody>
          <a:bodyPr>
            <a:normAutofit/>
          </a:bodyPr>
          <a:lstStyle/>
          <a:p>
            <a:r>
              <a:rPr lang="en-CH" sz="2400" dirty="0"/>
              <a:t>In the 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testing_</a:t>
            </a:r>
            <a:r>
              <a:rPr lang="en-CH" sz="2000">
                <a:latin typeface="Consolas" panose="020B0609020204030204" pitchFamily="49" charset="0"/>
                <a:cs typeface="Consolas" panose="020B0609020204030204" pitchFamily="49" charset="0"/>
              </a:rPr>
              <a:t>project </a:t>
            </a:r>
            <a:r>
              <a:rPr lang="de-DE" sz="2400" dirty="0" err="1"/>
              <a:t>folder</a:t>
            </a:r>
            <a:r>
              <a:rPr lang="en-CH" sz="2400"/>
              <a:t>, </a:t>
            </a:r>
            <a:r>
              <a:rPr lang="en-CH" sz="2400" dirty="0"/>
              <a:t>open the file 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logistic.py </a:t>
            </a:r>
            <a:r>
              <a:rPr lang="en-CH" sz="2400" dirty="0"/>
              <a:t>and implement the logistic function,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0BD9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(x, r)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2400" dirty="0"/>
              <a:t>Find  </a:t>
            </a:r>
            <a:r>
              <a:rPr lang="de-DE" sz="2400" dirty="0" err="1"/>
              <a:t>the</a:t>
            </a:r>
            <a:r>
              <a:rPr lang="en-CH" sz="2400"/>
              <a:t> 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test_logistic.</a:t>
            </a:r>
            <a:r>
              <a:rPr lang="en-CH" sz="2000">
                <a:latin typeface="Consolas" panose="020B0609020204030204" pitchFamily="49" charset="0"/>
                <a:cs typeface="Consolas" panose="020B0609020204030204" pitchFamily="49" charset="0"/>
              </a:rPr>
              <a:t>py</a:t>
            </a:r>
            <a:r>
              <a:rPr lang="en-CH" sz="2400"/>
              <a:t> </a:t>
            </a:r>
            <a:r>
              <a:rPr lang="de-DE" sz="2400" dirty="0" err="1"/>
              <a:t>file</a:t>
            </a:r>
            <a:r>
              <a:rPr lang="de-DE" sz="2400" dirty="0"/>
              <a:t>. W</a:t>
            </a:r>
            <a:r>
              <a:rPr lang="en-CH" sz="2400"/>
              <a:t>e </a:t>
            </a:r>
            <a:r>
              <a:rPr lang="de-DE" sz="2400" dirty="0" err="1"/>
              <a:t>have</a:t>
            </a:r>
            <a:r>
              <a:rPr lang="de-DE" sz="2400" dirty="0"/>
              <a:t> </a:t>
            </a:r>
            <a:r>
              <a:rPr lang="en-CH" sz="2400"/>
              <a:t>already </a:t>
            </a:r>
            <a:r>
              <a:rPr lang="en-CH" sz="2400" dirty="0"/>
              <a:t>added a reference test for these </a:t>
            </a:r>
            <a:r>
              <a:rPr lang="en-CH" sz="2400" b="1" dirty="0"/>
              <a:t>corner</a:t>
            </a:r>
            <a:r>
              <a:rPr lang="en-CH" sz="2400" dirty="0"/>
              <a:t> </a:t>
            </a:r>
            <a:r>
              <a:rPr lang="en-CH" sz="2400" b="1" dirty="0"/>
              <a:t>cases</a:t>
            </a:r>
            <a:r>
              <a:rPr lang="en-CH" sz="2400" dirty="0"/>
              <a:t>:</a:t>
            </a:r>
          </a:p>
          <a:p>
            <a:pPr lvl="1"/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x=0, r=1.1 =&gt; f(x, r)=0</a:t>
            </a:r>
          </a:p>
          <a:p>
            <a:pPr lvl="1"/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x=1, r=3.7 =&gt; f(x, r)=0</a:t>
            </a:r>
          </a:p>
          <a:p>
            <a:endParaRPr lang="en-CH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H" sz="2400" dirty="0"/>
              <a:t>Add a new test for these </a:t>
            </a:r>
            <a:r>
              <a:rPr lang="en-CH" sz="2400" b="1" dirty="0"/>
              <a:t>generic</a:t>
            </a:r>
            <a:r>
              <a:rPr lang="en-CH" sz="2400" dirty="0"/>
              <a:t> </a:t>
            </a:r>
            <a:r>
              <a:rPr lang="en-CH" sz="2400" b="1" dirty="0"/>
              <a:t>cases</a:t>
            </a:r>
            <a:r>
              <a:rPr lang="en-CH" sz="2400" dirty="0"/>
              <a:t> using the for-loop pattern:</a:t>
            </a:r>
          </a:p>
          <a:p>
            <a:pPr lvl="1"/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x=0.1, r=2.2 =&gt; f(x, r)=0.198</a:t>
            </a:r>
          </a:p>
          <a:p>
            <a:pPr lvl="1"/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x=0.2, r=3.4 =&gt; f(x, r)=0.544</a:t>
            </a:r>
          </a:p>
          <a:p>
            <a:pPr lvl="1"/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x=0.5, r=2   =&gt; f(x, r)=0.5</a:t>
            </a:r>
            <a:b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GB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CH" sz="2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C1100-0F29-412E-1D73-36A6D9B4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0C0E68-7AC2-DD4C-BE07-D1DA700766ED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00B05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2790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0F5FE-64F9-7515-3D6B-EBC064AC5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The for-loop pattern can be improved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5202A-2D6A-E117-3B1C-B907E43CC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784"/>
            <a:ext cx="10946432" cy="4692179"/>
          </a:xfrm>
        </p:spPr>
        <p:txBody>
          <a:bodyPr/>
          <a:lstStyle/>
          <a:p>
            <a:r>
              <a:rPr lang="en-CH" dirty="0"/>
              <a:t>It is repetitive to write the for-loop pattern</a:t>
            </a:r>
          </a:p>
          <a:p>
            <a:r>
              <a:rPr lang="en-CH" dirty="0"/>
              <a:t>If </a:t>
            </a:r>
            <a:r>
              <a:rPr lang="en-CH" b="1" dirty="0"/>
              <a:t>one of the </a:t>
            </a:r>
            <a:r>
              <a:rPr lang="en-CH" b="1"/>
              <a:t>cases break</a:t>
            </a:r>
            <a:r>
              <a:rPr lang="de-DE" b="1" dirty="0"/>
              <a:t>s</a:t>
            </a:r>
            <a:r>
              <a:rPr lang="en-CH"/>
              <a:t>, </a:t>
            </a:r>
            <a:r>
              <a:rPr lang="en-CH" dirty="0"/>
              <a:t>it can be complicated to figure out </a:t>
            </a:r>
            <a:r>
              <a:rPr lang="en-CH" b="1" dirty="0"/>
              <a:t>which one</a:t>
            </a:r>
          </a:p>
          <a:p>
            <a:endParaRPr lang="en-CH" dirty="0"/>
          </a:p>
          <a:p>
            <a:r>
              <a:rPr lang="en-CH" dirty="0"/>
              <a:t>pytest has many helpers for </a:t>
            </a:r>
            <a:r>
              <a:rPr lang="en-CH" b="1" dirty="0"/>
              <a:t>simplifying</a:t>
            </a:r>
            <a:r>
              <a:rPr lang="en-CH" dirty="0"/>
              <a:t> common testing cases!</a:t>
            </a:r>
          </a:p>
          <a:p>
            <a:r>
              <a:rPr lang="en-CH" dirty="0"/>
              <a:t>One of them is the </a:t>
            </a:r>
            <a:r>
              <a:rPr lang="en-CH" sz="2400" dirty="0">
                <a:solidFill>
                  <a:srgbClr val="0EC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parametrize</a:t>
            </a:r>
            <a:r>
              <a:rPr lang="en-CH" dirty="0"/>
              <a:t> decorator, that simplifies running the same test with multiple cases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423B6-B56C-1900-F1A5-56D1EB71A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4690F-4E68-F97D-6EBE-30FC5A1FC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47188-3B13-06EB-9F82-871B4BFE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37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E794D-A816-DE2E-02DB-4A3DAF98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sz="4000" dirty="0"/>
              <a:t>Simple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8F6C7-272E-E0E7-2AC1-0E5DBFF2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EEAF1-BFE1-C024-C5A6-9C47CF4D4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9D674-EF65-B7C3-39FF-36B62119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3BC2E-FBCF-9F57-C77B-6FBF5880DAA5}"/>
              </a:ext>
            </a:extLst>
          </p:cNvPr>
          <p:cNvSpPr txBox="1"/>
          <p:nvPr/>
        </p:nvSpPr>
        <p:spPr>
          <a:xfrm>
            <a:off x="2209800" y="1988840"/>
            <a:ext cx="4176464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000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test_for_loop_simple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  <a:b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cases = [</a:t>
            </a:r>
            <a:r>
              <a:rPr lang="en-US" sz="20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en-US" sz="20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 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cases:</a:t>
            </a:r>
            <a:b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 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 &gt; </a:t>
            </a:r>
            <a:r>
              <a:rPr lang="en-US" sz="20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sz="2000" dirty="0">
              <a:solidFill>
                <a:srgbClr val="080808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BF7551-7805-163B-38E8-F962B1237ECB}"/>
              </a:ext>
            </a:extLst>
          </p:cNvPr>
          <p:cNvSpPr txBox="1"/>
          <p:nvPr/>
        </p:nvSpPr>
        <p:spPr>
          <a:xfrm>
            <a:off x="7320137" y="2132856"/>
            <a:ext cx="2952328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test_for_loop_simple </a:t>
            </a:r>
            <a:r>
              <a:rPr lang="en-US" dirty="0">
                <a:effectLst/>
                <a:cs typeface="Consolas" panose="020B0609020204030204" pitchFamily="49" charset="0"/>
              </a:rPr>
              <a:t>runs once and loops over </a:t>
            </a:r>
            <a:br>
              <a:rPr lang="en-US" dirty="0">
                <a:effectLst/>
                <a:cs typeface="Consolas" panose="020B0609020204030204" pitchFamily="49" charset="0"/>
              </a:rPr>
            </a:br>
            <a:r>
              <a:rPr lang="en-US" dirty="0">
                <a:effectLst/>
                <a:cs typeface="Consolas" panose="020B0609020204030204" pitchFamily="49" charset="0"/>
              </a:rPr>
              <a:t>3 test cases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815362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E794D-A816-DE2E-02DB-4A3DAF98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H" dirty="0"/>
              <a:t>Simple example, with the </a:t>
            </a:r>
            <a:r>
              <a:rPr lang="en-CH" sz="3600" dirty="0">
                <a:latin typeface="Consolas" panose="020B0609020204030204" pitchFamily="49" charset="0"/>
                <a:cs typeface="Consolas" panose="020B0609020204030204" pitchFamily="49" charset="0"/>
              </a:rPr>
              <a:t>parametrize</a:t>
            </a:r>
            <a:r>
              <a:rPr lang="en-CH" dirty="0"/>
              <a:t> decorator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8F6C7-272E-E0E7-2AC1-0E5DBFF2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EEAF1-BFE1-C024-C5A6-9C47CF4D4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9D674-EF65-B7C3-39FF-36B62119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93A7B59-26C6-8C38-31F3-3B009E499158}"/>
              </a:ext>
            </a:extLst>
          </p:cNvPr>
          <p:cNvGrpSpPr/>
          <p:nvPr/>
        </p:nvGrpSpPr>
        <p:grpSpPr>
          <a:xfrm>
            <a:off x="838200" y="1461736"/>
            <a:ext cx="7357351" cy="2407123"/>
            <a:chOff x="1446094" y="1628799"/>
            <a:chExt cx="7357351" cy="2407123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761D3C2-DB03-9E54-E028-33A0201FC56D}"/>
                </a:ext>
              </a:extLst>
            </p:cNvPr>
            <p:cNvSpPr txBox="1"/>
            <p:nvPr/>
          </p:nvSpPr>
          <p:spPr>
            <a:xfrm>
              <a:off x="1446094" y="2665858"/>
              <a:ext cx="5401816" cy="9233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9E880D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@pytest.mark.parametrize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dirty="0">
                  <a:solidFill>
                    <a:srgbClr val="067D17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'a'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, [</a:t>
              </a:r>
              <a:r>
                <a:rPr lang="en-US" dirty="0">
                  <a:solidFill>
                    <a:srgbClr val="1750EB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1750EB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1750EB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])</a:t>
              </a:r>
              <a:b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dirty="0">
                  <a:solidFill>
                    <a:srgbClr val="0033B3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def </a:t>
              </a:r>
              <a:r>
                <a:rPr lang="en-US" dirty="0">
                  <a:solidFill>
                    <a:srgbClr val="00627A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test_parametrize_simple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(a):</a:t>
              </a:r>
              <a:b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en-US" dirty="0">
                  <a:solidFill>
                    <a:srgbClr val="0033B3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assert 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 &gt; </a:t>
              </a:r>
              <a:r>
                <a:rPr lang="en-US" dirty="0">
                  <a:solidFill>
                    <a:srgbClr val="1750EB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F27CDAF-679E-E135-6A71-B40F854313E6}"/>
                </a:ext>
              </a:extLst>
            </p:cNvPr>
            <p:cNvCxnSpPr>
              <a:cxnSpLocks/>
            </p:cNvCxnSpPr>
            <p:nvPr/>
          </p:nvCxnSpPr>
          <p:spPr>
            <a:xfrm>
              <a:off x="4625516" y="2363885"/>
              <a:ext cx="246348" cy="3195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077640E-7040-62CE-B277-1AE30619A30A}"/>
                </a:ext>
              </a:extLst>
            </p:cNvPr>
            <p:cNvSpPr txBox="1"/>
            <p:nvPr/>
          </p:nvSpPr>
          <p:spPr>
            <a:xfrm>
              <a:off x="2537284" y="1628800"/>
              <a:ext cx="2088232" cy="64633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H" dirty="0"/>
                <a:t>Name of the variable that varies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291E4FA-51C1-7C7F-4EA8-6C9954DD3F8C}"/>
                </a:ext>
              </a:extLst>
            </p:cNvPr>
            <p:cNvSpPr txBox="1"/>
            <p:nvPr/>
          </p:nvSpPr>
          <p:spPr>
            <a:xfrm>
              <a:off x="5417604" y="1628799"/>
              <a:ext cx="2088232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H" dirty="0"/>
                <a:t>List of values for the variable 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82568498-58E3-2FC5-07CB-B4472D61E5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7864" y="2321816"/>
              <a:ext cx="76873" cy="29735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C3533D4-CD8C-94FC-CA14-A816A501E3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53608" y="3191501"/>
              <a:ext cx="1147484" cy="2374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143AA68-4511-712D-264A-722F67CB0763}"/>
                </a:ext>
              </a:extLst>
            </p:cNvPr>
            <p:cNvSpPr txBox="1"/>
            <p:nvPr/>
          </p:nvSpPr>
          <p:spPr>
            <a:xfrm>
              <a:off x="6601092" y="3112592"/>
              <a:ext cx="2202353" cy="92333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H" dirty="0"/>
                <a:t>The test must take an argument </a:t>
              </a:r>
              <a:r>
                <a:rPr lang="en-US" dirty="0"/>
                <a:t>with </a:t>
              </a:r>
              <a:r>
                <a:rPr lang="en-CH" dirty="0"/>
                <a:t>the same name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ACF188F-A6EB-3502-DB76-BAE372AAE7DA}"/>
              </a:ext>
            </a:extLst>
          </p:cNvPr>
          <p:cNvSpPr txBox="1"/>
          <p:nvPr/>
        </p:nvSpPr>
        <p:spPr>
          <a:xfrm>
            <a:off x="8760296" y="2108067"/>
            <a:ext cx="316835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test_parametrize_simple </a:t>
            </a:r>
            <a:r>
              <a:rPr lang="en-US" dirty="0">
                <a:effectLst/>
                <a:cs typeface="Consolas" panose="020B0609020204030204" pitchFamily="49" charset="0"/>
              </a:rPr>
              <a:t>runs </a:t>
            </a:r>
            <a:r>
              <a:rPr lang="en-US" dirty="0">
                <a:cs typeface="Consolas" panose="020B0609020204030204" pitchFamily="49" charset="0"/>
              </a:rPr>
              <a:t>3 times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effectLst/>
                <a:cs typeface="Consolas" panose="020B0609020204030204" pitchFamily="49" charset="0"/>
              </a:rPr>
              <a:t>with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en-US" dirty="0">
                <a:effectLst/>
                <a:cs typeface="Consolas" panose="020B0609020204030204" pitchFamily="49" charset="0"/>
              </a:rPr>
              <a:t>a=1, a=2, and a=3 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400826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E794D-A816-DE2E-02DB-4A3DAF98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H" dirty="0"/>
              <a:t>Simple example, with the </a:t>
            </a:r>
            <a:r>
              <a:rPr lang="en-CH" sz="3600" dirty="0">
                <a:latin typeface="Consolas" panose="020B0609020204030204" pitchFamily="49" charset="0"/>
                <a:cs typeface="Consolas" panose="020B0609020204030204" pitchFamily="49" charset="0"/>
              </a:rPr>
              <a:t>parametrize</a:t>
            </a:r>
            <a:r>
              <a:rPr lang="en-CH" dirty="0"/>
              <a:t> decorator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8F6C7-272E-E0E7-2AC1-0E5DBFF2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EEAF1-BFE1-C024-C5A6-9C47CF4D4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9D674-EF65-B7C3-39FF-36B62119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AA7F531-1E60-26D4-D8B8-80BB48A50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63" y="4268852"/>
            <a:ext cx="8051471" cy="1752436"/>
          </a:xfrm>
          <a:prstGeom prst="rect">
            <a:avLst/>
          </a:prstGeom>
        </p:spPr>
      </p:pic>
      <p:sp>
        <p:nvSpPr>
          <p:cNvPr id="42" name="Right Brace 41">
            <a:extLst>
              <a:ext uri="{FF2B5EF4-FFF2-40B4-BE49-F238E27FC236}">
                <a16:creationId xmlns:a16="http://schemas.microsoft.com/office/drawing/2014/main" id="{3E3DBCEC-FBBC-4CDC-AEC1-938C8BAE2F92}"/>
              </a:ext>
            </a:extLst>
          </p:cNvPr>
          <p:cNvSpPr/>
          <p:nvPr/>
        </p:nvSpPr>
        <p:spPr>
          <a:xfrm>
            <a:off x="9037134" y="5192821"/>
            <a:ext cx="144016" cy="60833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BC458D-303D-2CC4-EAA9-F70C964BAF86}"/>
              </a:ext>
            </a:extLst>
          </p:cNvPr>
          <p:cNvSpPr txBox="1"/>
          <p:nvPr/>
        </p:nvSpPr>
        <p:spPr>
          <a:xfrm>
            <a:off x="9336360" y="5035323"/>
            <a:ext cx="248772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pytest automatically creates one separate test for each test case</a:t>
            </a:r>
            <a:endParaRPr lang="en-CH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6437CD-7873-482E-22C2-9A04128538DC}"/>
              </a:ext>
            </a:extLst>
          </p:cNvPr>
          <p:cNvGrpSpPr/>
          <p:nvPr/>
        </p:nvGrpSpPr>
        <p:grpSpPr>
          <a:xfrm>
            <a:off x="838200" y="1461736"/>
            <a:ext cx="7357351" cy="2407123"/>
            <a:chOff x="1446094" y="1628799"/>
            <a:chExt cx="7357351" cy="240712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74055E-0549-CFCA-2B05-612F9BE6A389}"/>
                </a:ext>
              </a:extLst>
            </p:cNvPr>
            <p:cNvSpPr txBox="1"/>
            <p:nvPr/>
          </p:nvSpPr>
          <p:spPr>
            <a:xfrm>
              <a:off x="1446094" y="2665858"/>
              <a:ext cx="5401816" cy="9233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9E880D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@pytest.mark.parametrize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dirty="0">
                  <a:solidFill>
                    <a:srgbClr val="067D17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'a'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, [</a:t>
              </a:r>
              <a:r>
                <a:rPr lang="en-US" dirty="0">
                  <a:solidFill>
                    <a:srgbClr val="1750EB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1750EB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1750EB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])</a:t>
              </a:r>
              <a:b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dirty="0">
                  <a:solidFill>
                    <a:srgbClr val="0033B3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def </a:t>
              </a:r>
              <a:r>
                <a:rPr lang="en-US" dirty="0">
                  <a:solidFill>
                    <a:srgbClr val="00627A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test_parametrize_simple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(a):</a:t>
              </a:r>
              <a:b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en-US" dirty="0">
                  <a:solidFill>
                    <a:srgbClr val="0033B3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assert </a:t>
              </a:r>
              <a:r>
                <a:rPr lang="en-US" dirty="0">
                  <a:solidFill>
                    <a:srgbClr val="080808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a &gt; </a:t>
              </a:r>
              <a:r>
                <a:rPr lang="en-US" dirty="0">
                  <a:solidFill>
                    <a:srgbClr val="1750EB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D2C74A2-2658-FF0E-5AEC-96EA5C7B4CB3}"/>
                </a:ext>
              </a:extLst>
            </p:cNvPr>
            <p:cNvCxnSpPr>
              <a:cxnSpLocks/>
            </p:cNvCxnSpPr>
            <p:nvPr/>
          </p:nvCxnSpPr>
          <p:spPr>
            <a:xfrm>
              <a:off x="4625516" y="2363885"/>
              <a:ext cx="246348" cy="3195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CD723FC-F062-08FD-B7C8-C2D8E2C5D8B8}"/>
                </a:ext>
              </a:extLst>
            </p:cNvPr>
            <p:cNvSpPr txBox="1"/>
            <p:nvPr/>
          </p:nvSpPr>
          <p:spPr>
            <a:xfrm>
              <a:off x="2537284" y="1628800"/>
              <a:ext cx="2088232" cy="64633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H" dirty="0"/>
                <a:t>Name of the variable that varies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2802A0A-147A-C3D6-007F-7CF013B03839}"/>
                </a:ext>
              </a:extLst>
            </p:cNvPr>
            <p:cNvSpPr txBox="1"/>
            <p:nvPr/>
          </p:nvSpPr>
          <p:spPr>
            <a:xfrm>
              <a:off x="5417604" y="1628799"/>
              <a:ext cx="2088232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H" dirty="0"/>
                <a:t>List of values for </a:t>
              </a:r>
              <a:r>
                <a:rPr lang="en-CH"/>
                <a:t>the variable </a:t>
              </a:r>
              <a:endParaRPr lang="en-CH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D69B765-A835-F243-6E43-0EE6C52B5B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7864" y="2321816"/>
              <a:ext cx="76873" cy="29735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55F8220-23F6-94FC-5844-6D2F267D08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53608" y="3191501"/>
              <a:ext cx="1147484" cy="2374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BBB4F6E-973B-4013-A196-32392FF504A5}"/>
                </a:ext>
              </a:extLst>
            </p:cNvPr>
            <p:cNvSpPr txBox="1"/>
            <p:nvPr/>
          </p:nvSpPr>
          <p:spPr>
            <a:xfrm>
              <a:off x="6601092" y="3112592"/>
              <a:ext cx="2202353" cy="92333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H" dirty="0"/>
                <a:t>The test must take an argument </a:t>
              </a:r>
              <a:r>
                <a:rPr lang="en-US" dirty="0"/>
                <a:t>with </a:t>
              </a:r>
              <a:r>
                <a:rPr lang="en-CH" dirty="0"/>
                <a:t>the same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8152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E794D-A816-DE2E-02DB-4A3DAF98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sz="4000" dirty="0"/>
              <a:t>Example with multiple values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1AE312-03C8-E972-96D9-41CD5B514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sz="2800" dirty="0"/>
              <a:t>This is a more typical case with several input values and the expected result of the test</a:t>
            </a:r>
          </a:p>
          <a:p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8F6C7-272E-E0E7-2AC1-0E5DBFF2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EEAF1-BFE1-C024-C5A6-9C47CF4D4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9D674-EF65-B7C3-39FF-36B62119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3BC2E-FBCF-9F57-C77B-6FBF5880DAA5}"/>
              </a:ext>
            </a:extLst>
          </p:cNvPr>
          <p:cNvSpPr txBox="1"/>
          <p:nvPr/>
        </p:nvSpPr>
        <p:spPr>
          <a:xfrm>
            <a:off x="1559496" y="2780928"/>
            <a:ext cx="4968552" cy="25545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000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test_for_loop_multiple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  <a:b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cases = [</a:t>
            </a:r>
          </a:p>
          <a:p>
            <a:r>
              <a:rPr lang="en-US" sz="20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'hi'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'hi’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 </a:t>
            </a:r>
          </a:p>
          <a:p>
            <a:r>
              <a:rPr lang="en-US" sz="20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'no'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'nono’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a, b, expected </a:t>
            </a:r>
            <a:r>
              <a:rPr lang="en-US" sz="20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 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cases:</a:t>
            </a:r>
            <a:b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result = b * a</a:t>
            </a:r>
            <a:b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 </a:t>
            </a:r>
            <a:r>
              <a:rPr lang="en-US" sz="20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 == expected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332EB8-8D2A-C235-AD6A-7D30A0BDCE11}"/>
              </a:ext>
            </a:extLst>
          </p:cNvPr>
          <p:cNvSpPr txBox="1"/>
          <p:nvPr/>
        </p:nvSpPr>
        <p:spPr>
          <a:xfrm>
            <a:off x="7608168" y="3462152"/>
            <a:ext cx="2952328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test_for_loop_multiple </a:t>
            </a:r>
            <a:r>
              <a:rPr lang="en-US" dirty="0">
                <a:effectLst/>
                <a:cs typeface="Consolas" panose="020B0609020204030204" pitchFamily="49" charset="0"/>
              </a:rPr>
              <a:t>runs once and loops over </a:t>
            </a:r>
            <a:br>
              <a:rPr lang="en-US" dirty="0">
                <a:effectLst/>
                <a:cs typeface="Consolas" panose="020B0609020204030204" pitchFamily="49" charset="0"/>
              </a:rPr>
            </a:br>
            <a:r>
              <a:rPr lang="en-US" dirty="0">
                <a:effectLst/>
                <a:cs typeface="Consolas" panose="020B0609020204030204" pitchFamily="49" charset="0"/>
              </a:rPr>
              <a:t>2 test cases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687390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BE7448E-924B-25D5-F1A9-59F0A8D09B54}"/>
              </a:ext>
            </a:extLst>
          </p:cNvPr>
          <p:cNvSpPr txBox="1"/>
          <p:nvPr/>
        </p:nvSpPr>
        <p:spPr>
          <a:xfrm>
            <a:off x="2351584" y="1298460"/>
            <a:ext cx="2744836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H" dirty="0"/>
              <a:t>Name of all the variables, separated by commas in one string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E794D-A816-DE2E-02DB-4A3DAF98F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47"/>
          </a:xfrm>
        </p:spPr>
        <p:txBody>
          <a:bodyPr>
            <a:normAutofit fontScale="90000"/>
          </a:bodyPr>
          <a:lstStyle/>
          <a:p>
            <a:r>
              <a:rPr lang="en-CH" dirty="0"/>
              <a:t>Same example, with the </a:t>
            </a:r>
            <a:r>
              <a:rPr lang="en-CH" sz="3600" dirty="0">
                <a:latin typeface="Consolas" panose="020B0609020204030204" pitchFamily="49" charset="0"/>
                <a:cs typeface="Consolas" panose="020B0609020204030204" pitchFamily="49" charset="0"/>
              </a:rPr>
              <a:t>parametrize</a:t>
            </a:r>
            <a:r>
              <a:rPr lang="en-CH" dirty="0"/>
              <a:t> decorator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8F6C7-272E-E0E7-2AC1-0E5DBFF2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EEAF1-BFE1-C024-C5A6-9C47CF4D4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9D674-EF65-B7C3-39FF-36B62119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82E506-A5E0-59CB-3649-19071CBB58B5}"/>
              </a:ext>
            </a:extLst>
          </p:cNvPr>
          <p:cNvSpPr txBox="1"/>
          <p:nvPr/>
        </p:nvSpPr>
        <p:spPr>
          <a:xfrm>
            <a:off x="719372" y="2372878"/>
            <a:ext cx="10515600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@pytest.mark.parametrize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'a, b, expected'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[(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'hi'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'hi'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 (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'no'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'nono'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)])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test_parametrize_multiple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(a, b, expected):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 = b * a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 == expected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D739A1-3EE3-98D5-EB71-C9B0113EA853}"/>
              </a:ext>
            </a:extLst>
          </p:cNvPr>
          <p:cNvCxnSpPr>
            <a:cxnSpLocks/>
          </p:cNvCxnSpPr>
          <p:nvPr/>
        </p:nvCxnSpPr>
        <p:spPr>
          <a:xfrm>
            <a:off x="4209703" y="2043198"/>
            <a:ext cx="246348" cy="3195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DAD8B00-AA66-799E-37F5-2BC4CF42C728}"/>
              </a:ext>
            </a:extLst>
          </p:cNvPr>
          <p:cNvCxnSpPr>
            <a:cxnSpLocks/>
          </p:cNvCxnSpPr>
          <p:nvPr/>
        </p:nvCxnSpPr>
        <p:spPr>
          <a:xfrm flipH="1" flipV="1">
            <a:off x="6672064" y="2872187"/>
            <a:ext cx="2592288" cy="5568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65AC81B-7620-F8C6-AF9D-35B30B2A3F12}"/>
              </a:ext>
            </a:extLst>
          </p:cNvPr>
          <p:cNvSpPr txBox="1"/>
          <p:nvPr/>
        </p:nvSpPr>
        <p:spPr>
          <a:xfrm>
            <a:off x="9480376" y="2828835"/>
            <a:ext cx="2202353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H" dirty="0"/>
              <a:t>The test must take arguments </a:t>
            </a:r>
            <a:r>
              <a:rPr lang="en-US" dirty="0"/>
              <a:t>with </a:t>
            </a:r>
            <a:r>
              <a:rPr lang="en-CH" dirty="0"/>
              <a:t>the same names as in the string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D9E6F6-98CB-0334-CC81-C99F39A1E774}"/>
              </a:ext>
            </a:extLst>
          </p:cNvPr>
          <p:cNvSpPr txBox="1"/>
          <p:nvPr/>
        </p:nvSpPr>
        <p:spPr>
          <a:xfrm>
            <a:off x="7735951" y="1268760"/>
            <a:ext cx="2744836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H" dirty="0"/>
              <a:t>List of tuples with the values for each varialbe, one for each test case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DD66B0-D24F-A2A4-DA2A-6EC9C3EBF1E6}"/>
              </a:ext>
            </a:extLst>
          </p:cNvPr>
          <p:cNvCxnSpPr>
            <a:cxnSpLocks/>
          </p:cNvCxnSpPr>
          <p:nvPr/>
        </p:nvCxnSpPr>
        <p:spPr>
          <a:xfrm flipH="1">
            <a:off x="8407451" y="2105573"/>
            <a:ext cx="76873" cy="2973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A2DC6DB-8546-C1A7-7502-19199937B470}"/>
              </a:ext>
            </a:extLst>
          </p:cNvPr>
          <p:cNvSpPr txBox="1"/>
          <p:nvPr/>
        </p:nvSpPr>
        <p:spPr>
          <a:xfrm>
            <a:off x="4299858" y="4626513"/>
            <a:ext cx="3592283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test_parametrize_multiple </a:t>
            </a:r>
            <a:r>
              <a:rPr lang="en-US" dirty="0">
                <a:effectLst/>
                <a:cs typeface="Consolas" panose="020B0609020204030204" pitchFamily="49" charset="0"/>
              </a:rPr>
              <a:t>runs 2</a:t>
            </a:r>
            <a:r>
              <a:rPr lang="en-US" dirty="0">
                <a:cs typeface="Consolas" panose="020B0609020204030204" pitchFamily="49" charset="0"/>
              </a:rPr>
              <a:t> times </a:t>
            </a:r>
            <a:r>
              <a:rPr lang="en-US" dirty="0">
                <a:effectLst/>
                <a:cs typeface="Consolas" panose="020B0609020204030204" pitchFamily="49" charset="0"/>
              </a:rPr>
              <a:t>with</a:t>
            </a:r>
            <a:r>
              <a:rPr lang="en-US" dirty="0">
                <a:cs typeface="Consolas" panose="020B0609020204030204" pitchFamily="49" charset="0"/>
              </a:rPr>
              <a:t>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1) </a:t>
            </a:r>
            <a:r>
              <a:rPr lang="en-US" sz="16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a=1  b=‘hi’ expected=‘hi’</a:t>
            </a:r>
          </a:p>
          <a:p>
            <a:r>
              <a:rPr lang="en-US" dirty="0">
                <a:cs typeface="Consolas" panose="020B0609020204030204" pitchFamily="49" charset="0"/>
              </a:rPr>
              <a:t>and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2) a=2 b=‘no’, expected=‘nono’</a:t>
            </a:r>
            <a:endParaRPr lang="en-CH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776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ED7A5C-D181-4AD7-BBBC-A6220A9C80F7}"/>
              </a:ext>
            </a:extLst>
          </p:cNvPr>
          <p:cNvSpPr txBox="1"/>
          <p:nvPr/>
        </p:nvSpPr>
        <p:spPr>
          <a:xfrm>
            <a:off x="719372" y="2372878"/>
            <a:ext cx="10515600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@pytest.mark.parametrize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'a, b, expected'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[(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'hi'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'hi'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 (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'no'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800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nono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)])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test_parametrize_multiple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(a, b, expected):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 = b * a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 == expected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139183-50A2-88EE-7D41-9F1003546DEE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t="1615" b="-1615"/>
          <a:stretch/>
        </p:blipFill>
        <p:spPr>
          <a:xfrm>
            <a:off x="766285" y="4377806"/>
            <a:ext cx="8523555" cy="18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5E794D-A816-DE2E-02DB-4A3DAF98F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47"/>
          </a:xfrm>
        </p:spPr>
        <p:txBody>
          <a:bodyPr>
            <a:normAutofit fontScale="90000"/>
          </a:bodyPr>
          <a:lstStyle/>
          <a:p>
            <a:r>
              <a:rPr lang="en-CH" dirty="0"/>
              <a:t>Same example, with the </a:t>
            </a:r>
            <a:r>
              <a:rPr lang="en-CH" sz="3600" dirty="0">
                <a:latin typeface="Consolas" panose="020B0609020204030204" pitchFamily="49" charset="0"/>
                <a:cs typeface="Consolas" panose="020B0609020204030204" pitchFamily="49" charset="0"/>
              </a:rPr>
              <a:t>parametrize</a:t>
            </a:r>
            <a:r>
              <a:rPr lang="en-CH" dirty="0"/>
              <a:t> decorator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8F6C7-272E-E0E7-2AC1-0E5DBFF2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EEAF1-BFE1-C024-C5A6-9C47CF4D4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9D674-EF65-B7C3-39FF-36B62119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3E3DBCEC-FBBC-4CDC-AEC1-938C8BAE2F92}"/>
              </a:ext>
            </a:extLst>
          </p:cNvPr>
          <p:cNvSpPr/>
          <p:nvPr/>
        </p:nvSpPr>
        <p:spPr>
          <a:xfrm>
            <a:off x="9264352" y="5513086"/>
            <a:ext cx="144016" cy="36512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B092A8-FD85-D09A-014D-F18306CA88E7}"/>
              </a:ext>
            </a:extLst>
          </p:cNvPr>
          <p:cNvSpPr txBox="1"/>
          <p:nvPr/>
        </p:nvSpPr>
        <p:spPr>
          <a:xfrm>
            <a:off x="2351584" y="1298460"/>
            <a:ext cx="2744836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H" dirty="0"/>
              <a:t>Name of all the variables, separated by commas in one string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D50193-B60D-8435-745D-B1D95D5E2901}"/>
              </a:ext>
            </a:extLst>
          </p:cNvPr>
          <p:cNvCxnSpPr>
            <a:cxnSpLocks/>
          </p:cNvCxnSpPr>
          <p:nvPr/>
        </p:nvCxnSpPr>
        <p:spPr>
          <a:xfrm>
            <a:off x="4209703" y="2043198"/>
            <a:ext cx="246348" cy="3195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F63D57D-43DA-C94E-1C8F-74B4F49485CD}"/>
              </a:ext>
            </a:extLst>
          </p:cNvPr>
          <p:cNvSpPr txBox="1"/>
          <p:nvPr/>
        </p:nvSpPr>
        <p:spPr>
          <a:xfrm>
            <a:off x="7735951" y="1268760"/>
            <a:ext cx="2744836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H" dirty="0"/>
              <a:t>List of tuples with the values for each varialbe, one for each test case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3E5F46-5D1D-4962-FAF3-D4320541E6C7}"/>
              </a:ext>
            </a:extLst>
          </p:cNvPr>
          <p:cNvCxnSpPr>
            <a:cxnSpLocks/>
          </p:cNvCxnSpPr>
          <p:nvPr/>
        </p:nvCxnSpPr>
        <p:spPr>
          <a:xfrm flipH="1">
            <a:off x="8407451" y="2105573"/>
            <a:ext cx="76873" cy="2973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BC6786-DE03-95E8-A413-1A8D97ABCD01}"/>
              </a:ext>
            </a:extLst>
          </p:cNvPr>
          <p:cNvCxnSpPr>
            <a:cxnSpLocks/>
          </p:cNvCxnSpPr>
          <p:nvPr/>
        </p:nvCxnSpPr>
        <p:spPr>
          <a:xfrm flipH="1" flipV="1">
            <a:off x="6672064" y="2872187"/>
            <a:ext cx="2592288" cy="5568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FB347DC-296B-F69F-E478-F7DA43F46ACE}"/>
              </a:ext>
            </a:extLst>
          </p:cNvPr>
          <p:cNvSpPr txBox="1"/>
          <p:nvPr/>
        </p:nvSpPr>
        <p:spPr>
          <a:xfrm>
            <a:off x="9480376" y="2828835"/>
            <a:ext cx="2202353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H" dirty="0"/>
              <a:t>The test must take arguments </a:t>
            </a:r>
            <a:r>
              <a:rPr lang="en-US" dirty="0"/>
              <a:t>with </a:t>
            </a:r>
            <a:r>
              <a:rPr lang="en-CH" dirty="0"/>
              <a:t>the same names as in the string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F0BBF3-D738-D7CB-DD95-728A710EFB13}"/>
              </a:ext>
            </a:extLst>
          </p:cNvPr>
          <p:cNvSpPr txBox="1"/>
          <p:nvPr/>
        </p:nvSpPr>
        <p:spPr>
          <a:xfrm>
            <a:off x="9485272" y="5175077"/>
            <a:ext cx="248772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pytest automatically creates one separate test for each test case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031813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2!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0B0981-2C87-9AA3-39A9-191599CBF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Rewrite the test with the generic cases for the logistic map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parametrize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Reference example for the corner cases test:</a:t>
            </a:r>
            <a:endParaRPr lang="en-GB" dirty="0">
              <a:cs typeface="Courier New" panose="02070309020205020404" pitchFamily="49" charset="0"/>
            </a:endParaRPr>
          </a:p>
          <a:p>
            <a:pPr lvl="1"/>
            <a:endParaRPr lang="en-CH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C1100-0F29-412E-1D73-36A6D9B4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0C0E68-7AC2-DD4C-BE07-D1DA700766ED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00B05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0685D-5F30-690F-8B95-F91A27FCE8D5}"/>
              </a:ext>
            </a:extLst>
          </p:cNvPr>
          <p:cNvSpPr txBox="1"/>
          <p:nvPr/>
        </p:nvSpPr>
        <p:spPr>
          <a:xfrm>
            <a:off x="3147610" y="3428999"/>
            <a:ext cx="5857836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pytest</a:t>
            </a:r>
          </a:p>
          <a:p>
            <a:br>
              <a:rPr lang="en-US" sz="1800" dirty="0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@pytest.mark.parametrize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'x, r, expected'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[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(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1.1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(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3.7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]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test_f_special_x_values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(x, r, expected):</a:t>
            </a:r>
            <a:br>
              <a:rPr lang="en-US" sz="1800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 = f(x, r)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assert_allclose(result, expected)</a:t>
            </a:r>
          </a:p>
        </p:txBody>
      </p:sp>
    </p:spTree>
    <p:extLst>
      <p:ext uri="{BB962C8B-B14F-4D97-AF65-F5344CB8AC3E}">
        <p14:creationId xmlns:p14="http://schemas.microsoft.com/office/powerpoint/2010/main" val="4088124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408" y="365125"/>
            <a:ext cx="10586392" cy="903635"/>
          </a:xfrm>
        </p:spPr>
        <p:txBody>
          <a:bodyPr>
            <a:normAutofit/>
          </a:bodyPr>
          <a:lstStyle/>
          <a:p>
            <a:r>
              <a:rPr lang="en-US" dirty="0"/>
              <a:t>Hands-on 3! Simulate a population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1484785"/>
            <a:ext cx="8784976" cy="4118906"/>
          </a:xfrm>
        </p:spPr>
        <p:txBody>
          <a:bodyPr>
            <a:normAutofit fontScale="92500"/>
          </a:bodyPr>
          <a:lstStyle/>
          <a:p>
            <a:pPr marL="731520" lvl="1" indent="-457200">
              <a:buFont typeface="+mj-lt"/>
              <a:buAutoNum type="arabicPeriod"/>
            </a:pPr>
            <a:r>
              <a:rPr lang="en-GB" dirty="0"/>
              <a:t>Implement a function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iterate_f</a:t>
            </a:r>
            <a:r>
              <a:rPr lang="en-GB" dirty="0"/>
              <a:t> that runs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GB" dirty="0"/>
              <a:t> for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it</a:t>
            </a:r>
            <a:r>
              <a:rPr lang="en-GB" dirty="0"/>
              <a:t> iterations.</a:t>
            </a:r>
            <a:br>
              <a:rPr lang="en-GB" dirty="0"/>
            </a:br>
            <a:r>
              <a:rPr lang="en-GB" dirty="0"/>
              <a:t>Write tests for the following cases (</a:t>
            </a:r>
            <a:r>
              <a:rPr lang="en-GB" b="1" dirty="0"/>
              <a:t>no need to parametrize here</a:t>
            </a:r>
            <a:r>
              <a:rPr lang="en-GB" dirty="0"/>
              <a:t>):</a:t>
            </a:r>
          </a:p>
          <a:p>
            <a:pPr lvl="2"/>
            <a:r>
              <a:rPr lang="en-GB" sz="1700" dirty="0">
                <a:latin typeface="Consolas" panose="020B0609020204030204" pitchFamily="49" charset="0"/>
                <a:cs typeface="Consolas" panose="020B0609020204030204" pitchFamily="49" charset="0"/>
              </a:rPr>
              <a:t>x=0.1, r=2.2, it=1 </a:t>
            </a:r>
            <a:br>
              <a:rPr lang="en-GB" sz="17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700" dirty="0"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GB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iterate_f</a:t>
            </a:r>
            <a:r>
              <a:rPr lang="en-GB" sz="1700" dirty="0">
                <a:latin typeface="Consolas" panose="020B0609020204030204" pitchFamily="49" charset="0"/>
                <a:cs typeface="Consolas" panose="020B0609020204030204" pitchFamily="49" charset="0"/>
              </a:rPr>
              <a:t>(it, x, r)=[0.1, 0.198]</a:t>
            </a:r>
          </a:p>
          <a:p>
            <a:pPr lvl="2"/>
            <a:r>
              <a:rPr lang="en-GB" sz="1700" dirty="0">
                <a:latin typeface="Consolas" panose="020B0609020204030204" pitchFamily="49" charset="0"/>
                <a:cs typeface="Consolas" panose="020B0609020204030204" pitchFamily="49" charset="0"/>
              </a:rPr>
              <a:t>x=0.2, r=3.4, it=4 </a:t>
            </a:r>
            <a:br>
              <a:rPr lang="en-GB" sz="17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700" dirty="0"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GB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iterate_f</a:t>
            </a:r>
            <a:r>
              <a:rPr lang="en-GB" sz="1700" dirty="0">
                <a:latin typeface="Consolas" panose="020B0609020204030204" pitchFamily="49" charset="0"/>
                <a:cs typeface="Consolas" panose="020B0609020204030204" pitchFamily="49" charset="0"/>
              </a:rPr>
              <a:t>(it, x, r)=[0.2, 0.544, 0.843418, 0.449019, 0.841163]</a:t>
            </a:r>
          </a:p>
          <a:p>
            <a:pPr lvl="2"/>
            <a:r>
              <a:rPr lang="en-GB" sz="1700" dirty="0">
                <a:latin typeface="Consolas" panose="020B0609020204030204" pitchFamily="49" charset="0"/>
                <a:cs typeface="Consolas" panose="020B0609020204030204" pitchFamily="49" charset="0"/>
              </a:rPr>
              <a:t>x=0.5, r=2, it=3 </a:t>
            </a:r>
            <a:br>
              <a:rPr lang="en-GB" sz="17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700" dirty="0"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GB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iterate_f</a:t>
            </a:r>
            <a:r>
              <a:rPr lang="en-GB" sz="1700" dirty="0">
                <a:latin typeface="Consolas" panose="020B0609020204030204" pitchFamily="49" charset="0"/>
                <a:cs typeface="Consolas" panose="020B0609020204030204" pitchFamily="49" charset="0"/>
              </a:rPr>
              <a:t>(it, x, r)=[0.5, 0.5, 0.5, 0.5]</a:t>
            </a:r>
          </a:p>
          <a:p>
            <a:pPr marL="914400" lvl="2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31520" lvl="1" indent="-457200">
              <a:buFont typeface="+mj-lt"/>
              <a:buAutoNum type="arabicPeriod"/>
            </a:pPr>
            <a:r>
              <a:rPr lang="en-GB" dirty="0"/>
              <a:t>(Bonus) In a separate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plot_script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/>
              <a:t>file, import the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plot_trajectory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/>
              <a:t>function from the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plot_logistic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/>
              <a:t>module and use it to visualize the trajectories generated by your code.  Try with values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r&lt;3</a:t>
            </a:r>
            <a:r>
              <a:rPr lang="en-GB" dirty="0"/>
              <a:t>, and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3&lt;r&lt;4</a:t>
            </a:r>
            <a:r>
              <a:rPr lang="en-GB" dirty="0"/>
              <a:t> to get an intuition for how the  function behaves differently with different parameters. Call it like this:</a:t>
            </a:r>
          </a:p>
          <a:p>
            <a:pPr marL="274320" lvl="1" indent="0">
              <a:buNone/>
            </a:pPr>
            <a:endParaRPr lang="en-GB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C1100-0F29-412E-1D73-36A6D9B4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0C0E68-7AC2-DD4C-BE07-D1DA700766ED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00B05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D89A8C-4C0B-53C4-6DCA-74857186F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918" y="1364770"/>
            <a:ext cx="2961420" cy="3010674"/>
          </a:xfrm>
          <a:prstGeom prst="rect">
            <a:avLst/>
          </a:prstGeom>
        </p:spPr>
      </p:pic>
      <p:pic>
        <p:nvPicPr>
          <p:cNvPr id="9" name="Picture 8" descr="A picture containing lagomorph, mammal, standing, staring&#10;&#10;Description automatically generated">
            <a:extLst>
              <a:ext uri="{FF2B5EF4-FFF2-40B4-BE49-F238E27FC236}">
                <a16:creationId xmlns:a16="http://schemas.microsoft.com/office/drawing/2014/main" id="{60691BAD-1DA6-C658-40B7-FF1C7DE96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954" y="4407778"/>
            <a:ext cx="1870742" cy="16213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480DB6-1347-6A77-77AE-CE903807AA8D}"/>
              </a:ext>
            </a:extLst>
          </p:cNvPr>
          <p:cNvSpPr txBox="1"/>
          <p:nvPr/>
        </p:nvSpPr>
        <p:spPr>
          <a:xfrm>
            <a:off x="864581" y="5659756"/>
            <a:ext cx="8057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plot_trajectory(n, r, x0, fname="single_trajectory.png")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116336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919536" y="1628801"/>
            <a:ext cx="82089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latin typeface="+mj-lt"/>
              </a:rPr>
              <a:t>Strategies for testing </a:t>
            </a:r>
            <a:r>
              <a:rPr lang="en-US" sz="4400" dirty="0">
                <a:latin typeface="+mj-lt"/>
              </a:rPr>
              <a:t>scientific code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31B42B-279E-891E-4D3B-F44B41AF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841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learning algorithms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916832"/>
            <a:ext cx="10515600" cy="4260131"/>
          </a:xfrm>
        </p:spPr>
        <p:txBody>
          <a:bodyPr>
            <a:normAutofit/>
          </a:bodyPr>
          <a:lstStyle/>
          <a:p>
            <a:r>
              <a:rPr lang="en-US" dirty="0"/>
              <a:t>Learning algorithms can </a:t>
            </a:r>
            <a:r>
              <a:rPr lang="en-US" b="1" dirty="0"/>
              <a:t>get stuck in local maxima</a:t>
            </a:r>
            <a:r>
              <a:rPr lang="en-US" dirty="0"/>
              <a:t>, the solution for general cases might not be known (e.g., unsupervised learning)</a:t>
            </a:r>
          </a:p>
          <a:p>
            <a:r>
              <a:rPr lang="en-US" dirty="0"/>
              <a:t>Turn your validation cases into tests</a:t>
            </a:r>
          </a:p>
          <a:p>
            <a:r>
              <a:rPr lang="en-US" dirty="0"/>
              <a:t>Stability tests:</a:t>
            </a:r>
          </a:p>
          <a:p>
            <a:pPr lvl="1"/>
            <a:r>
              <a:rPr lang="en-US" dirty="0"/>
              <a:t>Start from </a:t>
            </a:r>
            <a:r>
              <a:rPr lang="en-US" b="1" dirty="0"/>
              <a:t>final solution</a:t>
            </a:r>
            <a:r>
              <a:rPr lang="en-US" dirty="0"/>
              <a:t>; verify that the algorithm stays there</a:t>
            </a:r>
          </a:p>
          <a:p>
            <a:pPr lvl="1"/>
            <a:r>
              <a:rPr lang="en-US" dirty="0"/>
              <a:t>Start from solution and </a:t>
            </a:r>
            <a:r>
              <a:rPr lang="en-US" b="1" dirty="0"/>
              <a:t>add a small amount of noise </a:t>
            </a:r>
            <a:r>
              <a:rPr lang="en-US" dirty="0"/>
              <a:t>to the parameters; verify that the algorithm </a:t>
            </a:r>
            <a:r>
              <a:rPr lang="en-US" b="1" dirty="0"/>
              <a:t>converges</a:t>
            </a:r>
            <a:r>
              <a:rPr lang="en-US" dirty="0"/>
              <a:t> back to the solution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EA1F2C-E696-E3DA-185B-04723A981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0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70F70C3B-79B2-1D0B-D008-668DB8AA62B8}"/>
              </a:ext>
            </a:extLst>
          </p:cNvPr>
          <p:cNvSpPr/>
          <p:nvPr/>
        </p:nvSpPr>
        <p:spPr>
          <a:xfrm>
            <a:off x="3505558" y="4474104"/>
            <a:ext cx="3197129" cy="20928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8D2ECB3-1BF6-E2A8-B4D8-186CE9C0D500}"/>
              </a:ext>
            </a:extLst>
          </p:cNvPr>
          <p:cNvSpPr/>
          <p:nvPr/>
        </p:nvSpPr>
        <p:spPr>
          <a:xfrm>
            <a:off x="3533498" y="1299856"/>
            <a:ext cx="3197129" cy="23101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6BE89A8-AD0B-F394-367C-C6EFCDD7AB46}"/>
              </a:ext>
            </a:extLst>
          </p:cNvPr>
          <p:cNvSpPr txBox="1"/>
          <p:nvPr/>
        </p:nvSpPr>
        <p:spPr>
          <a:xfrm>
            <a:off x="3406683" y="4077072"/>
            <a:ext cx="3265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6"/>
                </a:solidFill>
              </a:rPr>
              <a:t>C</a:t>
            </a:r>
            <a:r>
              <a:rPr lang="en-DE" sz="2000" b="1" dirty="0">
                <a:solidFill>
                  <a:schemeClr val="accent6"/>
                </a:solidFill>
              </a:rPr>
              <a:t>ode 2: FITTING ALGORITHM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3E46784-93B6-7601-3BFC-0E1C7A41827A}"/>
              </a:ext>
            </a:extLst>
          </p:cNvPr>
          <p:cNvSpPr/>
          <p:nvPr/>
        </p:nvSpPr>
        <p:spPr>
          <a:xfrm>
            <a:off x="3895167" y="2451847"/>
            <a:ext cx="2199401" cy="61445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85850-E6A0-31BC-9FF4-AECD32B5E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28" y="109055"/>
            <a:ext cx="10515600" cy="903635"/>
          </a:xfrm>
        </p:spPr>
        <p:txBody>
          <a:bodyPr>
            <a:normAutofit/>
          </a:bodyPr>
          <a:lstStyle/>
          <a:p>
            <a:r>
              <a:rPr lang="en-US" dirty="0"/>
              <a:t>Parameter Recovery Tests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9CFEB-DF7F-5482-FD17-2AEBADB0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8E905-589A-ADF9-4DD9-62EB2613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19F8D5-9E90-AC5D-0089-0E58111D8394}"/>
              </a:ext>
            </a:extLst>
          </p:cNvPr>
          <p:cNvGrpSpPr/>
          <p:nvPr/>
        </p:nvGrpSpPr>
        <p:grpSpPr>
          <a:xfrm>
            <a:off x="662314" y="3301326"/>
            <a:ext cx="1494747" cy="1281135"/>
            <a:chOff x="1937384" y="2394017"/>
            <a:chExt cx="1464474" cy="125518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B6C0265-6406-3BFE-CD63-061EC899993B}"/>
                </a:ext>
              </a:extLst>
            </p:cNvPr>
            <p:cNvSpPr/>
            <p:nvPr/>
          </p:nvSpPr>
          <p:spPr>
            <a:xfrm>
              <a:off x="1937384" y="2464131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681E65A-36BC-6958-9CE9-0422D82CC155}"/>
                </a:ext>
              </a:extLst>
            </p:cNvPr>
            <p:cNvSpPr/>
            <p:nvPr/>
          </p:nvSpPr>
          <p:spPr>
            <a:xfrm>
              <a:off x="2225416" y="239401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4435875-C16A-2466-62D4-5A61570DD0DF}"/>
                </a:ext>
              </a:extLst>
            </p:cNvPr>
            <p:cNvSpPr/>
            <p:nvPr/>
          </p:nvSpPr>
          <p:spPr>
            <a:xfrm>
              <a:off x="2288840" y="2599222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A958591-7012-DCE1-10D0-695D8A790F05}"/>
                </a:ext>
              </a:extLst>
            </p:cNvPr>
            <p:cNvSpPr/>
            <p:nvPr/>
          </p:nvSpPr>
          <p:spPr>
            <a:xfrm>
              <a:off x="2130957" y="272607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576595-A356-7108-6644-D730F8DDBCBC}"/>
                </a:ext>
              </a:extLst>
            </p:cNvPr>
            <p:cNvSpPr/>
            <p:nvPr/>
          </p:nvSpPr>
          <p:spPr>
            <a:xfrm>
              <a:off x="2415688" y="2852918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05E57AF-D8D8-94F1-A52C-6DE7A224F714}"/>
                </a:ext>
              </a:extLst>
            </p:cNvPr>
            <p:cNvSpPr/>
            <p:nvPr/>
          </p:nvSpPr>
          <p:spPr>
            <a:xfrm>
              <a:off x="2657464" y="271870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34C276-EBDF-01FE-5104-6DD489357A73}"/>
                </a:ext>
              </a:extLst>
            </p:cNvPr>
            <p:cNvSpPr/>
            <p:nvPr/>
          </p:nvSpPr>
          <p:spPr>
            <a:xfrm>
              <a:off x="2699792" y="30586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51C4D33-48F0-D929-DC62-954BF419BE64}"/>
                </a:ext>
              </a:extLst>
            </p:cNvPr>
            <p:cNvSpPr/>
            <p:nvPr/>
          </p:nvSpPr>
          <p:spPr>
            <a:xfrm>
              <a:off x="2852403" y="2959144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45D86A9-090B-5C85-DECC-BC129B704990}"/>
                </a:ext>
              </a:extLst>
            </p:cNvPr>
            <p:cNvSpPr/>
            <p:nvPr/>
          </p:nvSpPr>
          <p:spPr>
            <a:xfrm>
              <a:off x="2915827" y="3185505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8639861-AF57-0DD4-669B-C6377B0F20F5}"/>
                </a:ext>
              </a:extLst>
            </p:cNvPr>
            <p:cNvSpPr/>
            <p:nvPr/>
          </p:nvSpPr>
          <p:spPr>
            <a:xfrm>
              <a:off x="3148162" y="318523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01BBC4E-220E-2E64-58CF-55BD1325DF92}"/>
                </a:ext>
              </a:extLst>
            </p:cNvPr>
            <p:cNvSpPr/>
            <p:nvPr/>
          </p:nvSpPr>
          <p:spPr>
            <a:xfrm>
              <a:off x="2813864" y="3395509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FB2E0B-C868-BC8A-DDE2-CFB857CD55AE}"/>
                </a:ext>
              </a:extLst>
            </p:cNvPr>
            <p:cNvSpPr/>
            <p:nvPr/>
          </p:nvSpPr>
          <p:spPr>
            <a:xfrm>
              <a:off x="3275010" y="35223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7CCBE65-DB51-482A-8B0C-B0995441C52F}"/>
              </a:ext>
            </a:extLst>
          </p:cNvPr>
          <p:cNvGrpSpPr/>
          <p:nvPr/>
        </p:nvGrpSpPr>
        <p:grpSpPr>
          <a:xfrm>
            <a:off x="9982200" y="2779084"/>
            <a:ext cx="1728192" cy="1656184"/>
            <a:chOff x="5148064" y="2132856"/>
            <a:chExt cx="1728192" cy="16561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A65B116-564D-0825-B556-B48A43BE8167}"/>
                </a:ext>
              </a:extLst>
            </p:cNvPr>
            <p:cNvGrpSpPr/>
            <p:nvPr/>
          </p:nvGrpSpPr>
          <p:grpSpPr>
            <a:xfrm>
              <a:off x="5251359" y="2341873"/>
              <a:ext cx="1464474" cy="1255188"/>
              <a:chOff x="1937384" y="2394017"/>
              <a:chExt cx="1464474" cy="125518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754531F-3765-24FB-8FBB-40A1A12FEDE0}"/>
                  </a:ext>
                </a:extLst>
              </p:cNvPr>
              <p:cNvSpPr/>
              <p:nvPr/>
            </p:nvSpPr>
            <p:spPr>
              <a:xfrm>
                <a:off x="1937384" y="2464131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67B2DA5-46E4-7FA9-5B5C-20FBBA6996D0}"/>
                  </a:ext>
                </a:extLst>
              </p:cNvPr>
              <p:cNvSpPr/>
              <p:nvPr/>
            </p:nvSpPr>
            <p:spPr>
              <a:xfrm>
                <a:off x="2225416" y="2394017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6A64298-75B8-927C-AAF0-DCD6D9843645}"/>
                  </a:ext>
                </a:extLst>
              </p:cNvPr>
              <p:cNvSpPr/>
              <p:nvPr/>
            </p:nvSpPr>
            <p:spPr>
              <a:xfrm>
                <a:off x="2288840" y="2599222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8811724-2BE5-D0F0-B960-1D1032BBAD92}"/>
                  </a:ext>
                </a:extLst>
              </p:cNvPr>
              <p:cNvSpPr/>
              <p:nvPr/>
            </p:nvSpPr>
            <p:spPr>
              <a:xfrm>
                <a:off x="2130957" y="2726070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6F00924-8E91-E2F2-9682-93536FE48729}"/>
                  </a:ext>
                </a:extLst>
              </p:cNvPr>
              <p:cNvSpPr/>
              <p:nvPr/>
            </p:nvSpPr>
            <p:spPr>
              <a:xfrm>
                <a:off x="2415688" y="2852918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B62E7DC-4252-D659-B84C-3A05AEBCB891}"/>
                  </a:ext>
                </a:extLst>
              </p:cNvPr>
              <p:cNvSpPr/>
              <p:nvPr/>
            </p:nvSpPr>
            <p:spPr>
              <a:xfrm>
                <a:off x="2657464" y="2718700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DC96E27-07FF-9525-1B60-0130DD220464}"/>
                  </a:ext>
                </a:extLst>
              </p:cNvPr>
              <p:cNvSpPr/>
              <p:nvPr/>
            </p:nvSpPr>
            <p:spPr>
              <a:xfrm>
                <a:off x="2699792" y="3058657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6A4726C-BDAD-A990-0225-54737C88ED79}"/>
                  </a:ext>
                </a:extLst>
              </p:cNvPr>
              <p:cNvSpPr/>
              <p:nvPr/>
            </p:nvSpPr>
            <p:spPr>
              <a:xfrm>
                <a:off x="2852403" y="2959144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CA8D0AA-4664-9B06-2DC0-5FDF52D10CE3}"/>
                  </a:ext>
                </a:extLst>
              </p:cNvPr>
              <p:cNvSpPr/>
              <p:nvPr/>
            </p:nvSpPr>
            <p:spPr>
              <a:xfrm>
                <a:off x="2915827" y="3185505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3DB6BFB-1875-87CA-C638-C2FABDBF72B7}"/>
                  </a:ext>
                </a:extLst>
              </p:cNvPr>
              <p:cNvSpPr/>
              <p:nvPr/>
            </p:nvSpPr>
            <p:spPr>
              <a:xfrm>
                <a:off x="3148162" y="3185237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802AEBD-2082-2251-A9E2-2EF6BC607EA5}"/>
                  </a:ext>
                </a:extLst>
              </p:cNvPr>
              <p:cNvSpPr/>
              <p:nvPr/>
            </p:nvSpPr>
            <p:spPr>
              <a:xfrm>
                <a:off x="2813864" y="3395509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C2D0C37-9B4F-E15C-07C0-96661FCA0114}"/>
                  </a:ext>
                </a:extLst>
              </p:cNvPr>
              <p:cNvSpPr/>
              <p:nvPr/>
            </p:nvSpPr>
            <p:spPr>
              <a:xfrm>
                <a:off x="3275010" y="3522357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210E900-BABF-B4CF-020E-7D49D8D62AD6}"/>
                </a:ext>
              </a:extLst>
            </p:cNvPr>
            <p:cNvCxnSpPr/>
            <p:nvPr/>
          </p:nvCxnSpPr>
          <p:spPr>
            <a:xfrm>
              <a:off x="5148064" y="2132856"/>
              <a:ext cx="1728192" cy="16561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DD703AD-0A2F-4F83-3319-2D766457DD6D}"/>
              </a:ext>
            </a:extLst>
          </p:cNvPr>
          <p:cNvSpPr txBox="1"/>
          <p:nvPr/>
        </p:nvSpPr>
        <p:spPr>
          <a:xfrm>
            <a:off x="3647728" y="2550691"/>
            <a:ext cx="26684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latin typeface="+mn-lt"/>
              </a:rPr>
              <a:t>y = ax + b + noise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18CF3C-59C2-32C3-6754-1E88EE2EB546}"/>
              </a:ext>
            </a:extLst>
          </p:cNvPr>
          <p:cNvSpPr txBox="1"/>
          <p:nvPr/>
        </p:nvSpPr>
        <p:spPr>
          <a:xfrm>
            <a:off x="10658328" y="2305194"/>
            <a:ext cx="1567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>
                <a:latin typeface="+mn-lt"/>
              </a:rPr>
              <a:t>a = -1.2</a:t>
            </a:r>
          </a:p>
          <a:p>
            <a:pPr algn="ctr"/>
            <a:r>
              <a:rPr lang="en-CH" dirty="0">
                <a:latin typeface="+mn-lt"/>
              </a:rPr>
              <a:t>b = 3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A3C59DDA-C77F-A50B-3A3E-E568B09AF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A498B9-7661-B187-8209-A6F28BDA9DDD}"/>
              </a:ext>
            </a:extLst>
          </p:cNvPr>
          <p:cNvSpPr txBox="1"/>
          <p:nvPr/>
        </p:nvSpPr>
        <p:spPr>
          <a:xfrm>
            <a:off x="438414" y="4677030"/>
            <a:ext cx="21085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Experimental</a:t>
            </a:r>
          </a:p>
          <a:p>
            <a:pPr algn="ctr"/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</a:t>
            </a:r>
            <a:r>
              <a:rPr lang="en-DE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ata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F159FD-3CAF-0B31-7BB8-51B702052863}"/>
              </a:ext>
            </a:extLst>
          </p:cNvPr>
          <p:cNvSpPr txBox="1"/>
          <p:nvPr/>
        </p:nvSpPr>
        <p:spPr>
          <a:xfrm>
            <a:off x="4261003" y="3068960"/>
            <a:ext cx="1626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e.g. linear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412D349-6293-E4B4-B646-FEC3E2838E4A}"/>
              </a:ext>
            </a:extLst>
          </p:cNvPr>
          <p:cNvCxnSpPr>
            <a:cxnSpLocks/>
          </p:cNvCxnSpPr>
          <p:nvPr/>
        </p:nvCxnSpPr>
        <p:spPr>
          <a:xfrm>
            <a:off x="4567322" y="1484784"/>
            <a:ext cx="883806" cy="89178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F44102C-2C2C-3B9B-E463-B7FDF1994CE5}"/>
              </a:ext>
            </a:extLst>
          </p:cNvPr>
          <p:cNvCxnSpPr>
            <a:cxnSpLocks/>
          </p:cNvCxnSpPr>
          <p:nvPr/>
        </p:nvCxnSpPr>
        <p:spPr>
          <a:xfrm>
            <a:off x="4435021" y="1583566"/>
            <a:ext cx="1003281" cy="808462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0B3E112-0A36-12B2-20DE-B29CC6C33290}"/>
              </a:ext>
            </a:extLst>
          </p:cNvPr>
          <p:cNvCxnSpPr>
            <a:cxnSpLocks/>
          </p:cNvCxnSpPr>
          <p:nvPr/>
        </p:nvCxnSpPr>
        <p:spPr>
          <a:xfrm>
            <a:off x="4367808" y="1784841"/>
            <a:ext cx="1083673" cy="61445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D101787-0674-D2D9-5A88-90D8EA07B74B}"/>
              </a:ext>
            </a:extLst>
          </p:cNvPr>
          <p:cNvCxnSpPr>
            <a:cxnSpLocks/>
          </p:cNvCxnSpPr>
          <p:nvPr/>
        </p:nvCxnSpPr>
        <p:spPr>
          <a:xfrm>
            <a:off x="4288654" y="1975053"/>
            <a:ext cx="1149648" cy="42423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339628A-87F6-0C43-D64E-0CD5474C756B}"/>
              </a:ext>
            </a:extLst>
          </p:cNvPr>
          <p:cNvSpPr txBox="1"/>
          <p:nvPr/>
        </p:nvSpPr>
        <p:spPr>
          <a:xfrm>
            <a:off x="4088591" y="5991671"/>
            <a:ext cx="2078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e.g. grid search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B34ECED-41EA-CA62-C28C-15AEBC12F2D9}"/>
              </a:ext>
            </a:extLst>
          </p:cNvPr>
          <p:cNvSpPr txBox="1"/>
          <p:nvPr/>
        </p:nvSpPr>
        <p:spPr>
          <a:xfrm>
            <a:off x="10326963" y="4681711"/>
            <a:ext cx="1084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Result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7481663-47A0-3B07-899D-04C86BFC1ED8}"/>
              </a:ext>
            </a:extLst>
          </p:cNvPr>
          <p:cNvCxnSpPr>
            <a:cxnSpLocks/>
          </p:cNvCxnSpPr>
          <p:nvPr/>
        </p:nvCxnSpPr>
        <p:spPr>
          <a:xfrm>
            <a:off x="4223792" y="2204864"/>
            <a:ext cx="1214510" cy="187164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0F5FFCD4-18B5-CC8E-4012-9389920EB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1" t="17091" r="20746" b="26929"/>
          <a:stretch>
            <a:fillRect/>
          </a:stretch>
        </p:blipFill>
        <p:spPr>
          <a:xfrm>
            <a:off x="3463639" y="4403832"/>
            <a:ext cx="3187677" cy="1842011"/>
          </a:xfrm>
          <a:prstGeom prst="rect">
            <a:avLst/>
          </a:prstGeom>
        </p:spPr>
      </p:pic>
      <p:sp>
        <p:nvSpPr>
          <p:cNvPr id="76" name="Right Arrow 75">
            <a:extLst>
              <a:ext uri="{FF2B5EF4-FFF2-40B4-BE49-F238E27FC236}">
                <a16:creationId xmlns:a16="http://schemas.microsoft.com/office/drawing/2014/main" id="{70568A96-F27A-EEBC-3121-625F970913F1}"/>
              </a:ext>
            </a:extLst>
          </p:cNvPr>
          <p:cNvSpPr/>
          <p:nvPr/>
        </p:nvSpPr>
        <p:spPr>
          <a:xfrm rot="1667086">
            <a:off x="2602930" y="4620608"/>
            <a:ext cx="892879" cy="522242"/>
          </a:xfrm>
          <a:prstGeom prst="rightArrow">
            <a:avLst>
              <a:gd name="adj1" fmla="val 24332"/>
              <a:gd name="adj2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99B73DDC-B194-CFBD-92B9-9E88C7ED1C88}"/>
              </a:ext>
            </a:extLst>
          </p:cNvPr>
          <p:cNvSpPr/>
          <p:nvPr/>
        </p:nvSpPr>
        <p:spPr>
          <a:xfrm rot="5400000">
            <a:off x="4740072" y="3645512"/>
            <a:ext cx="523218" cy="522242"/>
          </a:xfrm>
          <a:prstGeom prst="rightArrow">
            <a:avLst>
              <a:gd name="adj1" fmla="val 24332"/>
              <a:gd name="adj2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B00D6BFD-CE98-0F40-3940-9B9061C92B2D}"/>
              </a:ext>
            </a:extLst>
          </p:cNvPr>
          <p:cNvSpPr/>
          <p:nvPr/>
        </p:nvSpPr>
        <p:spPr>
          <a:xfrm rot="20216729">
            <a:off x="7742942" y="4463205"/>
            <a:ext cx="2129517" cy="522242"/>
          </a:xfrm>
          <a:prstGeom prst="rightArrow">
            <a:avLst>
              <a:gd name="adj1" fmla="val 24332"/>
              <a:gd name="adj2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56F5682-DB3B-618D-7A49-3122FADBCF3B}"/>
              </a:ext>
            </a:extLst>
          </p:cNvPr>
          <p:cNvSpPr txBox="1"/>
          <p:nvPr/>
        </p:nvSpPr>
        <p:spPr>
          <a:xfrm>
            <a:off x="3361978" y="823192"/>
            <a:ext cx="18357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2"/>
                </a:solidFill>
              </a:rPr>
              <a:t>C</a:t>
            </a:r>
            <a:r>
              <a:rPr lang="en-DE" sz="2000" b="1" dirty="0">
                <a:solidFill>
                  <a:schemeClr val="accent2"/>
                </a:solidFill>
              </a:rPr>
              <a:t>ode 1: MODEL</a:t>
            </a:r>
          </a:p>
        </p:txBody>
      </p:sp>
    </p:spTree>
    <p:extLst>
      <p:ext uri="{BB962C8B-B14F-4D97-AF65-F5344CB8AC3E}">
        <p14:creationId xmlns:p14="http://schemas.microsoft.com/office/powerpoint/2010/main" val="3960076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27E87-299F-6278-03E7-8AD7B4CF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7D6B9C2C-0B9B-1F0E-C229-FC8FE186FD0D}"/>
              </a:ext>
            </a:extLst>
          </p:cNvPr>
          <p:cNvSpPr/>
          <p:nvPr/>
        </p:nvSpPr>
        <p:spPr>
          <a:xfrm>
            <a:off x="3490106" y="4452991"/>
            <a:ext cx="3197129" cy="20928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5C62EE2-7D39-C0AF-B255-C5E150DE1808}"/>
              </a:ext>
            </a:extLst>
          </p:cNvPr>
          <p:cNvSpPr txBox="1"/>
          <p:nvPr/>
        </p:nvSpPr>
        <p:spPr>
          <a:xfrm>
            <a:off x="3406683" y="4077072"/>
            <a:ext cx="3265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6"/>
                </a:solidFill>
              </a:rPr>
              <a:t>C</a:t>
            </a:r>
            <a:r>
              <a:rPr lang="en-DE" sz="2000" b="1" dirty="0">
                <a:solidFill>
                  <a:schemeClr val="accent6"/>
                </a:solidFill>
              </a:rPr>
              <a:t>ode 2: FITTING ALGORITHM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42C6A8E-617C-299B-093E-0BF777439D92}"/>
              </a:ext>
            </a:extLst>
          </p:cNvPr>
          <p:cNvSpPr/>
          <p:nvPr/>
        </p:nvSpPr>
        <p:spPr>
          <a:xfrm>
            <a:off x="3518046" y="1278743"/>
            <a:ext cx="3197129" cy="23101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AFF3A6-27AB-675D-7B25-24C9B9A5D945}"/>
              </a:ext>
            </a:extLst>
          </p:cNvPr>
          <p:cNvSpPr/>
          <p:nvPr/>
        </p:nvSpPr>
        <p:spPr>
          <a:xfrm>
            <a:off x="3895167" y="2451847"/>
            <a:ext cx="2199401" cy="61445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54B9AB-EBB0-DAA2-E7CF-6BC7547FA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28" y="109055"/>
            <a:ext cx="10515600" cy="903635"/>
          </a:xfrm>
        </p:spPr>
        <p:txBody>
          <a:bodyPr>
            <a:normAutofit/>
          </a:bodyPr>
          <a:lstStyle/>
          <a:p>
            <a:r>
              <a:rPr lang="en-US" dirty="0"/>
              <a:t>Bug Sources in Modeling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1DDF18-CA00-825F-8170-4926EBA3E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90310E-BAB1-850D-0233-B0D3C15C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DCFA99-5B52-56F2-5F41-72F5174E89A4}"/>
              </a:ext>
            </a:extLst>
          </p:cNvPr>
          <p:cNvGrpSpPr/>
          <p:nvPr/>
        </p:nvGrpSpPr>
        <p:grpSpPr>
          <a:xfrm>
            <a:off x="662314" y="3301326"/>
            <a:ext cx="1494747" cy="1281135"/>
            <a:chOff x="1937384" y="2394017"/>
            <a:chExt cx="1464474" cy="125518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CA35294-BB4E-3D2D-4FB7-D7AD05DF0315}"/>
                </a:ext>
              </a:extLst>
            </p:cNvPr>
            <p:cNvSpPr/>
            <p:nvPr/>
          </p:nvSpPr>
          <p:spPr>
            <a:xfrm>
              <a:off x="1937384" y="2464131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058CD62-3F17-E0A6-4FAB-039915F3425C}"/>
                </a:ext>
              </a:extLst>
            </p:cNvPr>
            <p:cNvSpPr/>
            <p:nvPr/>
          </p:nvSpPr>
          <p:spPr>
            <a:xfrm>
              <a:off x="2225416" y="239401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0102E22-63D9-2216-807C-00975BB3D97B}"/>
                </a:ext>
              </a:extLst>
            </p:cNvPr>
            <p:cNvSpPr/>
            <p:nvPr/>
          </p:nvSpPr>
          <p:spPr>
            <a:xfrm>
              <a:off x="2288840" y="2599222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553A313-653C-A0E3-8E6B-95BD21DCB61D}"/>
                </a:ext>
              </a:extLst>
            </p:cNvPr>
            <p:cNvSpPr/>
            <p:nvPr/>
          </p:nvSpPr>
          <p:spPr>
            <a:xfrm>
              <a:off x="2130957" y="272607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391A64F-DCAE-51F3-6CB1-B51544516FBB}"/>
                </a:ext>
              </a:extLst>
            </p:cNvPr>
            <p:cNvSpPr/>
            <p:nvPr/>
          </p:nvSpPr>
          <p:spPr>
            <a:xfrm>
              <a:off x="2415688" y="2852918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C8E035C-010C-2799-399B-A716A407E856}"/>
                </a:ext>
              </a:extLst>
            </p:cNvPr>
            <p:cNvSpPr/>
            <p:nvPr/>
          </p:nvSpPr>
          <p:spPr>
            <a:xfrm>
              <a:off x="2657464" y="271870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BF403BB-C7C8-38E2-F453-6A1BC23225F5}"/>
                </a:ext>
              </a:extLst>
            </p:cNvPr>
            <p:cNvSpPr/>
            <p:nvPr/>
          </p:nvSpPr>
          <p:spPr>
            <a:xfrm>
              <a:off x="2699792" y="30586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8B90E42-6BF8-41C3-03CA-2CC61F22A228}"/>
                </a:ext>
              </a:extLst>
            </p:cNvPr>
            <p:cNvSpPr/>
            <p:nvPr/>
          </p:nvSpPr>
          <p:spPr>
            <a:xfrm>
              <a:off x="2852403" y="2959144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E7D6999-6927-C777-89D1-2DD476D68279}"/>
                </a:ext>
              </a:extLst>
            </p:cNvPr>
            <p:cNvSpPr/>
            <p:nvPr/>
          </p:nvSpPr>
          <p:spPr>
            <a:xfrm>
              <a:off x="2915827" y="3185505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A96B66B-892C-2F33-EE54-22BFB28A6E88}"/>
                </a:ext>
              </a:extLst>
            </p:cNvPr>
            <p:cNvSpPr/>
            <p:nvPr/>
          </p:nvSpPr>
          <p:spPr>
            <a:xfrm>
              <a:off x="3148162" y="318523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3639EB-2D2A-4DE1-1600-51889700177C}"/>
                </a:ext>
              </a:extLst>
            </p:cNvPr>
            <p:cNvSpPr/>
            <p:nvPr/>
          </p:nvSpPr>
          <p:spPr>
            <a:xfrm>
              <a:off x="2813864" y="3395509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0E4672F-DE71-80A9-24EE-92B638034079}"/>
                </a:ext>
              </a:extLst>
            </p:cNvPr>
            <p:cNvSpPr/>
            <p:nvPr/>
          </p:nvSpPr>
          <p:spPr>
            <a:xfrm>
              <a:off x="3275010" y="35223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05BB8CB-D52A-F927-574C-760BABBD43C8}"/>
              </a:ext>
            </a:extLst>
          </p:cNvPr>
          <p:cNvGrpSpPr/>
          <p:nvPr/>
        </p:nvGrpSpPr>
        <p:grpSpPr>
          <a:xfrm>
            <a:off x="9982200" y="2779084"/>
            <a:ext cx="1728192" cy="1656184"/>
            <a:chOff x="5148064" y="2132856"/>
            <a:chExt cx="1728192" cy="16561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1AF101E-BB76-6C48-F4EA-7D9D9AAD4750}"/>
                </a:ext>
              </a:extLst>
            </p:cNvPr>
            <p:cNvGrpSpPr/>
            <p:nvPr/>
          </p:nvGrpSpPr>
          <p:grpSpPr>
            <a:xfrm>
              <a:off x="5251359" y="2341873"/>
              <a:ext cx="1464474" cy="1255188"/>
              <a:chOff x="1937384" y="2394017"/>
              <a:chExt cx="1464474" cy="125518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C05DCC0-1CCF-EE94-1AC6-EA3AF145EA1F}"/>
                  </a:ext>
                </a:extLst>
              </p:cNvPr>
              <p:cNvSpPr/>
              <p:nvPr/>
            </p:nvSpPr>
            <p:spPr>
              <a:xfrm>
                <a:off x="1937384" y="2464131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563C3EC-BDC1-7BDE-EFC2-7896203FD935}"/>
                  </a:ext>
                </a:extLst>
              </p:cNvPr>
              <p:cNvSpPr/>
              <p:nvPr/>
            </p:nvSpPr>
            <p:spPr>
              <a:xfrm>
                <a:off x="2225416" y="2394017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52A9E5C-2C7C-91C0-6594-46384EDFD75B}"/>
                  </a:ext>
                </a:extLst>
              </p:cNvPr>
              <p:cNvSpPr/>
              <p:nvPr/>
            </p:nvSpPr>
            <p:spPr>
              <a:xfrm>
                <a:off x="2288840" y="2599222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46500E6-01E7-B21C-1BCC-D6C4CBC3744A}"/>
                  </a:ext>
                </a:extLst>
              </p:cNvPr>
              <p:cNvSpPr/>
              <p:nvPr/>
            </p:nvSpPr>
            <p:spPr>
              <a:xfrm>
                <a:off x="2130957" y="2726070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254CDE9-9D88-A2D9-CD03-7ECFDCCBCBBD}"/>
                  </a:ext>
                </a:extLst>
              </p:cNvPr>
              <p:cNvSpPr/>
              <p:nvPr/>
            </p:nvSpPr>
            <p:spPr>
              <a:xfrm>
                <a:off x="2415688" y="2852918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F843935-654F-8DD8-5C0E-1E4BE575FF70}"/>
                  </a:ext>
                </a:extLst>
              </p:cNvPr>
              <p:cNvSpPr/>
              <p:nvPr/>
            </p:nvSpPr>
            <p:spPr>
              <a:xfrm>
                <a:off x="2657464" y="2718700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98CB8F6-875F-41AD-A690-1A3EB3E3A7A7}"/>
                  </a:ext>
                </a:extLst>
              </p:cNvPr>
              <p:cNvSpPr/>
              <p:nvPr/>
            </p:nvSpPr>
            <p:spPr>
              <a:xfrm>
                <a:off x="2699792" y="3058657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2E12C4C-35D4-05E8-4B92-45EFE73CF092}"/>
                  </a:ext>
                </a:extLst>
              </p:cNvPr>
              <p:cNvSpPr/>
              <p:nvPr/>
            </p:nvSpPr>
            <p:spPr>
              <a:xfrm>
                <a:off x="2852403" y="2959144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799DF05-6762-31AF-5049-D37A996661C8}"/>
                  </a:ext>
                </a:extLst>
              </p:cNvPr>
              <p:cNvSpPr/>
              <p:nvPr/>
            </p:nvSpPr>
            <p:spPr>
              <a:xfrm>
                <a:off x="2915827" y="3185505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138972B-952C-DEA8-C0A9-76960EDD70E8}"/>
                  </a:ext>
                </a:extLst>
              </p:cNvPr>
              <p:cNvSpPr/>
              <p:nvPr/>
            </p:nvSpPr>
            <p:spPr>
              <a:xfrm>
                <a:off x="3148162" y="3185237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BFECCFF-CBEE-731A-42C7-24FDCF7E83DF}"/>
                  </a:ext>
                </a:extLst>
              </p:cNvPr>
              <p:cNvSpPr/>
              <p:nvPr/>
            </p:nvSpPr>
            <p:spPr>
              <a:xfrm>
                <a:off x="2813864" y="3395509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858121-C899-397A-F760-8CCFCB70D937}"/>
                  </a:ext>
                </a:extLst>
              </p:cNvPr>
              <p:cNvSpPr/>
              <p:nvPr/>
            </p:nvSpPr>
            <p:spPr>
              <a:xfrm>
                <a:off x="3275010" y="3522357"/>
                <a:ext cx="126848" cy="12684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F188D0-FF22-7F32-7118-DE6A0BADC617}"/>
                </a:ext>
              </a:extLst>
            </p:cNvPr>
            <p:cNvCxnSpPr/>
            <p:nvPr/>
          </p:nvCxnSpPr>
          <p:spPr>
            <a:xfrm>
              <a:off x="5148064" y="2132856"/>
              <a:ext cx="1728192" cy="16561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1C14A9A-8EE2-E3DD-320C-4F92FF927C92}"/>
              </a:ext>
            </a:extLst>
          </p:cNvPr>
          <p:cNvSpPr txBox="1"/>
          <p:nvPr/>
        </p:nvSpPr>
        <p:spPr>
          <a:xfrm>
            <a:off x="3647728" y="2550691"/>
            <a:ext cx="26684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latin typeface="+mn-lt"/>
              </a:rPr>
              <a:t>y = ax + b + noise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69C5D3-5708-1CE8-BF4B-4D130BB47D1E}"/>
              </a:ext>
            </a:extLst>
          </p:cNvPr>
          <p:cNvSpPr txBox="1"/>
          <p:nvPr/>
        </p:nvSpPr>
        <p:spPr>
          <a:xfrm>
            <a:off x="10658328" y="2305194"/>
            <a:ext cx="1567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>
                <a:latin typeface="+mn-lt"/>
              </a:rPr>
              <a:t>a = -1.2</a:t>
            </a:r>
          </a:p>
          <a:p>
            <a:pPr algn="ctr"/>
            <a:r>
              <a:rPr lang="en-CH" dirty="0">
                <a:latin typeface="+mn-lt"/>
              </a:rPr>
              <a:t>b = 3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2E7C9DD4-421E-EACB-61B8-ABB4A6E7A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670363-1F99-B47F-878A-5901FD50E4DF}"/>
              </a:ext>
            </a:extLst>
          </p:cNvPr>
          <p:cNvSpPr txBox="1"/>
          <p:nvPr/>
        </p:nvSpPr>
        <p:spPr>
          <a:xfrm>
            <a:off x="438414" y="4677030"/>
            <a:ext cx="21085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Experimental</a:t>
            </a:r>
          </a:p>
          <a:p>
            <a:pPr algn="ctr"/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</a:t>
            </a:r>
            <a:r>
              <a:rPr lang="en-DE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ata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B6930A-2875-9996-0A01-F1EE7DDF2DDB}"/>
              </a:ext>
            </a:extLst>
          </p:cNvPr>
          <p:cNvSpPr txBox="1"/>
          <p:nvPr/>
        </p:nvSpPr>
        <p:spPr>
          <a:xfrm>
            <a:off x="4261003" y="3068960"/>
            <a:ext cx="1626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2800" dirty="0">
                <a:solidFill>
                  <a:schemeClr val="accent2"/>
                </a:solidFill>
              </a:rPr>
              <a:t>e.g. linear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BDD93C2-A567-EDBF-53A7-EB9AA71A8B0A}"/>
              </a:ext>
            </a:extLst>
          </p:cNvPr>
          <p:cNvCxnSpPr>
            <a:cxnSpLocks/>
          </p:cNvCxnSpPr>
          <p:nvPr/>
        </p:nvCxnSpPr>
        <p:spPr>
          <a:xfrm>
            <a:off x="4567322" y="1484784"/>
            <a:ext cx="883806" cy="89178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0C3B889-B086-63E5-951E-490BF29DDE3F}"/>
              </a:ext>
            </a:extLst>
          </p:cNvPr>
          <p:cNvCxnSpPr>
            <a:cxnSpLocks/>
          </p:cNvCxnSpPr>
          <p:nvPr/>
        </p:nvCxnSpPr>
        <p:spPr>
          <a:xfrm>
            <a:off x="4435021" y="1583566"/>
            <a:ext cx="1003281" cy="808462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95317E1-D5CA-406D-0693-FA43D8C07729}"/>
              </a:ext>
            </a:extLst>
          </p:cNvPr>
          <p:cNvCxnSpPr>
            <a:cxnSpLocks/>
          </p:cNvCxnSpPr>
          <p:nvPr/>
        </p:nvCxnSpPr>
        <p:spPr>
          <a:xfrm>
            <a:off x="4367808" y="1784841"/>
            <a:ext cx="1083673" cy="61445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435676A-0C84-8BDD-D709-0290097C0C8A}"/>
              </a:ext>
            </a:extLst>
          </p:cNvPr>
          <p:cNvCxnSpPr>
            <a:cxnSpLocks/>
          </p:cNvCxnSpPr>
          <p:nvPr/>
        </p:nvCxnSpPr>
        <p:spPr>
          <a:xfrm>
            <a:off x="4288654" y="1975053"/>
            <a:ext cx="1149648" cy="42423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F6794D9-A1B9-43AB-DAB2-AF78CFD1F1BE}"/>
              </a:ext>
            </a:extLst>
          </p:cNvPr>
          <p:cNvSpPr txBox="1"/>
          <p:nvPr/>
        </p:nvSpPr>
        <p:spPr>
          <a:xfrm>
            <a:off x="4088591" y="5991671"/>
            <a:ext cx="2078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e.g. grid search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1A80B9-5820-365C-60D9-CC764EAE7B31}"/>
              </a:ext>
            </a:extLst>
          </p:cNvPr>
          <p:cNvSpPr txBox="1"/>
          <p:nvPr/>
        </p:nvSpPr>
        <p:spPr>
          <a:xfrm>
            <a:off x="10326963" y="4681711"/>
            <a:ext cx="1084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Result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0838285-C9BF-3860-1D26-D7B461775AB6}"/>
              </a:ext>
            </a:extLst>
          </p:cNvPr>
          <p:cNvCxnSpPr>
            <a:cxnSpLocks/>
          </p:cNvCxnSpPr>
          <p:nvPr/>
        </p:nvCxnSpPr>
        <p:spPr>
          <a:xfrm>
            <a:off x="4223792" y="2204864"/>
            <a:ext cx="1214510" cy="187164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D7FE34AC-5F26-37E7-A9E5-4C32358C3E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1" t="17091" r="20746" b="26929"/>
          <a:stretch>
            <a:fillRect/>
          </a:stretch>
        </p:blipFill>
        <p:spPr>
          <a:xfrm>
            <a:off x="3463639" y="4403832"/>
            <a:ext cx="3187677" cy="1842011"/>
          </a:xfrm>
          <a:prstGeom prst="rect">
            <a:avLst/>
          </a:prstGeom>
        </p:spPr>
      </p:pic>
      <p:sp>
        <p:nvSpPr>
          <p:cNvPr id="76" name="Right Arrow 75">
            <a:extLst>
              <a:ext uri="{FF2B5EF4-FFF2-40B4-BE49-F238E27FC236}">
                <a16:creationId xmlns:a16="http://schemas.microsoft.com/office/drawing/2014/main" id="{01A63FF0-C5B1-FBEE-6677-B7BA2EA91FF1}"/>
              </a:ext>
            </a:extLst>
          </p:cNvPr>
          <p:cNvSpPr/>
          <p:nvPr/>
        </p:nvSpPr>
        <p:spPr>
          <a:xfrm rot="1667086">
            <a:off x="2602930" y="4620608"/>
            <a:ext cx="892879" cy="522242"/>
          </a:xfrm>
          <a:prstGeom prst="rightArrow">
            <a:avLst>
              <a:gd name="adj1" fmla="val 24332"/>
              <a:gd name="adj2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A6A5752C-05CB-27E8-CCA2-2362F6085525}"/>
              </a:ext>
            </a:extLst>
          </p:cNvPr>
          <p:cNvSpPr/>
          <p:nvPr/>
        </p:nvSpPr>
        <p:spPr>
          <a:xfrm rot="5400000">
            <a:off x="4740072" y="3645512"/>
            <a:ext cx="523218" cy="522242"/>
          </a:xfrm>
          <a:prstGeom prst="rightArrow">
            <a:avLst>
              <a:gd name="adj1" fmla="val 24332"/>
              <a:gd name="adj2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5340B761-E6F4-D005-EB33-3EC1A5E1FF34}"/>
              </a:ext>
            </a:extLst>
          </p:cNvPr>
          <p:cNvSpPr/>
          <p:nvPr/>
        </p:nvSpPr>
        <p:spPr>
          <a:xfrm rot="20216729">
            <a:off x="7742942" y="4463205"/>
            <a:ext cx="2129517" cy="522242"/>
          </a:xfrm>
          <a:prstGeom prst="rightArrow">
            <a:avLst>
              <a:gd name="adj1" fmla="val 24332"/>
              <a:gd name="adj2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99942F9-329D-BD65-07C5-F60C0512363E}"/>
              </a:ext>
            </a:extLst>
          </p:cNvPr>
          <p:cNvSpPr txBox="1"/>
          <p:nvPr/>
        </p:nvSpPr>
        <p:spPr>
          <a:xfrm>
            <a:off x="3361978" y="823192"/>
            <a:ext cx="18357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2"/>
                </a:solidFill>
              </a:rPr>
              <a:t>C</a:t>
            </a:r>
            <a:r>
              <a:rPr lang="en-DE" sz="2000" b="1" dirty="0">
                <a:solidFill>
                  <a:schemeClr val="accent2"/>
                </a:solidFill>
              </a:rPr>
              <a:t>ode 1: MODEL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82813F9-19BD-9847-3946-B8C4010B49CB}"/>
              </a:ext>
            </a:extLst>
          </p:cNvPr>
          <p:cNvGrpSpPr/>
          <p:nvPr/>
        </p:nvGrpSpPr>
        <p:grpSpPr>
          <a:xfrm>
            <a:off x="6050391" y="747719"/>
            <a:ext cx="1887748" cy="1377158"/>
            <a:chOff x="6824175" y="2263085"/>
            <a:chExt cx="1952881" cy="1376407"/>
          </a:xfrm>
        </p:grpSpPr>
        <p:sp>
          <p:nvSpPr>
            <p:cNvPr id="40" name="Triangle 39">
              <a:extLst>
                <a:ext uri="{FF2B5EF4-FFF2-40B4-BE49-F238E27FC236}">
                  <a16:creationId xmlns:a16="http://schemas.microsoft.com/office/drawing/2014/main" id="{E6774452-D639-E356-298B-EA97B8A65382}"/>
                </a:ext>
              </a:extLst>
            </p:cNvPr>
            <p:cNvSpPr/>
            <p:nvPr/>
          </p:nvSpPr>
          <p:spPr>
            <a:xfrm>
              <a:off x="6824175" y="2263085"/>
              <a:ext cx="1952881" cy="1309931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3CDE2FC-1076-39D5-860B-93236DABC893}"/>
                </a:ext>
              </a:extLst>
            </p:cNvPr>
            <p:cNvSpPr txBox="1"/>
            <p:nvPr/>
          </p:nvSpPr>
          <p:spPr>
            <a:xfrm>
              <a:off x="7178889" y="2928528"/>
              <a:ext cx="1231786" cy="7109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DE" sz="1800" b="1" dirty="0"/>
                <a:t>WARNING</a:t>
              </a:r>
            </a:p>
            <a:p>
              <a:pPr algn="ctr"/>
              <a:r>
                <a:rPr lang="en-DE" b="1" dirty="0"/>
                <a:t>BUGS</a:t>
              </a:r>
              <a:endParaRPr lang="en-DE" sz="1800" b="1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368629-BB55-DB8D-9110-C3FE64CFACAC}"/>
              </a:ext>
            </a:extLst>
          </p:cNvPr>
          <p:cNvGrpSpPr/>
          <p:nvPr/>
        </p:nvGrpSpPr>
        <p:grpSpPr>
          <a:xfrm>
            <a:off x="6097445" y="3806553"/>
            <a:ext cx="1887748" cy="1377158"/>
            <a:chOff x="6824175" y="2263085"/>
            <a:chExt cx="1952881" cy="1376407"/>
          </a:xfrm>
        </p:grpSpPr>
        <p:sp>
          <p:nvSpPr>
            <p:cNvPr id="45" name="Triangle 44">
              <a:extLst>
                <a:ext uri="{FF2B5EF4-FFF2-40B4-BE49-F238E27FC236}">
                  <a16:creationId xmlns:a16="http://schemas.microsoft.com/office/drawing/2014/main" id="{73586517-0933-012D-AF5A-50F7CD9A99F8}"/>
                </a:ext>
              </a:extLst>
            </p:cNvPr>
            <p:cNvSpPr/>
            <p:nvPr/>
          </p:nvSpPr>
          <p:spPr>
            <a:xfrm>
              <a:off x="6824175" y="2263085"/>
              <a:ext cx="1952881" cy="1309931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F6928B4-F849-2A61-09F2-87EBE6E3471B}"/>
                </a:ext>
              </a:extLst>
            </p:cNvPr>
            <p:cNvSpPr txBox="1"/>
            <p:nvPr/>
          </p:nvSpPr>
          <p:spPr>
            <a:xfrm>
              <a:off x="7178889" y="2928528"/>
              <a:ext cx="1231786" cy="7109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DE" sz="1800" b="1" dirty="0"/>
                <a:t>WARNING</a:t>
              </a:r>
            </a:p>
            <a:p>
              <a:pPr algn="ctr"/>
              <a:r>
                <a:rPr lang="en-DE" b="1" dirty="0"/>
                <a:t>BUGS</a:t>
              </a:r>
              <a:endParaRPr lang="en-DE" sz="1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19983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9CFEB-DF7F-5482-FD17-2AEBADB0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8E905-589A-ADF9-4DD9-62EB2613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18CF3C-59C2-32C3-6754-1E88EE2EB546}"/>
              </a:ext>
            </a:extLst>
          </p:cNvPr>
          <p:cNvSpPr txBox="1"/>
          <p:nvPr/>
        </p:nvSpPr>
        <p:spPr>
          <a:xfrm>
            <a:off x="3327004" y="2536319"/>
            <a:ext cx="1567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latin typeface="+mn-lt"/>
              </a:rPr>
              <a:t>a</a:t>
            </a:r>
            <a:r>
              <a:rPr lang="en-CH" sz="2000" baseline="30000" dirty="0">
                <a:latin typeface="+mn-lt"/>
              </a:rPr>
              <a:t>*</a:t>
            </a:r>
            <a:r>
              <a:rPr lang="en-CH" sz="2000" dirty="0">
                <a:latin typeface="+mn-lt"/>
              </a:rPr>
              <a:t> = 0.5</a:t>
            </a:r>
          </a:p>
          <a:p>
            <a:pPr algn="ctr"/>
            <a:r>
              <a:rPr lang="en-CH" sz="2000" dirty="0">
                <a:latin typeface="+mn-lt"/>
              </a:rPr>
              <a:t>b</a:t>
            </a:r>
            <a:r>
              <a:rPr lang="en-CH" sz="2000" baseline="30000" dirty="0">
                <a:latin typeface="+mn-lt"/>
              </a:rPr>
              <a:t>*</a:t>
            </a:r>
            <a:r>
              <a:rPr lang="en-CH" sz="2000" dirty="0">
                <a:latin typeface="+mn-lt"/>
              </a:rPr>
              <a:t> = -1.3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BAA269-7905-0BB3-B05B-60FF2285770C}"/>
              </a:ext>
            </a:extLst>
          </p:cNvPr>
          <p:cNvCxnSpPr>
            <a:cxnSpLocks/>
          </p:cNvCxnSpPr>
          <p:nvPr/>
        </p:nvCxnSpPr>
        <p:spPr>
          <a:xfrm flipV="1">
            <a:off x="3177297" y="1774720"/>
            <a:ext cx="1812240" cy="8489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DFFB2D2-8858-14C4-148D-535BCB0754CB}"/>
              </a:ext>
            </a:extLst>
          </p:cNvPr>
          <p:cNvGrpSpPr/>
          <p:nvPr/>
        </p:nvGrpSpPr>
        <p:grpSpPr>
          <a:xfrm rot="17612957">
            <a:off x="7620664" y="1627788"/>
            <a:ext cx="1464474" cy="1255188"/>
            <a:chOff x="1937384" y="2394017"/>
            <a:chExt cx="1464474" cy="125518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6C0C309-98D6-A159-5E09-3DEA2BF98B72}"/>
                </a:ext>
              </a:extLst>
            </p:cNvPr>
            <p:cNvSpPr/>
            <p:nvPr/>
          </p:nvSpPr>
          <p:spPr>
            <a:xfrm>
              <a:off x="1937384" y="2464131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07B74AE-99A0-E4CA-8E53-90359D992AEE}"/>
                </a:ext>
              </a:extLst>
            </p:cNvPr>
            <p:cNvSpPr/>
            <p:nvPr/>
          </p:nvSpPr>
          <p:spPr>
            <a:xfrm>
              <a:off x="2225416" y="239401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41257D4-64A6-C031-473C-D4E6FB616F31}"/>
                </a:ext>
              </a:extLst>
            </p:cNvPr>
            <p:cNvSpPr/>
            <p:nvPr/>
          </p:nvSpPr>
          <p:spPr>
            <a:xfrm>
              <a:off x="2288840" y="2599222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4D9AA44-502C-7B98-36D9-1B28F25660A6}"/>
                </a:ext>
              </a:extLst>
            </p:cNvPr>
            <p:cNvSpPr/>
            <p:nvPr/>
          </p:nvSpPr>
          <p:spPr>
            <a:xfrm>
              <a:off x="2130957" y="272607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DD32D0F-412C-971D-B0A9-93B67458F306}"/>
                </a:ext>
              </a:extLst>
            </p:cNvPr>
            <p:cNvSpPr/>
            <p:nvPr/>
          </p:nvSpPr>
          <p:spPr>
            <a:xfrm>
              <a:off x="2415688" y="2852918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167AD96-5CE8-D23C-0AF5-F5FA50358874}"/>
                </a:ext>
              </a:extLst>
            </p:cNvPr>
            <p:cNvSpPr/>
            <p:nvPr/>
          </p:nvSpPr>
          <p:spPr>
            <a:xfrm>
              <a:off x="2657464" y="271870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91AA890-6E0F-3B4A-1BF2-7A69D7410148}"/>
                </a:ext>
              </a:extLst>
            </p:cNvPr>
            <p:cNvSpPr/>
            <p:nvPr/>
          </p:nvSpPr>
          <p:spPr>
            <a:xfrm>
              <a:off x="2699792" y="30586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BE6FE60-7CDA-3B36-F89F-9C346766FE1C}"/>
                </a:ext>
              </a:extLst>
            </p:cNvPr>
            <p:cNvSpPr/>
            <p:nvPr/>
          </p:nvSpPr>
          <p:spPr>
            <a:xfrm>
              <a:off x="2852403" y="2959144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9F104C2-ADCF-F40B-E518-21220CF7E937}"/>
                </a:ext>
              </a:extLst>
            </p:cNvPr>
            <p:cNvSpPr/>
            <p:nvPr/>
          </p:nvSpPr>
          <p:spPr>
            <a:xfrm>
              <a:off x="2915827" y="3185505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9C42B4E-C139-0275-8CAE-541906E7EF09}"/>
                </a:ext>
              </a:extLst>
            </p:cNvPr>
            <p:cNvSpPr/>
            <p:nvPr/>
          </p:nvSpPr>
          <p:spPr>
            <a:xfrm>
              <a:off x="3148162" y="318523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A7D7E0C-A48D-42C6-334D-7181F4EAE3BE}"/>
                </a:ext>
              </a:extLst>
            </p:cNvPr>
            <p:cNvSpPr/>
            <p:nvPr/>
          </p:nvSpPr>
          <p:spPr>
            <a:xfrm>
              <a:off x="2813864" y="3395509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68DCE73-AC60-4FB2-D6B1-2AFBD11AF206}"/>
                </a:ext>
              </a:extLst>
            </p:cNvPr>
            <p:cNvSpPr/>
            <p:nvPr/>
          </p:nvSpPr>
          <p:spPr>
            <a:xfrm>
              <a:off x="3275010" y="35223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D7C11CCA-FA1F-C3EA-0EF6-F728DC7E899D}"/>
              </a:ext>
            </a:extLst>
          </p:cNvPr>
          <p:cNvSpPr txBox="1"/>
          <p:nvPr/>
        </p:nvSpPr>
        <p:spPr>
          <a:xfrm>
            <a:off x="1882964" y="1229096"/>
            <a:ext cx="2756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000" dirty="0">
                <a:latin typeface="+mn-lt"/>
              </a:rPr>
              <a:t>1) Fix initial parameters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65E435-0B86-154F-36EA-B59A33502558}"/>
              </a:ext>
            </a:extLst>
          </p:cNvPr>
          <p:cNvSpPr txBox="1"/>
          <p:nvPr/>
        </p:nvSpPr>
        <p:spPr>
          <a:xfrm>
            <a:off x="6979796" y="1222203"/>
            <a:ext cx="3148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000" dirty="0">
                <a:latin typeface="+mn-lt"/>
              </a:rPr>
              <a:t>2) Generate </a:t>
            </a:r>
            <a:r>
              <a:rPr lang="en-CH" sz="2000" b="1" dirty="0">
                <a:latin typeface="+mn-lt"/>
              </a:rPr>
              <a:t>synthetic</a:t>
            </a:r>
            <a:r>
              <a:rPr lang="en-CH" sz="2000" dirty="0">
                <a:latin typeface="+mn-lt"/>
              </a:rPr>
              <a:t> data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1C8A69-DE6E-B8DF-C934-656E5CB9914F}"/>
              </a:ext>
            </a:extLst>
          </p:cNvPr>
          <p:cNvCxnSpPr>
            <a:cxnSpLocks/>
          </p:cNvCxnSpPr>
          <p:nvPr/>
        </p:nvCxnSpPr>
        <p:spPr>
          <a:xfrm>
            <a:off x="5547777" y="2145840"/>
            <a:ext cx="1440160" cy="1041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74181A1-4761-5216-7FD1-34C687112ADA}"/>
              </a:ext>
            </a:extLst>
          </p:cNvPr>
          <p:cNvSpPr txBox="1"/>
          <p:nvPr/>
        </p:nvSpPr>
        <p:spPr>
          <a:xfrm>
            <a:off x="5235875" y="2534124"/>
            <a:ext cx="206396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4762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dirty="0">
                <a:solidFill>
                  <a:schemeClr val="accent2"/>
                </a:solidFill>
                <a:latin typeface="+mn-lt"/>
              </a:rPr>
              <a:t>y = a</a:t>
            </a:r>
            <a:r>
              <a:rPr lang="en-CH" baseline="30000" dirty="0">
                <a:solidFill>
                  <a:schemeClr val="accent2"/>
                </a:solidFill>
                <a:latin typeface="+mn-lt"/>
              </a:rPr>
              <a:t>*</a:t>
            </a:r>
            <a:r>
              <a:rPr lang="en-CH" dirty="0">
                <a:solidFill>
                  <a:schemeClr val="accent2"/>
                </a:solidFill>
                <a:latin typeface="+mn-lt"/>
              </a:rPr>
              <a:t> x + b</a:t>
            </a:r>
            <a:r>
              <a:rPr lang="en-CH" baseline="30000" dirty="0">
                <a:solidFill>
                  <a:schemeClr val="accent2"/>
                </a:solidFill>
                <a:latin typeface="+mn-lt"/>
              </a:rPr>
              <a:t>*</a:t>
            </a:r>
            <a:r>
              <a:rPr lang="en-CH" dirty="0">
                <a:solidFill>
                  <a:schemeClr val="accent2"/>
                </a:solidFill>
                <a:latin typeface="+mn-lt"/>
              </a:rPr>
              <a:t> </a:t>
            </a:r>
            <a:br>
              <a:rPr lang="en-CH" dirty="0">
                <a:solidFill>
                  <a:schemeClr val="accent2"/>
                </a:solidFill>
                <a:latin typeface="+mn-lt"/>
              </a:rPr>
            </a:br>
            <a:r>
              <a:rPr lang="en-CH" dirty="0">
                <a:solidFill>
                  <a:schemeClr val="accent2"/>
                </a:solidFill>
                <a:latin typeface="+mn-lt"/>
              </a:rPr>
              <a:t>+ noise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A2530-5187-2C23-25D2-82FBED198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535CEA-BD30-C339-61C9-42D644700146}"/>
              </a:ext>
            </a:extLst>
          </p:cNvPr>
          <p:cNvSpPr txBox="1">
            <a:spLocks/>
          </p:cNvSpPr>
          <p:nvPr/>
        </p:nvSpPr>
        <p:spPr>
          <a:xfrm>
            <a:off x="263352" y="250552"/>
            <a:ext cx="11090448" cy="9036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600" dirty="0" err="1"/>
              <a:t>To</a:t>
            </a:r>
            <a:r>
              <a:rPr lang="de-DE" sz="3600" dirty="0"/>
              <a:t> </a:t>
            </a:r>
            <a:r>
              <a:rPr lang="de-DE" sz="3600" dirty="0" err="1"/>
              <a:t>test</a:t>
            </a:r>
            <a:r>
              <a:rPr lang="de-DE" sz="3600" dirty="0"/>
              <a:t> </a:t>
            </a:r>
            <a:r>
              <a:rPr lang="de-DE" sz="3600" dirty="0" err="1"/>
              <a:t>your</a:t>
            </a:r>
            <a:r>
              <a:rPr lang="de-DE" sz="3600" dirty="0"/>
              <a:t> code: </a:t>
            </a:r>
            <a:r>
              <a:rPr lang="en-CH" sz="3600"/>
              <a:t>Generate synthetic data</a:t>
            </a:r>
            <a:endParaRPr lang="en-CH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D5E196-93B2-0A61-E800-05ECD046D869}"/>
              </a:ext>
            </a:extLst>
          </p:cNvPr>
          <p:cNvSpPr txBox="1"/>
          <p:nvPr/>
        </p:nvSpPr>
        <p:spPr>
          <a:xfrm>
            <a:off x="5879976" y="3203684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accent2"/>
                </a:solidFill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1738543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9CFEB-DF7F-5482-FD17-2AEBADB0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8E905-589A-ADF9-4DD9-62EB2613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19F8D5-9E90-AC5D-0089-0E58111D8394}"/>
              </a:ext>
            </a:extLst>
          </p:cNvPr>
          <p:cNvGrpSpPr/>
          <p:nvPr/>
        </p:nvGrpSpPr>
        <p:grpSpPr>
          <a:xfrm rot="17612957">
            <a:off x="3249154" y="4768110"/>
            <a:ext cx="1464474" cy="1255188"/>
            <a:chOff x="1937384" y="2394017"/>
            <a:chExt cx="1464474" cy="125518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B6C0265-6406-3BFE-CD63-061EC899993B}"/>
                </a:ext>
              </a:extLst>
            </p:cNvPr>
            <p:cNvSpPr/>
            <p:nvPr/>
          </p:nvSpPr>
          <p:spPr>
            <a:xfrm>
              <a:off x="1937384" y="2464131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681E65A-36BC-6958-9CE9-0422D82CC155}"/>
                </a:ext>
              </a:extLst>
            </p:cNvPr>
            <p:cNvSpPr/>
            <p:nvPr/>
          </p:nvSpPr>
          <p:spPr>
            <a:xfrm>
              <a:off x="2225416" y="239401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4435875-C16A-2466-62D4-5A61570DD0DF}"/>
                </a:ext>
              </a:extLst>
            </p:cNvPr>
            <p:cNvSpPr/>
            <p:nvPr/>
          </p:nvSpPr>
          <p:spPr>
            <a:xfrm>
              <a:off x="2288840" y="2599222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A958591-7012-DCE1-10D0-695D8A790F05}"/>
                </a:ext>
              </a:extLst>
            </p:cNvPr>
            <p:cNvSpPr/>
            <p:nvPr/>
          </p:nvSpPr>
          <p:spPr>
            <a:xfrm>
              <a:off x="2130957" y="272607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576595-A356-7108-6644-D730F8DDBCBC}"/>
                </a:ext>
              </a:extLst>
            </p:cNvPr>
            <p:cNvSpPr/>
            <p:nvPr/>
          </p:nvSpPr>
          <p:spPr>
            <a:xfrm>
              <a:off x="2415688" y="2852918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05E57AF-D8D8-94F1-A52C-6DE7A224F714}"/>
                </a:ext>
              </a:extLst>
            </p:cNvPr>
            <p:cNvSpPr/>
            <p:nvPr/>
          </p:nvSpPr>
          <p:spPr>
            <a:xfrm>
              <a:off x="2657464" y="271870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34C276-EBDF-01FE-5104-6DD489357A73}"/>
                </a:ext>
              </a:extLst>
            </p:cNvPr>
            <p:cNvSpPr/>
            <p:nvPr/>
          </p:nvSpPr>
          <p:spPr>
            <a:xfrm>
              <a:off x="2699792" y="30586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51C4D33-48F0-D929-DC62-954BF419BE64}"/>
                </a:ext>
              </a:extLst>
            </p:cNvPr>
            <p:cNvSpPr/>
            <p:nvPr/>
          </p:nvSpPr>
          <p:spPr>
            <a:xfrm>
              <a:off x="2852403" y="2959144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45D86A9-090B-5C85-DECC-BC129B704990}"/>
                </a:ext>
              </a:extLst>
            </p:cNvPr>
            <p:cNvSpPr/>
            <p:nvPr/>
          </p:nvSpPr>
          <p:spPr>
            <a:xfrm>
              <a:off x="2915827" y="3185505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8639861-AF57-0DD4-669B-C6377B0F20F5}"/>
                </a:ext>
              </a:extLst>
            </p:cNvPr>
            <p:cNvSpPr/>
            <p:nvPr/>
          </p:nvSpPr>
          <p:spPr>
            <a:xfrm>
              <a:off x="3148162" y="318523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01BBC4E-220E-2E64-58CF-55BD1325DF92}"/>
                </a:ext>
              </a:extLst>
            </p:cNvPr>
            <p:cNvSpPr/>
            <p:nvPr/>
          </p:nvSpPr>
          <p:spPr>
            <a:xfrm>
              <a:off x="2813864" y="3395509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FB2E0B-C868-BC8A-DDE2-CFB857CD55AE}"/>
                </a:ext>
              </a:extLst>
            </p:cNvPr>
            <p:cNvSpPr/>
            <p:nvPr/>
          </p:nvSpPr>
          <p:spPr>
            <a:xfrm>
              <a:off x="3275010" y="35223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518CF3C-59C2-32C3-6754-1E88EE2EB546}"/>
              </a:ext>
            </a:extLst>
          </p:cNvPr>
          <p:cNvSpPr txBox="1"/>
          <p:nvPr/>
        </p:nvSpPr>
        <p:spPr>
          <a:xfrm>
            <a:off x="3327004" y="2536319"/>
            <a:ext cx="1567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latin typeface="+mn-lt"/>
              </a:rPr>
              <a:t>a</a:t>
            </a:r>
            <a:r>
              <a:rPr lang="en-CH" sz="2000" baseline="30000" dirty="0">
                <a:latin typeface="+mn-lt"/>
              </a:rPr>
              <a:t>*</a:t>
            </a:r>
            <a:r>
              <a:rPr lang="en-CH" sz="2000" dirty="0">
                <a:latin typeface="+mn-lt"/>
              </a:rPr>
              <a:t> = 0.5</a:t>
            </a:r>
          </a:p>
          <a:p>
            <a:pPr algn="ctr"/>
            <a:r>
              <a:rPr lang="en-CH" sz="2000" dirty="0">
                <a:latin typeface="+mn-lt"/>
              </a:rPr>
              <a:t>b</a:t>
            </a:r>
            <a:r>
              <a:rPr lang="en-CH" sz="2000" baseline="30000" dirty="0">
                <a:latin typeface="+mn-lt"/>
              </a:rPr>
              <a:t>*</a:t>
            </a:r>
            <a:r>
              <a:rPr lang="en-CH" sz="2000" dirty="0">
                <a:latin typeface="+mn-lt"/>
              </a:rPr>
              <a:t> = -1.3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BDFFAA4-4789-030F-CAAC-CAFE0BBF80D8}"/>
              </a:ext>
            </a:extLst>
          </p:cNvPr>
          <p:cNvCxnSpPr>
            <a:cxnSpLocks/>
          </p:cNvCxnSpPr>
          <p:nvPr/>
        </p:nvCxnSpPr>
        <p:spPr>
          <a:xfrm>
            <a:off x="5547777" y="2145840"/>
            <a:ext cx="1440160" cy="1041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BAA269-7905-0BB3-B05B-60FF2285770C}"/>
              </a:ext>
            </a:extLst>
          </p:cNvPr>
          <p:cNvCxnSpPr>
            <a:cxnSpLocks/>
          </p:cNvCxnSpPr>
          <p:nvPr/>
        </p:nvCxnSpPr>
        <p:spPr>
          <a:xfrm flipV="1">
            <a:off x="3177297" y="1774720"/>
            <a:ext cx="1812240" cy="8489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72F1565-2D3F-FB15-3D16-0B003847DF8B}"/>
              </a:ext>
            </a:extLst>
          </p:cNvPr>
          <p:cNvGrpSpPr/>
          <p:nvPr/>
        </p:nvGrpSpPr>
        <p:grpSpPr>
          <a:xfrm rot="17612957">
            <a:off x="7684939" y="4661646"/>
            <a:ext cx="1464474" cy="1255188"/>
            <a:chOff x="1937384" y="2394017"/>
            <a:chExt cx="1464474" cy="1255188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E133939-2007-4C4C-4128-A04DDE2430D2}"/>
                </a:ext>
              </a:extLst>
            </p:cNvPr>
            <p:cNvSpPr/>
            <p:nvPr/>
          </p:nvSpPr>
          <p:spPr>
            <a:xfrm>
              <a:off x="1937384" y="2464131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7069802-F0BB-C320-BE65-59458EE58B5D}"/>
                </a:ext>
              </a:extLst>
            </p:cNvPr>
            <p:cNvSpPr/>
            <p:nvPr/>
          </p:nvSpPr>
          <p:spPr>
            <a:xfrm>
              <a:off x="2225416" y="239401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8517E18-903D-CF07-3EC8-7813406B040E}"/>
                </a:ext>
              </a:extLst>
            </p:cNvPr>
            <p:cNvSpPr/>
            <p:nvPr/>
          </p:nvSpPr>
          <p:spPr>
            <a:xfrm>
              <a:off x="2288840" y="2599222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14E915B-9AD4-C4C0-F561-9400D6E332E7}"/>
                </a:ext>
              </a:extLst>
            </p:cNvPr>
            <p:cNvSpPr/>
            <p:nvPr/>
          </p:nvSpPr>
          <p:spPr>
            <a:xfrm>
              <a:off x="2130957" y="272607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344AFD5-F025-89D4-7865-76EB3F7B597B}"/>
                </a:ext>
              </a:extLst>
            </p:cNvPr>
            <p:cNvSpPr/>
            <p:nvPr/>
          </p:nvSpPr>
          <p:spPr>
            <a:xfrm>
              <a:off x="2415688" y="2852918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DCCABF7-6B0B-CD76-553F-31F6A32CFE5E}"/>
                </a:ext>
              </a:extLst>
            </p:cNvPr>
            <p:cNvSpPr/>
            <p:nvPr/>
          </p:nvSpPr>
          <p:spPr>
            <a:xfrm>
              <a:off x="2657464" y="271870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B1280D5-29A3-AFC3-8B81-904FCB7C1E1C}"/>
                </a:ext>
              </a:extLst>
            </p:cNvPr>
            <p:cNvSpPr/>
            <p:nvPr/>
          </p:nvSpPr>
          <p:spPr>
            <a:xfrm>
              <a:off x="2699792" y="30586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54D0999-B3C8-52DF-7780-73C7A3E27620}"/>
                </a:ext>
              </a:extLst>
            </p:cNvPr>
            <p:cNvSpPr/>
            <p:nvPr/>
          </p:nvSpPr>
          <p:spPr>
            <a:xfrm>
              <a:off x="2852403" y="2959144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B18B5F3B-F19C-6920-CE50-FBD7D301795F}"/>
                </a:ext>
              </a:extLst>
            </p:cNvPr>
            <p:cNvSpPr/>
            <p:nvPr/>
          </p:nvSpPr>
          <p:spPr>
            <a:xfrm>
              <a:off x="2915827" y="3185505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B121C8A-F2A5-C495-9516-7BD9D19B76DD}"/>
                </a:ext>
              </a:extLst>
            </p:cNvPr>
            <p:cNvSpPr/>
            <p:nvPr/>
          </p:nvSpPr>
          <p:spPr>
            <a:xfrm>
              <a:off x="3148162" y="318523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12AFF96-A67E-F9DF-C6DE-7AC044C56299}"/>
                </a:ext>
              </a:extLst>
            </p:cNvPr>
            <p:cNvSpPr/>
            <p:nvPr/>
          </p:nvSpPr>
          <p:spPr>
            <a:xfrm>
              <a:off x="2813864" y="3395509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2ACEAF5-9CEB-B7FD-EFB5-4F9AEB6A850B}"/>
                </a:ext>
              </a:extLst>
            </p:cNvPr>
            <p:cNvSpPr/>
            <p:nvPr/>
          </p:nvSpPr>
          <p:spPr>
            <a:xfrm>
              <a:off x="3275010" y="35223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806FBBF-0BBD-2288-9182-48675B44D32F}"/>
              </a:ext>
            </a:extLst>
          </p:cNvPr>
          <p:cNvCxnSpPr>
            <a:cxnSpLocks/>
          </p:cNvCxnSpPr>
          <p:nvPr/>
        </p:nvCxnSpPr>
        <p:spPr>
          <a:xfrm flipV="1">
            <a:off x="3091034" y="4947929"/>
            <a:ext cx="1812240" cy="8489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DFFB2D2-8858-14C4-148D-535BCB0754CB}"/>
              </a:ext>
            </a:extLst>
          </p:cNvPr>
          <p:cNvGrpSpPr/>
          <p:nvPr/>
        </p:nvGrpSpPr>
        <p:grpSpPr>
          <a:xfrm rot="17612957">
            <a:off x="7620664" y="1627788"/>
            <a:ext cx="1464474" cy="1255188"/>
            <a:chOff x="1937384" y="2394017"/>
            <a:chExt cx="1464474" cy="125518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6C0C309-98D6-A159-5E09-3DEA2BF98B72}"/>
                </a:ext>
              </a:extLst>
            </p:cNvPr>
            <p:cNvSpPr/>
            <p:nvPr/>
          </p:nvSpPr>
          <p:spPr>
            <a:xfrm>
              <a:off x="1937384" y="2464131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07B74AE-99A0-E4CA-8E53-90359D992AEE}"/>
                </a:ext>
              </a:extLst>
            </p:cNvPr>
            <p:cNvSpPr/>
            <p:nvPr/>
          </p:nvSpPr>
          <p:spPr>
            <a:xfrm>
              <a:off x="2225416" y="239401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41257D4-64A6-C031-473C-D4E6FB616F31}"/>
                </a:ext>
              </a:extLst>
            </p:cNvPr>
            <p:cNvSpPr/>
            <p:nvPr/>
          </p:nvSpPr>
          <p:spPr>
            <a:xfrm>
              <a:off x="2288840" y="2599222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4D9AA44-502C-7B98-36D9-1B28F25660A6}"/>
                </a:ext>
              </a:extLst>
            </p:cNvPr>
            <p:cNvSpPr/>
            <p:nvPr/>
          </p:nvSpPr>
          <p:spPr>
            <a:xfrm>
              <a:off x="2130957" y="272607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DD32D0F-412C-971D-B0A9-93B67458F306}"/>
                </a:ext>
              </a:extLst>
            </p:cNvPr>
            <p:cNvSpPr/>
            <p:nvPr/>
          </p:nvSpPr>
          <p:spPr>
            <a:xfrm>
              <a:off x="2415688" y="2852918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167AD96-5CE8-D23C-0AF5-F5FA50358874}"/>
                </a:ext>
              </a:extLst>
            </p:cNvPr>
            <p:cNvSpPr/>
            <p:nvPr/>
          </p:nvSpPr>
          <p:spPr>
            <a:xfrm>
              <a:off x="2657464" y="271870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91AA890-6E0F-3B4A-1BF2-7A69D7410148}"/>
                </a:ext>
              </a:extLst>
            </p:cNvPr>
            <p:cNvSpPr/>
            <p:nvPr/>
          </p:nvSpPr>
          <p:spPr>
            <a:xfrm>
              <a:off x="2699792" y="30586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BE6FE60-7CDA-3B36-F89F-9C346766FE1C}"/>
                </a:ext>
              </a:extLst>
            </p:cNvPr>
            <p:cNvSpPr/>
            <p:nvPr/>
          </p:nvSpPr>
          <p:spPr>
            <a:xfrm>
              <a:off x="2852403" y="2959144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9F104C2-ADCF-F40B-E518-21220CF7E937}"/>
                </a:ext>
              </a:extLst>
            </p:cNvPr>
            <p:cNvSpPr/>
            <p:nvPr/>
          </p:nvSpPr>
          <p:spPr>
            <a:xfrm>
              <a:off x="2915827" y="3185505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9C42B4E-C139-0275-8CAE-541906E7EF09}"/>
                </a:ext>
              </a:extLst>
            </p:cNvPr>
            <p:cNvSpPr/>
            <p:nvPr/>
          </p:nvSpPr>
          <p:spPr>
            <a:xfrm>
              <a:off x="3148162" y="318523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A7D7E0C-A48D-42C6-334D-7181F4EAE3BE}"/>
                </a:ext>
              </a:extLst>
            </p:cNvPr>
            <p:cNvSpPr/>
            <p:nvPr/>
          </p:nvSpPr>
          <p:spPr>
            <a:xfrm>
              <a:off x="2813864" y="3395509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68DCE73-AC60-4FB2-D6B1-2AFBD11AF206}"/>
                </a:ext>
              </a:extLst>
            </p:cNvPr>
            <p:cNvSpPr/>
            <p:nvPr/>
          </p:nvSpPr>
          <p:spPr>
            <a:xfrm>
              <a:off x="3275010" y="35223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D7C11CCA-FA1F-C3EA-0EF6-F728DC7E899D}"/>
              </a:ext>
            </a:extLst>
          </p:cNvPr>
          <p:cNvSpPr txBox="1"/>
          <p:nvPr/>
        </p:nvSpPr>
        <p:spPr>
          <a:xfrm>
            <a:off x="1882964" y="1229096"/>
            <a:ext cx="2756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000" dirty="0">
                <a:latin typeface="+mn-lt"/>
              </a:rPr>
              <a:t>1) Fix initial parameters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65E435-0B86-154F-36EA-B59A33502558}"/>
              </a:ext>
            </a:extLst>
          </p:cNvPr>
          <p:cNvSpPr txBox="1"/>
          <p:nvPr/>
        </p:nvSpPr>
        <p:spPr>
          <a:xfrm>
            <a:off x="6979796" y="1222203"/>
            <a:ext cx="3148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000" dirty="0">
                <a:latin typeface="+mn-lt"/>
              </a:rPr>
              <a:t>2) Generate synthetic data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7AD8E0-8DE0-2117-14F8-E10C6416B673}"/>
              </a:ext>
            </a:extLst>
          </p:cNvPr>
          <p:cNvSpPr txBox="1"/>
          <p:nvPr/>
        </p:nvSpPr>
        <p:spPr>
          <a:xfrm>
            <a:off x="6979796" y="3981465"/>
            <a:ext cx="2460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000" b="1" dirty="0">
                <a:latin typeface="+mn-lt"/>
              </a:rPr>
              <a:t>3) Run the algorithm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52A0F3-0097-B894-DBED-5896DC3FE7BD}"/>
              </a:ext>
            </a:extLst>
          </p:cNvPr>
          <p:cNvCxnSpPr>
            <a:cxnSpLocks/>
          </p:cNvCxnSpPr>
          <p:nvPr/>
        </p:nvCxnSpPr>
        <p:spPr>
          <a:xfrm>
            <a:off x="5535125" y="4981002"/>
            <a:ext cx="1440160" cy="10415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FD46A87-E48E-C78C-B3FB-4274E2783244}"/>
              </a:ext>
            </a:extLst>
          </p:cNvPr>
          <p:cNvSpPr txBox="1"/>
          <p:nvPr/>
        </p:nvSpPr>
        <p:spPr>
          <a:xfrm>
            <a:off x="3317492" y="4128693"/>
            <a:ext cx="1706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latin typeface="+mn-lt"/>
              </a:rPr>
              <a:t>a = 0.5098</a:t>
            </a:r>
          </a:p>
          <a:p>
            <a:pPr algn="ctr"/>
            <a:r>
              <a:rPr lang="en-CH" sz="2000" dirty="0">
                <a:latin typeface="+mn-lt"/>
              </a:rPr>
              <a:t>b = -1.287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090E4E6-5943-D48C-CA44-94DCB924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7ADA113-E7D8-314C-9DAF-EA310C46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50552"/>
            <a:ext cx="11090448" cy="903635"/>
          </a:xfrm>
        </p:spPr>
        <p:txBody>
          <a:bodyPr>
            <a:noAutofit/>
          </a:bodyPr>
          <a:lstStyle/>
          <a:p>
            <a:r>
              <a:rPr lang="de-DE" sz="3600" dirty="0" err="1"/>
              <a:t>To</a:t>
            </a:r>
            <a:r>
              <a:rPr lang="de-DE" sz="3600" dirty="0"/>
              <a:t> </a:t>
            </a:r>
            <a:r>
              <a:rPr lang="de-DE" sz="3600" dirty="0" err="1"/>
              <a:t>test</a:t>
            </a:r>
            <a:r>
              <a:rPr lang="de-DE" sz="3600" dirty="0"/>
              <a:t> </a:t>
            </a:r>
            <a:r>
              <a:rPr lang="de-DE" sz="3600" dirty="0" err="1"/>
              <a:t>your</a:t>
            </a:r>
            <a:r>
              <a:rPr lang="de-DE" sz="3600" dirty="0"/>
              <a:t> code: </a:t>
            </a:r>
            <a:r>
              <a:rPr lang="en-US" sz="3600" dirty="0"/>
              <a:t>Recover the parameters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404C7E-9BCE-0FAF-0EEA-3D548F1B6349}"/>
              </a:ext>
            </a:extLst>
          </p:cNvPr>
          <p:cNvSpPr txBox="1"/>
          <p:nvPr/>
        </p:nvSpPr>
        <p:spPr>
          <a:xfrm>
            <a:off x="5235875" y="2534124"/>
            <a:ext cx="206396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4762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dirty="0">
                <a:solidFill>
                  <a:schemeClr val="accent2"/>
                </a:solidFill>
                <a:latin typeface="+mn-lt"/>
              </a:rPr>
              <a:t>y = a</a:t>
            </a:r>
            <a:r>
              <a:rPr lang="en-CH" baseline="30000" dirty="0">
                <a:solidFill>
                  <a:schemeClr val="accent2"/>
                </a:solidFill>
                <a:latin typeface="+mn-lt"/>
              </a:rPr>
              <a:t>*</a:t>
            </a:r>
            <a:r>
              <a:rPr lang="en-CH" dirty="0">
                <a:solidFill>
                  <a:schemeClr val="accent2"/>
                </a:solidFill>
                <a:latin typeface="+mn-lt"/>
              </a:rPr>
              <a:t> x + b</a:t>
            </a:r>
            <a:r>
              <a:rPr lang="en-CH" baseline="30000" dirty="0">
                <a:solidFill>
                  <a:schemeClr val="accent2"/>
                </a:solidFill>
                <a:latin typeface="+mn-lt"/>
              </a:rPr>
              <a:t>*</a:t>
            </a:r>
            <a:r>
              <a:rPr lang="en-CH" dirty="0">
                <a:solidFill>
                  <a:schemeClr val="accent2"/>
                </a:solidFill>
                <a:latin typeface="+mn-lt"/>
              </a:rPr>
              <a:t> </a:t>
            </a:r>
            <a:br>
              <a:rPr lang="en-CH" dirty="0">
                <a:solidFill>
                  <a:schemeClr val="accent2"/>
                </a:solidFill>
                <a:latin typeface="+mn-lt"/>
              </a:rPr>
            </a:br>
            <a:r>
              <a:rPr lang="en-CH" dirty="0">
                <a:solidFill>
                  <a:schemeClr val="accent2"/>
                </a:solidFill>
                <a:latin typeface="+mn-lt"/>
              </a:rPr>
              <a:t>+ noise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1BBB20-A5AF-60A8-E85E-056B266F57D6}"/>
              </a:ext>
            </a:extLst>
          </p:cNvPr>
          <p:cNvSpPr txBox="1"/>
          <p:nvPr/>
        </p:nvSpPr>
        <p:spPr>
          <a:xfrm>
            <a:off x="5879976" y="3203684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accent2"/>
                </a:solidFill>
              </a:rPr>
              <a:t>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8FD584-BBFD-A5DC-C932-97BCB5AFE848}"/>
              </a:ext>
            </a:extLst>
          </p:cNvPr>
          <p:cNvSpPr txBox="1"/>
          <p:nvPr/>
        </p:nvSpPr>
        <p:spPr>
          <a:xfrm>
            <a:off x="5267462" y="5190112"/>
            <a:ext cx="206396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4762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chemeClr val="accent6"/>
                </a:solidFill>
                <a:latin typeface="+mn-lt"/>
              </a:rPr>
              <a:t>Grid</a:t>
            </a:r>
            <a:r>
              <a:rPr lang="de-DE" dirty="0">
                <a:solidFill>
                  <a:schemeClr val="accent6"/>
                </a:solidFill>
                <a:latin typeface="+mn-lt"/>
              </a:rPr>
              <a:t> Search</a:t>
            </a:r>
            <a:endParaRPr lang="en-CH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8724FC-0729-1964-1DE4-963CDA66484F}"/>
              </a:ext>
            </a:extLst>
          </p:cNvPr>
          <p:cNvSpPr txBox="1"/>
          <p:nvPr/>
        </p:nvSpPr>
        <p:spPr>
          <a:xfrm>
            <a:off x="5491527" y="5621475"/>
            <a:ext cx="1761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accent6"/>
                </a:solidFill>
              </a:rPr>
              <a:t>Fitting Algorithm</a:t>
            </a:r>
          </a:p>
        </p:txBody>
      </p:sp>
    </p:spTree>
    <p:extLst>
      <p:ext uri="{BB962C8B-B14F-4D97-AF65-F5344CB8AC3E}">
        <p14:creationId xmlns:p14="http://schemas.microsoft.com/office/powerpoint/2010/main" val="2000300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9CFEB-DF7F-5482-FD17-2AEBADB0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8E905-589A-ADF9-4DD9-62EB2613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19F8D5-9E90-AC5D-0089-0E58111D8394}"/>
              </a:ext>
            </a:extLst>
          </p:cNvPr>
          <p:cNvGrpSpPr/>
          <p:nvPr/>
        </p:nvGrpSpPr>
        <p:grpSpPr>
          <a:xfrm rot="17612957">
            <a:off x="3249154" y="4768110"/>
            <a:ext cx="1464474" cy="1255188"/>
            <a:chOff x="1937384" y="2394017"/>
            <a:chExt cx="1464474" cy="125518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B6C0265-6406-3BFE-CD63-061EC899993B}"/>
                </a:ext>
              </a:extLst>
            </p:cNvPr>
            <p:cNvSpPr/>
            <p:nvPr/>
          </p:nvSpPr>
          <p:spPr>
            <a:xfrm>
              <a:off x="1937384" y="2464131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681E65A-36BC-6958-9CE9-0422D82CC155}"/>
                </a:ext>
              </a:extLst>
            </p:cNvPr>
            <p:cNvSpPr/>
            <p:nvPr/>
          </p:nvSpPr>
          <p:spPr>
            <a:xfrm>
              <a:off x="2225416" y="239401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4435875-C16A-2466-62D4-5A61570DD0DF}"/>
                </a:ext>
              </a:extLst>
            </p:cNvPr>
            <p:cNvSpPr/>
            <p:nvPr/>
          </p:nvSpPr>
          <p:spPr>
            <a:xfrm>
              <a:off x="2288840" y="2599222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A958591-7012-DCE1-10D0-695D8A790F05}"/>
                </a:ext>
              </a:extLst>
            </p:cNvPr>
            <p:cNvSpPr/>
            <p:nvPr/>
          </p:nvSpPr>
          <p:spPr>
            <a:xfrm>
              <a:off x="2130957" y="272607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576595-A356-7108-6644-D730F8DDBCBC}"/>
                </a:ext>
              </a:extLst>
            </p:cNvPr>
            <p:cNvSpPr/>
            <p:nvPr/>
          </p:nvSpPr>
          <p:spPr>
            <a:xfrm>
              <a:off x="2415688" y="2852918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05E57AF-D8D8-94F1-A52C-6DE7A224F714}"/>
                </a:ext>
              </a:extLst>
            </p:cNvPr>
            <p:cNvSpPr/>
            <p:nvPr/>
          </p:nvSpPr>
          <p:spPr>
            <a:xfrm>
              <a:off x="2657464" y="271870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34C276-EBDF-01FE-5104-6DD489357A73}"/>
                </a:ext>
              </a:extLst>
            </p:cNvPr>
            <p:cNvSpPr/>
            <p:nvPr/>
          </p:nvSpPr>
          <p:spPr>
            <a:xfrm>
              <a:off x="2699792" y="30586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51C4D33-48F0-D929-DC62-954BF419BE64}"/>
                </a:ext>
              </a:extLst>
            </p:cNvPr>
            <p:cNvSpPr/>
            <p:nvPr/>
          </p:nvSpPr>
          <p:spPr>
            <a:xfrm>
              <a:off x="2852403" y="2959144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45D86A9-090B-5C85-DECC-BC129B704990}"/>
                </a:ext>
              </a:extLst>
            </p:cNvPr>
            <p:cNvSpPr/>
            <p:nvPr/>
          </p:nvSpPr>
          <p:spPr>
            <a:xfrm>
              <a:off x="2915827" y="3185505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8639861-AF57-0DD4-669B-C6377B0F20F5}"/>
                </a:ext>
              </a:extLst>
            </p:cNvPr>
            <p:cNvSpPr/>
            <p:nvPr/>
          </p:nvSpPr>
          <p:spPr>
            <a:xfrm>
              <a:off x="3148162" y="318523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01BBC4E-220E-2E64-58CF-55BD1325DF92}"/>
                </a:ext>
              </a:extLst>
            </p:cNvPr>
            <p:cNvSpPr/>
            <p:nvPr/>
          </p:nvSpPr>
          <p:spPr>
            <a:xfrm>
              <a:off x="2813864" y="3395509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FB2E0B-C868-BC8A-DDE2-CFB857CD55AE}"/>
                </a:ext>
              </a:extLst>
            </p:cNvPr>
            <p:cNvSpPr/>
            <p:nvPr/>
          </p:nvSpPr>
          <p:spPr>
            <a:xfrm>
              <a:off x="3275010" y="35223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518CF3C-59C2-32C3-6754-1E88EE2EB546}"/>
              </a:ext>
            </a:extLst>
          </p:cNvPr>
          <p:cNvSpPr txBox="1"/>
          <p:nvPr/>
        </p:nvSpPr>
        <p:spPr>
          <a:xfrm>
            <a:off x="3327004" y="2536319"/>
            <a:ext cx="1567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latin typeface="+mn-lt"/>
              </a:rPr>
              <a:t>a</a:t>
            </a:r>
            <a:r>
              <a:rPr lang="en-CH" sz="2000" baseline="30000" dirty="0">
                <a:latin typeface="+mn-lt"/>
              </a:rPr>
              <a:t>*</a:t>
            </a:r>
            <a:r>
              <a:rPr lang="en-CH" sz="2000" dirty="0">
                <a:latin typeface="+mn-lt"/>
              </a:rPr>
              <a:t> = 0.5</a:t>
            </a:r>
          </a:p>
          <a:p>
            <a:pPr algn="ctr"/>
            <a:r>
              <a:rPr lang="en-CH" sz="2000" dirty="0">
                <a:latin typeface="+mn-lt"/>
              </a:rPr>
              <a:t>b</a:t>
            </a:r>
            <a:r>
              <a:rPr lang="en-CH" sz="2000" baseline="30000" dirty="0">
                <a:latin typeface="+mn-lt"/>
              </a:rPr>
              <a:t>*</a:t>
            </a:r>
            <a:r>
              <a:rPr lang="en-CH" sz="2000" dirty="0">
                <a:latin typeface="+mn-lt"/>
              </a:rPr>
              <a:t> = -1.3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BDFFAA4-4789-030F-CAAC-CAFE0BBF80D8}"/>
              </a:ext>
            </a:extLst>
          </p:cNvPr>
          <p:cNvCxnSpPr>
            <a:cxnSpLocks/>
          </p:cNvCxnSpPr>
          <p:nvPr/>
        </p:nvCxnSpPr>
        <p:spPr>
          <a:xfrm>
            <a:off x="5547777" y="2145840"/>
            <a:ext cx="1440160" cy="1041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BAA269-7905-0BB3-B05B-60FF2285770C}"/>
              </a:ext>
            </a:extLst>
          </p:cNvPr>
          <p:cNvCxnSpPr>
            <a:cxnSpLocks/>
          </p:cNvCxnSpPr>
          <p:nvPr/>
        </p:nvCxnSpPr>
        <p:spPr>
          <a:xfrm flipV="1">
            <a:off x="3177297" y="1774720"/>
            <a:ext cx="1812240" cy="8489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72F1565-2D3F-FB15-3D16-0B003847DF8B}"/>
              </a:ext>
            </a:extLst>
          </p:cNvPr>
          <p:cNvGrpSpPr/>
          <p:nvPr/>
        </p:nvGrpSpPr>
        <p:grpSpPr>
          <a:xfrm rot="17612957">
            <a:off x="7684939" y="4661646"/>
            <a:ext cx="1464474" cy="1255188"/>
            <a:chOff x="1937384" y="2394017"/>
            <a:chExt cx="1464474" cy="1255188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E133939-2007-4C4C-4128-A04DDE2430D2}"/>
                </a:ext>
              </a:extLst>
            </p:cNvPr>
            <p:cNvSpPr/>
            <p:nvPr/>
          </p:nvSpPr>
          <p:spPr>
            <a:xfrm>
              <a:off x="1937384" y="2464131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7069802-F0BB-C320-BE65-59458EE58B5D}"/>
                </a:ext>
              </a:extLst>
            </p:cNvPr>
            <p:cNvSpPr/>
            <p:nvPr/>
          </p:nvSpPr>
          <p:spPr>
            <a:xfrm>
              <a:off x="2225416" y="239401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8517E18-903D-CF07-3EC8-7813406B040E}"/>
                </a:ext>
              </a:extLst>
            </p:cNvPr>
            <p:cNvSpPr/>
            <p:nvPr/>
          </p:nvSpPr>
          <p:spPr>
            <a:xfrm>
              <a:off x="2288840" y="2599222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14E915B-9AD4-C4C0-F561-9400D6E332E7}"/>
                </a:ext>
              </a:extLst>
            </p:cNvPr>
            <p:cNvSpPr/>
            <p:nvPr/>
          </p:nvSpPr>
          <p:spPr>
            <a:xfrm>
              <a:off x="2130957" y="272607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344AFD5-F025-89D4-7865-76EB3F7B597B}"/>
                </a:ext>
              </a:extLst>
            </p:cNvPr>
            <p:cNvSpPr/>
            <p:nvPr/>
          </p:nvSpPr>
          <p:spPr>
            <a:xfrm>
              <a:off x="2415688" y="2852918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DCCABF7-6B0B-CD76-553F-31F6A32CFE5E}"/>
                </a:ext>
              </a:extLst>
            </p:cNvPr>
            <p:cNvSpPr/>
            <p:nvPr/>
          </p:nvSpPr>
          <p:spPr>
            <a:xfrm>
              <a:off x="2657464" y="271870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B1280D5-29A3-AFC3-8B81-904FCB7C1E1C}"/>
                </a:ext>
              </a:extLst>
            </p:cNvPr>
            <p:cNvSpPr/>
            <p:nvPr/>
          </p:nvSpPr>
          <p:spPr>
            <a:xfrm>
              <a:off x="2699792" y="30586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54D0999-B3C8-52DF-7780-73C7A3E27620}"/>
                </a:ext>
              </a:extLst>
            </p:cNvPr>
            <p:cNvSpPr/>
            <p:nvPr/>
          </p:nvSpPr>
          <p:spPr>
            <a:xfrm>
              <a:off x="2852403" y="2959144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B18B5F3B-F19C-6920-CE50-FBD7D301795F}"/>
                </a:ext>
              </a:extLst>
            </p:cNvPr>
            <p:cNvSpPr/>
            <p:nvPr/>
          </p:nvSpPr>
          <p:spPr>
            <a:xfrm>
              <a:off x="2915827" y="3185505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B121C8A-F2A5-C495-9516-7BD9D19B76DD}"/>
                </a:ext>
              </a:extLst>
            </p:cNvPr>
            <p:cNvSpPr/>
            <p:nvPr/>
          </p:nvSpPr>
          <p:spPr>
            <a:xfrm>
              <a:off x="3148162" y="318523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12AFF96-A67E-F9DF-C6DE-7AC044C56299}"/>
                </a:ext>
              </a:extLst>
            </p:cNvPr>
            <p:cNvSpPr/>
            <p:nvPr/>
          </p:nvSpPr>
          <p:spPr>
            <a:xfrm>
              <a:off x="2813864" y="3395509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2ACEAF5-9CEB-B7FD-EFB5-4F9AEB6A850B}"/>
                </a:ext>
              </a:extLst>
            </p:cNvPr>
            <p:cNvSpPr/>
            <p:nvPr/>
          </p:nvSpPr>
          <p:spPr>
            <a:xfrm>
              <a:off x="3275010" y="35223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806FBBF-0BBD-2288-9182-48675B44D32F}"/>
              </a:ext>
            </a:extLst>
          </p:cNvPr>
          <p:cNvCxnSpPr>
            <a:cxnSpLocks/>
          </p:cNvCxnSpPr>
          <p:nvPr/>
        </p:nvCxnSpPr>
        <p:spPr>
          <a:xfrm flipV="1">
            <a:off x="3091034" y="4947929"/>
            <a:ext cx="1812240" cy="8489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1EC0086-894A-29DE-FB65-74F4B32395F7}"/>
              </a:ext>
            </a:extLst>
          </p:cNvPr>
          <p:cNvSpPr txBox="1"/>
          <p:nvPr/>
        </p:nvSpPr>
        <p:spPr>
          <a:xfrm>
            <a:off x="3317492" y="4128693"/>
            <a:ext cx="1706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2000" dirty="0">
                <a:latin typeface="+mn-lt"/>
              </a:rPr>
              <a:t>a = 0.5098</a:t>
            </a:r>
          </a:p>
          <a:p>
            <a:pPr algn="ctr"/>
            <a:r>
              <a:rPr lang="en-CH" sz="2000" dirty="0">
                <a:latin typeface="+mn-lt"/>
              </a:rPr>
              <a:t>b = -1.287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DFFB2D2-8858-14C4-148D-535BCB0754CB}"/>
              </a:ext>
            </a:extLst>
          </p:cNvPr>
          <p:cNvGrpSpPr/>
          <p:nvPr/>
        </p:nvGrpSpPr>
        <p:grpSpPr>
          <a:xfrm rot="17612957">
            <a:off x="7620664" y="1627788"/>
            <a:ext cx="1464474" cy="1255188"/>
            <a:chOff x="1937384" y="2394017"/>
            <a:chExt cx="1464474" cy="125518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6C0C309-98D6-A159-5E09-3DEA2BF98B72}"/>
                </a:ext>
              </a:extLst>
            </p:cNvPr>
            <p:cNvSpPr/>
            <p:nvPr/>
          </p:nvSpPr>
          <p:spPr>
            <a:xfrm>
              <a:off x="1937384" y="2464131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07B74AE-99A0-E4CA-8E53-90359D992AEE}"/>
                </a:ext>
              </a:extLst>
            </p:cNvPr>
            <p:cNvSpPr/>
            <p:nvPr/>
          </p:nvSpPr>
          <p:spPr>
            <a:xfrm>
              <a:off x="2225416" y="239401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41257D4-64A6-C031-473C-D4E6FB616F31}"/>
                </a:ext>
              </a:extLst>
            </p:cNvPr>
            <p:cNvSpPr/>
            <p:nvPr/>
          </p:nvSpPr>
          <p:spPr>
            <a:xfrm>
              <a:off x="2288840" y="2599222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4D9AA44-502C-7B98-36D9-1B28F25660A6}"/>
                </a:ext>
              </a:extLst>
            </p:cNvPr>
            <p:cNvSpPr/>
            <p:nvPr/>
          </p:nvSpPr>
          <p:spPr>
            <a:xfrm>
              <a:off x="2130957" y="272607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DD32D0F-412C-971D-B0A9-93B67458F306}"/>
                </a:ext>
              </a:extLst>
            </p:cNvPr>
            <p:cNvSpPr/>
            <p:nvPr/>
          </p:nvSpPr>
          <p:spPr>
            <a:xfrm>
              <a:off x="2415688" y="2852918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167AD96-5CE8-D23C-0AF5-F5FA50358874}"/>
                </a:ext>
              </a:extLst>
            </p:cNvPr>
            <p:cNvSpPr/>
            <p:nvPr/>
          </p:nvSpPr>
          <p:spPr>
            <a:xfrm>
              <a:off x="2657464" y="2718700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91AA890-6E0F-3B4A-1BF2-7A69D7410148}"/>
                </a:ext>
              </a:extLst>
            </p:cNvPr>
            <p:cNvSpPr/>
            <p:nvPr/>
          </p:nvSpPr>
          <p:spPr>
            <a:xfrm>
              <a:off x="2699792" y="30586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BE6FE60-7CDA-3B36-F89F-9C346766FE1C}"/>
                </a:ext>
              </a:extLst>
            </p:cNvPr>
            <p:cNvSpPr/>
            <p:nvPr/>
          </p:nvSpPr>
          <p:spPr>
            <a:xfrm>
              <a:off x="2852403" y="2959144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9F104C2-ADCF-F40B-E518-21220CF7E937}"/>
                </a:ext>
              </a:extLst>
            </p:cNvPr>
            <p:cNvSpPr/>
            <p:nvPr/>
          </p:nvSpPr>
          <p:spPr>
            <a:xfrm>
              <a:off x="2915827" y="3185505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9C42B4E-C139-0275-8CAE-541906E7EF09}"/>
                </a:ext>
              </a:extLst>
            </p:cNvPr>
            <p:cNvSpPr/>
            <p:nvPr/>
          </p:nvSpPr>
          <p:spPr>
            <a:xfrm>
              <a:off x="3148162" y="318523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A7D7E0C-A48D-42C6-334D-7181F4EAE3BE}"/>
                </a:ext>
              </a:extLst>
            </p:cNvPr>
            <p:cNvSpPr/>
            <p:nvPr/>
          </p:nvSpPr>
          <p:spPr>
            <a:xfrm>
              <a:off x="2813864" y="3395509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68DCE73-AC60-4FB2-D6B1-2AFBD11AF206}"/>
                </a:ext>
              </a:extLst>
            </p:cNvPr>
            <p:cNvSpPr/>
            <p:nvPr/>
          </p:nvSpPr>
          <p:spPr>
            <a:xfrm>
              <a:off x="3275010" y="3522357"/>
              <a:ext cx="126848" cy="1268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D7C11CCA-FA1F-C3EA-0EF6-F728DC7E899D}"/>
              </a:ext>
            </a:extLst>
          </p:cNvPr>
          <p:cNvSpPr txBox="1"/>
          <p:nvPr/>
        </p:nvSpPr>
        <p:spPr>
          <a:xfrm>
            <a:off x="1882964" y="1229096"/>
            <a:ext cx="2756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000" dirty="0">
                <a:latin typeface="+mn-lt"/>
              </a:rPr>
              <a:t>1) Fix initial parameters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65E435-0B86-154F-36EA-B59A33502558}"/>
              </a:ext>
            </a:extLst>
          </p:cNvPr>
          <p:cNvSpPr txBox="1"/>
          <p:nvPr/>
        </p:nvSpPr>
        <p:spPr>
          <a:xfrm>
            <a:off x="6979796" y="1222203"/>
            <a:ext cx="3148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000" dirty="0">
                <a:latin typeface="+mn-lt"/>
              </a:rPr>
              <a:t>2) Generate synthetic data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7AD8E0-8DE0-2117-14F8-E10C6416B673}"/>
              </a:ext>
            </a:extLst>
          </p:cNvPr>
          <p:cNvSpPr txBox="1"/>
          <p:nvPr/>
        </p:nvSpPr>
        <p:spPr>
          <a:xfrm>
            <a:off x="6979796" y="3981465"/>
            <a:ext cx="2460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000" dirty="0">
                <a:latin typeface="+mn-lt"/>
              </a:rPr>
              <a:t>3) Run the algorithm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F46D05D-562A-7E75-D0A1-A3466CA1EE6D}"/>
              </a:ext>
            </a:extLst>
          </p:cNvPr>
          <p:cNvSpPr txBox="1"/>
          <p:nvPr/>
        </p:nvSpPr>
        <p:spPr>
          <a:xfrm>
            <a:off x="1882965" y="3753408"/>
            <a:ext cx="165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000" b="1" dirty="0">
                <a:latin typeface="+mn-lt"/>
              </a:rPr>
              <a:t>4) Compare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52A0F3-0097-B894-DBED-5896DC3FE7BD}"/>
              </a:ext>
            </a:extLst>
          </p:cNvPr>
          <p:cNvCxnSpPr>
            <a:cxnSpLocks/>
          </p:cNvCxnSpPr>
          <p:nvPr/>
        </p:nvCxnSpPr>
        <p:spPr>
          <a:xfrm>
            <a:off x="5535125" y="4981002"/>
            <a:ext cx="1440160" cy="10415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Up-Down Arrow 21">
            <a:extLst>
              <a:ext uri="{FF2B5EF4-FFF2-40B4-BE49-F238E27FC236}">
                <a16:creationId xmlns:a16="http://schemas.microsoft.com/office/drawing/2014/main" id="{B6A1A4E1-07D7-4D75-FB9E-BA9D50033375}"/>
              </a:ext>
            </a:extLst>
          </p:cNvPr>
          <p:cNvSpPr/>
          <p:nvPr/>
        </p:nvSpPr>
        <p:spPr>
          <a:xfrm>
            <a:off x="3927655" y="3329841"/>
            <a:ext cx="354374" cy="713217"/>
          </a:xfrm>
          <a:prstGeom prst="up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B6A3320-EF29-1846-F54C-DBDF66E9B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201E16C-8076-2D68-62F8-6DBE67064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50552"/>
            <a:ext cx="11090448" cy="903635"/>
          </a:xfrm>
        </p:spPr>
        <p:txBody>
          <a:bodyPr>
            <a:noAutofit/>
          </a:bodyPr>
          <a:lstStyle/>
          <a:p>
            <a:r>
              <a:rPr lang="en-CH" sz="3600" dirty="0"/>
              <a:t>Generate synthetic data from the model to test the learning algorithm by recovering the parameters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441FC2-C45D-977A-B0D3-0BB2504673EA}"/>
              </a:ext>
            </a:extLst>
          </p:cNvPr>
          <p:cNvSpPr txBox="1"/>
          <p:nvPr/>
        </p:nvSpPr>
        <p:spPr>
          <a:xfrm>
            <a:off x="5235875" y="2534124"/>
            <a:ext cx="206396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4762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dirty="0">
                <a:solidFill>
                  <a:schemeClr val="accent2"/>
                </a:solidFill>
                <a:latin typeface="+mn-lt"/>
              </a:rPr>
              <a:t>y = a</a:t>
            </a:r>
            <a:r>
              <a:rPr lang="en-CH" baseline="30000" dirty="0">
                <a:solidFill>
                  <a:schemeClr val="accent2"/>
                </a:solidFill>
                <a:latin typeface="+mn-lt"/>
              </a:rPr>
              <a:t>*</a:t>
            </a:r>
            <a:r>
              <a:rPr lang="en-CH" dirty="0">
                <a:solidFill>
                  <a:schemeClr val="accent2"/>
                </a:solidFill>
                <a:latin typeface="+mn-lt"/>
              </a:rPr>
              <a:t> x + b</a:t>
            </a:r>
            <a:r>
              <a:rPr lang="en-CH" baseline="30000" dirty="0">
                <a:solidFill>
                  <a:schemeClr val="accent2"/>
                </a:solidFill>
                <a:latin typeface="+mn-lt"/>
              </a:rPr>
              <a:t>*</a:t>
            </a:r>
            <a:r>
              <a:rPr lang="en-CH" dirty="0">
                <a:solidFill>
                  <a:schemeClr val="accent2"/>
                </a:solidFill>
                <a:latin typeface="+mn-lt"/>
              </a:rPr>
              <a:t> </a:t>
            </a:r>
            <a:br>
              <a:rPr lang="en-CH" dirty="0">
                <a:solidFill>
                  <a:schemeClr val="accent2"/>
                </a:solidFill>
                <a:latin typeface="+mn-lt"/>
              </a:rPr>
            </a:br>
            <a:r>
              <a:rPr lang="en-CH" dirty="0">
                <a:solidFill>
                  <a:schemeClr val="accent2"/>
                </a:solidFill>
                <a:latin typeface="+mn-lt"/>
              </a:rPr>
              <a:t>+ noise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F836FC-DE80-5B43-379C-910098DCF236}"/>
              </a:ext>
            </a:extLst>
          </p:cNvPr>
          <p:cNvSpPr txBox="1"/>
          <p:nvPr/>
        </p:nvSpPr>
        <p:spPr>
          <a:xfrm>
            <a:off x="5879976" y="3203684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accent2"/>
                </a:solidFill>
              </a:rPr>
              <a:t>Model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349387-C883-325A-77A1-C3DA43AF4856}"/>
              </a:ext>
            </a:extLst>
          </p:cNvPr>
          <p:cNvSpPr txBox="1"/>
          <p:nvPr/>
        </p:nvSpPr>
        <p:spPr>
          <a:xfrm>
            <a:off x="5267462" y="5190112"/>
            <a:ext cx="206396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4762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chemeClr val="accent6"/>
                </a:solidFill>
                <a:latin typeface="+mn-lt"/>
              </a:rPr>
              <a:t>Grid</a:t>
            </a:r>
            <a:r>
              <a:rPr lang="de-DE" dirty="0">
                <a:solidFill>
                  <a:schemeClr val="accent6"/>
                </a:solidFill>
                <a:latin typeface="+mn-lt"/>
              </a:rPr>
              <a:t> Search</a:t>
            </a:r>
            <a:endParaRPr lang="en-CH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109C9E-2725-E7A8-2214-C53E03B1512D}"/>
              </a:ext>
            </a:extLst>
          </p:cNvPr>
          <p:cNvSpPr txBox="1"/>
          <p:nvPr/>
        </p:nvSpPr>
        <p:spPr>
          <a:xfrm>
            <a:off x="5491527" y="5621475"/>
            <a:ext cx="1761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accent6"/>
                </a:solidFill>
              </a:rPr>
              <a:t>Fitting Algorithm</a:t>
            </a:r>
          </a:p>
        </p:txBody>
      </p:sp>
    </p:spTree>
    <p:extLst>
      <p:ext uri="{BB962C8B-B14F-4D97-AF65-F5344CB8AC3E}">
        <p14:creationId xmlns:p14="http://schemas.microsoft.com/office/powerpoint/2010/main" val="4205314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4! Recover the population growth, 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0B0981-2C87-9AA3-39A9-191599CBF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CH" sz="2800" dirty="0"/>
              <a:t>In the module </a:t>
            </a:r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logistic_fit</a:t>
            </a:r>
            <a:r>
              <a:rPr lang="en-CH" sz="2800" dirty="0"/>
              <a:t>, </a:t>
            </a:r>
            <a:r>
              <a:rPr lang="en-CH" sz="2800"/>
              <a:t>we </a:t>
            </a:r>
            <a:r>
              <a:rPr lang="de-DE" sz="2800" dirty="0" err="1"/>
              <a:t>provide</a:t>
            </a:r>
            <a:r>
              <a:rPr lang="de-DE" sz="2800" dirty="0"/>
              <a:t> an </a:t>
            </a:r>
            <a:r>
              <a:rPr lang="de-DE" sz="2800" dirty="0" err="1"/>
              <a:t>already</a:t>
            </a:r>
            <a:r>
              <a:rPr lang="de-DE" sz="2800" dirty="0"/>
              <a:t>-</a:t>
            </a:r>
            <a:r>
              <a:rPr lang="en-CH" sz="2800"/>
              <a:t>implemented function </a:t>
            </a:r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fit_r</a:t>
            </a:r>
            <a:r>
              <a:rPr lang="en-CH" sz="2800" dirty="0"/>
              <a:t> that, given a population trajectory, finds the value of </a:t>
            </a:r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CH" sz="2800" dirty="0"/>
              <a:t> that </a:t>
            </a:r>
            <a:r>
              <a:rPr lang="en-CH" sz="2800"/>
              <a:t>generated it</a:t>
            </a:r>
            <a:br>
              <a:rPr lang="en-CH" sz="2800" dirty="0">
                <a:cs typeface="Consolas" panose="020B0609020204030204" pitchFamily="49" charset="0"/>
              </a:rPr>
            </a:br>
            <a:endParaRPr lang="en-CH" sz="2800" dirty="0">
              <a:cs typeface="Consolas" panose="020B0609020204030204" pitchFamily="49" charset="0"/>
            </a:endParaRPr>
          </a:p>
          <a:p>
            <a:pPr lvl="1"/>
            <a:r>
              <a:rPr lang="en-CH" sz="2800" dirty="0">
                <a:cs typeface="Consolas" panose="020B0609020204030204" pitchFamily="49" charset="0"/>
              </a:rPr>
              <a:t>For example: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C1100-0F29-412E-1D73-36A6D9B4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0C0E68-7AC2-DD4C-BE07-D1DA700766ED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00B05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4265D1-ED78-1C33-5CE2-DA63227A6CED}"/>
              </a:ext>
            </a:extLst>
          </p:cNvPr>
          <p:cNvSpPr txBox="1"/>
          <p:nvPr/>
        </p:nvSpPr>
        <p:spPr>
          <a:xfrm>
            <a:off x="2692152" y="3861048"/>
            <a:ext cx="6768752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 [</a:t>
            </a:r>
            <a:r>
              <a:rPr lang="en-US" b="1" dirty="0">
                <a:solidFill>
                  <a:srgbClr val="2FE71A"/>
                </a:solidFill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]: </a:t>
            </a:r>
            <a:r>
              <a:rPr lang="en-US" b="1" dirty="0">
                <a:solidFill>
                  <a:srgbClr val="2D961E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logistic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D961E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iterate_f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 [</a:t>
            </a:r>
            <a:r>
              <a:rPr lang="en-US" b="1" dirty="0">
                <a:solidFill>
                  <a:srgbClr val="2FE71A"/>
                </a:solidFill>
                <a:latin typeface="Menlo" panose="020B0609030804020204" pitchFamily="49" charset="0"/>
              </a:rPr>
              <a:t>2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]: </a:t>
            </a:r>
            <a:r>
              <a:rPr lang="en-US" b="1" dirty="0">
                <a:solidFill>
                  <a:srgbClr val="2D961E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logistic_fit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D961E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fit_r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 [</a:t>
            </a:r>
            <a:r>
              <a:rPr lang="en-US" b="1" dirty="0">
                <a:solidFill>
                  <a:srgbClr val="2FE71A"/>
                </a:solidFill>
                <a:latin typeface="Menlo" panose="020B0609030804020204" pitchFamily="49" charset="0"/>
              </a:rPr>
              <a:t>3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]: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iterate_f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(it=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23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x0=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0.3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r=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3.421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b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</a:b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 [</a:t>
            </a:r>
            <a:r>
              <a:rPr lang="en-US" b="1" dirty="0">
                <a:solidFill>
                  <a:srgbClr val="2FE71A"/>
                </a:solidFill>
                <a:latin typeface="Menlo" panose="020B0609030804020204" pitchFamily="49" charset="0"/>
              </a:rPr>
              <a:t>4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]: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fit_r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Out[</a:t>
            </a:r>
            <a:r>
              <a:rPr lang="en-US" b="1" dirty="0">
                <a:solidFill>
                  <a:srgbClr val="FC2118"/>
                </a:solidFill>
                <a:latin typeface="Menlo" panose="020B0609030804020204" pitchFamily="49" charset="0"/>
              </a:rPr>
              <a:t>4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]: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3.4210000000000003</a:t>
            </a:r>
          </a:p>
        </p:txBody>
      </p:sp>
    </p:spTree>
    <p:extLst>
      <p:ext uri="{BB962C8B-B14F-4D97-AF65-F5344CB8AC3E}">
        <p14:creationId xmlns:p14="http://schemas.microsoft.com/office/powerpoint/2010/main" val="1206969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4!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0B0981-2C87-9AA3-39A9-191599CBF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CH" dirty="0">
                <a:cs typeface="Consolas" panose="020B0609020204030204" pitchFamily="49" charset="0"/>
              </a:rPr>
              <a:t>Write a test for the function 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fit_r</a:t>
            </a:r>
            <a:r>
              <a:rPr lang="en-CH" dirty="0">
                <a:cs typeface="Consolas" panose="020B0609020204030204" pitchFamily="49" charset="0"/>
              </a:rPr>
              <a:t> using the parameters </a:t>
            </a:r>
            <a:r>
              <a:rPr lang="en-CH">
                <a:cs typeface="Consolas" panose="020B0609020204030204" pitchFamily="49" charset="0"/>
              </a:rPr>
              <a:t>recovery method</a:t>
            </a:r>
            <a:r>
              <a:rPr lang="de-DE" dirty="0">
                <a:cs typeface="Consolas" panose="020B0609020204030204" pitchFamily="49" charset="0"/>
              </a:rPr>
              <a:t> in a </a:t>
            </a:r>
            <a:r>
              <a:rPr lang="de-DE" dirty="0" err="1">
                <a:cs typeface="Consolas" panose="020B0609020204030204" pitchFamily="49" charset="0"/>
              </a:rPr>
              <a:t>new</a:t>
            </a:r>
            <a:r>
              <a:rPr lang="de-DE" dirty="0">
                <a:cs typeface="Consolas" panose="020B0609020204030204" pitchFamily="49" charset="0"/>
              </a:rPr>
              <a:t> </a:t>
            </a:r>
            <a:r>
              <a:rPr lang="de-D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test_logistic_fit.py</a:t>
            </a:r>
            <a:r>
              <a:rPr lang="de-DE" dirty="0">
                <a:cs typeface="Consolas" panose="020B0609020204030204" pitchFamily="49" charset="0"/>
              </a:rPr>
              <a:t> </a:t>
            </a:r>
            <a:r>
              <a:rPr lang="de-DE" dirty="0" err="1">
                <a:cs typeface="Consolas" panose="020B0609020204030204" pitchFamily="49" charset="0"/>
              </a:rPr>
              <a:t>test</a:t>
            </a:r>
            <a:r>
              <a:rPr lang="de-DE" dirty="0">
                <a:cs typeface="Consolas" panose="020B0609020204030204" pitchFamily="49" charset="0"/>
              </a:rPr>
              <a:t> </a:t>
            </a:r>
            <a:r>
              <a:rPr lang="de-DE" dirty="0" err="1">
                <a:cs typeface="Consolas" panose="020B0609020204030204" pitchFamily="49" charset="0"/>
              </a:rPr>
              <a:t>file</a:t>
            </a:r>
            <a:r>
              <a:rPr lang="de-DE" dirty="0">
                <a:cs typeface="Consolas" panose="020B0609020204030204" pitchFamily="49" charset="0"/>
              </a:rPr>
              <a:t>. </a:t>
            </a:r>
            <a:endParaRPr lang="en-CH" dirty="0">
              <a:cs typeface="Consolas" panose="020B0609020204030204" pitchFamily="49" charset="0"/>
            </a:endParaRPr>
          </a:p>
          <a:p>
            <a:pPr lvl="1"/>
            <a:r>
              <a:rPr lang="en-CH" dirty="0">
                <a:cs typeface="Consolas" panose="020B0609020204030204" pitchFamily="49" charset="0"/>
              </a:rPr>
              <a:t>The test should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CH" dirty="0">
                <a:cs typeface="Consolas" panose="020B0609020204030204" pitchFamily="49" charset="0"/>
              </a:rPr>
              <a:t>Set a initial value for </a:t>
            </a:r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x0</a:t>
            </a:r>
            <a:r>
              <a:rPr lang="en-CH" dirty="0">
                <a:cs typeface="Consolas" panose="020B0609020204030204" pitchFamily="49" charset="0"/>
              </a:rPr>
              <a:t> and </a:t>
            </a:r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CH" dirty="0">
                <a:cs typeface="Consolas" panose="020B0609020204030204" pitchFamily="49" charset="0"/>
              </a:rPr>
              <a:t>Use </a:t>
            </a:r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iterate_f</a:t>
            </a:r>
            <a:r>
              <a:rPr lang="en-CH" dirty="0">
                <a:cs typeface="Consolas" panose="020B0609020204030204" pitchFamily="49" charset="0"/>
              </a:rPr>
              <a:t> to generate a </a:t>
            </a:r>
            <a:r>
              <a:rPr lang="en-CH" dirty="0"/>
              <a:t>population trajectory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CH" dirty="0">
                <a:cs typeface="Consolas" panose="020B0609020204030204" pitchFamily="49" charset="0"/>
              </a:rPr>
              <a:t>Pass the population trajectory to </a:t>
            </a:r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fit_r</a:t>
            </a:r>
            <a:r>
              <a:rPr lang="en-CH" dirty="0">
                <a:cs typeface="Consolas" panose="020B0609020204030204" pitchFamily="49" charset="0"/>
              </a:rPr>
              <a:t> and collect the result parameters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CH" dirty="0">
                <a:cs typeface="Consolas" panose="020B0609020204030204" pitchFamily="49" charset="0"/>
              </a:rPr>
              <a:t>Check that the fitted </a:t>
            </a:r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CH" dirty="0">
                <a:cs typeface="Consolas" panose="020B0609020204030204" pitchFamily="49" charset="0"/>
              </a:rPr>
              <a:t> is close enough to the original </a:t>
            </a:r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C1100-0F29-412E-1D73-36A6D9B4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0C0E68-7AC2-DD4C-BE07-D1DA700766ED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00B05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BC0735-A6C0-F7A7-16C5-C36046F7E2E2}"/>
              </a:ext>
            </a:extLst>
          </p:cNvPr>
          <p:cNvSpPr txBox="1"/>
          <p:nvPr/>
        </p:nvSpPr>
        <p:spPr>
          <a:xfrm>
            <a:off x="2692152" y="4179686"/>
            <a:ext cx="6768752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 [</a:t>
            </a:r>
            <a:r>
              <a:rPr lang="en-US" b="1" dirty="0">
                <a:solidFill>
                  <a:srgbClr val="2FE71A"/>
                </a:solidFill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]: </a:t>
            </a:r>
            <a:r>
              <a:rPr lang="en-US" b="1" dirty="0">
                <a:solidFill>
                  <a:srgbClr val="2D961E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logistic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D961E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iterate_f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 [</a:t>
            </a:r>
            <a:r>
              <a:rPr lang="en-US" b="1" dirty="0">
                <a:solidFill>
                  <a:srgbClr val="2FE71A"/>
                </a:solidFill>
                <a:latin typeface="Menlo" panose="020B0609030804020204" pitchFamily="49" charset="0"/>
              </a:rPr>
              <a:t>2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]: </a:t>
            </a:r>
            <a:r>
              <a:rPr lang="en-US" b="1" dirty="0">
                <a:solidFill>
                  <a:srgbClr val="2D961E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logistic_fit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D961E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fit_r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 [</a:t>
            </a:r>
            <a:r>
              <a:rPr lang="en-US" b="1" dirty="0">
                <a:solidFill>
                  <a:srgbClr val="2FE71A"/>
                </a:solidFill>
                <a:latin typeface="Menlo" panose="020B0609030804020204" pitchFamily="49" charset="0"/>
              </a:rPr>
              <a:t>3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]: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iterate_f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(it=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23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x0=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0.3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r=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3.421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b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</a:b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 [</a:t>
            </a:r>
            <a:r>
              <a:rPr lang="en-US" b="1" dirty="0">
                <a:solidFill>
                  <a:srgbClr val="2FE71A"/>
                </a:solidFill>
                <a:latin typeface="Menlo" panose="020B0609030804020204" pitchFamily="49" charset="0"/>
              </a:rPr>
              <a:t>4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]: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fit_r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Out[</a:t>
            </a:r>
            <a:r>
              <a:rPr lang="en-US" b="1" dirty="0">
                <a:solidFill>
                  <a:srgbClr val="FC2118"/>
                </a:solidFill>
                <a:latin typeface="Menlo" panose="020B0609030804020204" pitchFamily="49" charset="0"/>
              </a:rPr>
              <a:t>4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]: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3.4210000000000003</a:t>
            </a:r>
          </a:p>
        </p:txBody>
      </p:sp>
    </p:spTree>
    <p:extLst>
      <p:ext uri="{BB962C8B-B14F-4D97-AF65-F5344CB8AC3E}">
        <p14:creationId xmlns:p14="http://schemas.microsoft.com/office/powerpoint/2010/main" val="33091939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71464" y="1700808"/>
            <a:ext cx="9649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Other commonly used helpers in pytest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31B42B-279E-891E-4D3B-F44B41AF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003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98DF7-5638-9045-BD48-E426C938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E" sz="4000" dirty="0"/>
              <a:t>Randomness in Testing c</a:t>
            </a:r>
            <a:r>
              <a:rPr lang="en-GB" sz="4000" dirty="0"/>
              <a:t>an</a:t>
            </a:r>
            <a:r>
              <a:rPr lang="en-DE" sz="4000" dirty="0"/>
              <a:t> be useful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E4B5F-912F-5243-875B-22AD058AD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465574"/>
            <a:ext cx="8148740" cy="1622560"/>
          </a:xfrm>
        </p:spPr>
        <p:txBody>
          <a:bodyPr/>
          <a:lstStyle/>
          <a:p>
            <a:r>
              <a:rPr lang="en-GB" dirty="0"/>
              <a:t>… to check that the code is </a:t>
            </a:r>
            <a:r>
              <a:rPr lang="en-GB" b="1" dirty="0"/>
              <a:t>stable</a:t>
            </a:r>
            <a:r>
              <a:rPr lang="en-GB" dirty="0"/>
              <a:t> and works correctly in many </a:t>
            </a:r>
            <a:r>
              <a:rPr lang="en-GB" b="1" dirty="0"/>
              <a:t>different cases</a:t>
            </a:r>
          </a:p>
          <a:p>
            <a:r>
              <a:rPr lang="en-US" dirty="0"/>
              <a:t>… to</a:t>
            </a:r>
            <a:r>
              <a:rPr lang="en-DE" dirty="0"/>
              <a:t> find </a:t>
            </a:r>
            <a:r>
              <a:rPr lang="en-DE" b="1" dirty="0"/>
              <a:t>corner cases</a:t>
            </a:r>
            <a:r>
              <a:rPr lang="en-DE" dirty="0"/>
              <a:t> or </a:t>
            </a:r>
            <a:r>
              <a:rPr lang="en-DE" b="1" dirty="0"/>
              <a:t>numerical problems</a:t>
            </a:r>
          </a:p>
          <a:p>
            <a:pPr lvl="1"/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BFEB4-E600-9048-875D-D20F2AC6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DE482-0C99-974F-9192-67416059F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8BD5F-0B95-5AC4-E29C-575198934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52E276-53DE-3B3E-0898-854AFA4E9F25}"/>
              </a:ext>
            </a:extLst>
          </p:cNvPr>
          <p:cNvSpPr txBox="1"/>
          <p:nvPr/>
        </p:nvSpPr>
        <p:spPr>
          <a:xfrm>
            <a:off x="1763684" y="3211229"/>
            <a:ext cx="8148740" cy="3170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0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test_logistic_fit_randomized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000" b="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2000" b="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np.random.RandomState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(SEED)</a:t>
            </a:r>
          </a:p>
          <a:p>
            <a:r>
              <a:rPr lang="en-GB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for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00B0F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range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x0 = </a:t>
            </a:r>
            <a:r>
              <a:rPr lang="en-GB" sz="2000" b="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random_state.uniform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0.0001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0.9999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 = </a:t>
            </a:r>
            <a:r>
              <a:rPr lang="en-GB" sz="2000" b="0" dirty="0">
                <a:solidFill>
                  <a:srgbClr val="00B0F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round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000" b="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random_state.uniform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0.001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3.999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</a:p>
          <a:p>
            <a:r>
              <a:rPr lang="en-GB" sz="2000" dirty="0">
                <a:solidFill>
                  <a:srgbClr val="CCCC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2000" b="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2000" b="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iterate_f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000" b="0" dirty="0">
                <a:solidFill>
                  <a:srgbClr val="92D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GB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92D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x0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=x0,</a:t>
            </a:r>
            <a: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b="0" dirty="0">
                <a:solidFill>
                  <a:srgbClr val="92D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=r)</a:t>
            </a:r>
          </a:p>
          <a:p>
            <a:r>
              <a:rPr lang="en-GB" sz="2000" dirty="0">
                <a:solidFill>
                  <a:srgbClr val="CCCC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2000" b="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recovered_r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2000" b="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fit_r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000" b="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br>
              <a:rPr lang="en-GB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sz="2000" b="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assert_allclose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(r, </a:t>
            </a:r>
            <a:r>
              <a:rPr lang="en-GB" sz="2000" b="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recovered_r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000" b="0" dirty="0" err="1">
                <a:solidFill>
                  <a:srgbClr val="92D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atol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GB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1e-3</a:t>
            </a:r>
            <a:r>
              <a:rPr lang="en-GB" sz="20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pic>
        <p:nvPicPr>
          <p:cNvPr id="8" name="Picture 7" descr="A computer with many snakes around it&#10;&#10;AI-generated content may be incorrect.">
            <a:extLst>
              <a:ext uri="{FF2B5EF4-FFF2-40B4-BE49-F238E27FC236}">
                <a16:creationId xmlns:a16="http://schemas.microsoft.com/office/drawing/2014/main" id="{5252FECB-631C-9174-6A85-BF7CA0FB8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9508" y="136525"/>
            <a:ext cx="2892687" cy="289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93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5CDB-6463-B741-94CA-651D1204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Decorating “special” tests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28BE7-2DBF-E146-89FA-99BFF5729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760"/>
            <a:ext cx="10515600" cy="4248473"/>
          </a:xfrm>
        </p:spPr>
        <p:txBody>
          <a:bodyPr>
            <a:normAutofit/>
          </a:bodyPr>
          <a:lstStyle/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GB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xfail</a:t>
            </a:r>
            <a:r>
              <a:rPr lang="en-GB" sz="2400" dirty="0"/>
              <a:t>: Expected failure, outputs an “x” (or “X”) in the report</a:t>
            </a:r>
          </a:p>
          <a:p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@skip</a:t>
            </a:r>
            <a:r>
              <a:rPr lang="en-GB" sz="2400" dirty="0"/>
              <a:t>: Skip test, useful e.g. when the feature doesn’t exist yet </a:t>
            </a:r>
          </a:p>
          <a:p>
            <a:pPr marL="0" indent="0">
              <a:buNone/>
            </a:pPr>
            <a:endParaRPr lang="en-GB" sz="2400" dirty="0"/>
          </a:p>
          <a:p>
            <a:endParaRPr lang="en-US" sz="2400" b="1" dirty="0">
              <a:solidFill>
                <a:srgbClr val="555555"/>
              </a:solidFill>
              <a:effectLst/>
            </a:endParaRPr>
          </a:p>
          <a:p>
            <a:endParaRPr lang="en-US" sz="2400" b="1" dirty="0">
              <a:solidFill>
                <a:srgbClr val="555555"/>
              </a:solidFill>
              <a:effectLst/>
            </a:endParaRP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GB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skipif</a:t>
            </a:r>
            <a:r>
              <a:rPr lang="en-GB" sz="2400" dirty="0"/>
              <a:t>: Skip the test if a condition is met, useful for tests that only works on a specific platform, or for a specific version of Python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0D210-69C2-254F-A712-34EDC8A34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F89F0-6046-F74F-9841-B0C36739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C5407-2649-20B9-C992-6130E6C8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39EA3C-046A-4340-B98A-74523E6444C4}"/>
              </a:ext>
            </a:extLst>
          </p:cNvPr>
          <p:cNvSpPr/>
          <p:nvPr/>
        </p:nvSpPr>
        <p:spPr>
          <a:xfrm>
            <a:off x="1874608" y="1676990"/>
            <a:ext cx="4176464" cy="861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GB" sz="1600" b="1" dirty="0" err="1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pytest.mark.xfail</a:t>
            </a:r>
            <a:endParaRPr lang="en-GB" sz="1600" b="1" dirty="0">
              <a:solidFill>
                <a:srgbClr val="55555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88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66B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test_something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DE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E61EC8-AF8D-B7E9-FF8B-12DA56449F55}"/>
              </a:ext>
            </a:extLst>
          </p:cNvPr>
          <p:cNvSpPr/>
          <p:nvPr/>
        </p:nvSpPr>
        <p:spPr>
          <a:xfrm>
            <a:off x="1874608" y="3140968"/>
            <a:ext cx="6939808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GB" sz="1600" b="1" dirty="0" err="1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pytest.mark.skip</a:t>
            </a:r>
            <a:r>
              <a:rPr lang="en-GB" sz="1600" b="1" dirty="0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reason=“functionality not yet implemented”</a:t>
            </a:r>
            <a:r>
              <a:rPr lang="en-GB" sz="1600" b="1" dirty="0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GB" sz="1600" b="1" dirty="0">
                <a:solidFill>
                  <a:srgbClr val="0088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66B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test_something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DE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F4FFEF-CF71-D506-A65C-637FFF12B522}"/>
              </a:ext>
            </a:extLst>
          </p:cNvPr>
          <p:cNvSpPr/>
          <p:nvPr/>
        </p:nvSpPr>
        <p:spPr>
          <a:xfrm>
            <a:off x="1874608" y="5300270"/>
            <a:ext cx="7881616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GB" sz="1600" b="1" dirty="0" err="1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pytest.mark.skipif</a:t>
            </a:r>
            <a:r>
              <a:rPr lang="en-GB" sz="1600" b="1" dirty="0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00" b="1" dirty="0" err="1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sys.version_info</a:t>
            </a:r>
            <a:r>
              <a:rPr lang="en-GB" sz="1600" b="1" dirty="0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(3, 10), </a:t>
            </a:r>
            <a:br>
              <a:rPr lang="en-GB" sz="1600" b="1" dirty="0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600" b="1" dirty="0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reason="requires python3.10 or higher") </a:t>
            </a:r>
          </a:p>
          <a:p>
            <a:r>
              <a:rPr lang="en-GB" sz="1600" b="1" dirty="0">
                <a:solidFill>
                  <a:srgbClr val="0088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66B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test_something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DE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4150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70779E2-5350-864A-850F-9F70861EFBFC}"/>
              </a:ext>
            </a:extLst>
          </p:cNvPr>
          <p:cNvSpPr/>
          <p:nvPr/>
        </p:nvSpPr>
        <p:spPr>
          <a:xfrm>
            <a:off x="2351584" y="5079584"/>
            <a:ext cx="6408712" cy="113239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05CDB-6463-B741-94CA-651D1204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Marking tests with custom markers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28BE7-2DBF-E146-89FA-99BFF5729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If you have lots of tests, you can categorize them with your own markers </a:t>
            </a:r>
          </a:p>
          <a:p>
            <a:pPr lvl="1"/>
            <a:r>
              <a:rPr lang="en-GB" sz="2000" dirty="0"/>
              <a:t>although for custom mark names you need to register the marks “</a:t>
            </a:r>
            <a:r>
              <a:rPr lang="en-GB" sz="2000" dirty="0" err="1"/>
              <a:t>pytest.ini</a:t>
            </a:r>
            <a:r>
              <a:rPr lang="en-GB" sz="2000" dirty="0"/>
              <a:t>” </a:t>
            </a:r>
          </a:p>
          <a:p>
            <a:pPr lvl="1"/>
            <a:r>
              <a:rPr lang="en-GB" sz="2000" dirty="0">
                <a:hlinkClick r:id="rId2"/>
              </a:rPr>
              <a:t>https://docs.pytest.org/en/7.1.x/example/markers.html#registering-markers</a:t>
            </a:r>
            <a:r>
              <a:rPr lang="en-GB" sz="2000" dirty="0"/>
              <a:t> </a:t>
            </a:r>
          </a:p>
          <a:p>
            <a:r>
              <a:rPr lang="en-GB" sz="2400" dirty="0"/>
              <a:t>Example: </a:t>
            </a:r>
          </a:p>
          <a:p>
            <a:pPr lvl="1"/>
            <a:r>
              <a:rPr lang="en-GB" sz="2000" dirty="0"/>
              <a:t>Smoke tests check for really basic features: run these frequently</a:t>
            </a:r>
          </a:p>
          <a:p>
            <a:pPr lvl="1"/>
            <a:r>
              <a:rPr lang="en-GB" sz="2000" dirty="0"/>
              <a:t>O</a:t>
            </a:r>
            <a:r>
              <a:rPr lang="en-DE" sz="2000" dirty="0"/>
              <a:t>ther tests may be many or too slow to run every time and test for more edge cases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0D210-69C2-254F-A712-34EDC8A34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F89F0-6046-F74F-9841-B0C36739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98E13E-B5C9-08B7-08D1-B199EAB3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39EA3C-046A-4340-B98A-74523E6444C4}"/>
              </a:ext>
            </a:extLst>
          </p:cNvPr>
          <p:cNvSpPr/>
          <p:nvPr/>
        </p:nvSpPr>
        <p:spPr>
          <a:xfrm>
            <a:off x="3480456" y="3830873"/>
            <a:ext cx="4150968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GB" sz="2000" b="1" dirty="0" err="1">
                <a:solidFill>
                  <a:srgbClr val="5555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pytest.mark.smoke</a:t>
            </a:r>
            <a:endParaRPr lang="en-GB" sz="2000" b="1" dirty="0">
              <a:solidFill>
                <a:srgbClr val="55555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88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66B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test_something_basic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DE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72F30D-0D6B-4C4C-B6B7-2E9C84733A93}"/>
              </a:ext>
            </a:extLst>
          </p:cNvPr>
          <p:cNvSpPr txBox="1"/>
          <p:nvPr/>
        </p:nvSpPr>
        <p:spPr>
          <a:xfrm>
            <a:off x="2351585" y="5254933"/>
            <a:ext cx="6083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pytest –m smoke</a:t>
            </a:r>
          </a:p>
          <a:p>
            <a:r>
              <a:rPr lang="en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pytest –m ”smoke and not slow”</a:t>
            </a:r>
          </a:p>
        </p:txBody>
      </p:sp>
    </p:spTree>
    <p:extLst>
      <p:ext uri="{BB962C8B-B14F-4D97-AF65-F5344CB8AC3E}">
        <p14:creationId xmlns:p14="http://schemas.microsoft.com/office/powerpoint/2010/main" val="42293004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D0B11-36FC-7FCF-F80C-D76DF7A8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Writing temporary files: </a:t>
            </a:r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tmp_path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1A601-DD29-79B0-0CC0-C9DDC2710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H" sz="2400" dirty="0"/>
              <a:t>To test functions that write to disk without leaving around the files when the test is finished, use the 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tmp_path </a:t>
            </a:r>
            <a:r>
              <a:rPr lang="en-CH" sz="2400" dirty="0"/>
              <a:t>fixture</a:t>
            </a:r>
          </a:p>
          <a:p>
            <a:r>
              <a:rPr lang="en-CH" sz="2400" dirty="0"/>
              <a:t>The value of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tmp_path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H" sz="2400" dirty="0"/>
              <a:t>is a </a:t>
            </a:r>
            <a:r>
              <a:rPr lang="en-CH" sz="2000" dirty="0">
                <a:latin typeface="Consolas" panose="020B0609020204030204" pitchFamily="49" charset="0"/>
                <a:cs typeface="Consolas" panose="020B0609020204030204" pitchFamily="49" charset="0"/>
              </a:rPr>
              <a:t>pathlib.Path </a:t>
            </a:r>
            <a:r>
              <a:rPr lang="en-CH" sz="2400" dirty="0"/>
              <a:t>object</a:t>
            </a:r>
          </a:p>
          <a:p>
            <a:r>
              <a:rPr lang="en-CH" sz="2400" dirty="0"/>
              <a:t>The directory is created at the start of the test, and removed at the end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B869E-7096-04F5-FA46-38781B896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1F61E-C0DD-FA35-C47D-4305DBA76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80102-5311-5439-AE8B-AAFB0FC35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E2E6B-8D7E-217A-8200-19DCFE60C803}"/>
              </a:ext>
            </a:extLst>
          </p:cNvPr>
          <p:cNvSpPr txBox="1"/>
          <p:nvPr/>
        </p:nvSpPr>
        <p:spPr>
          <a:xfrm>
            <a:off x="2248948" y="3579409"/>
            <a:ext cx="6120680" cy="2308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b="1" noProof="1">
                <a:solidFill>
                  <a:srgbClr val="007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noProof="1">
                <a:solidFill>
                  <a:srgbClr val="06287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test_create_file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(tmp_path): </a:t>
            </a:r>
          </a:p>
          <a:p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	d </a:t>
            </a:r>
            <a:r>
              <a:rPr lang="en-US" noProof="1">
                <a:solidFill>
                  <a:srgbClr val="6666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tmp_path </a:t>
            </a:r>
            <a:r>
              <a:rPr lang="en-US" noProof="1">
                <a:solidFill>
                  <a:srgbClr val="6666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noProof="1">
                <a:solidFill>
                  <a:srgbClr val="407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"sub"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	d</a:t>
            </a:r>
            <a:r>
              <a:rPr lang="en-US" noProof="1">
                <a:solidFill>
                  <a:srgbClr val="6666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mkdir() </a:t>
            </a:r>
          </a:p>
          <a:p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	p </a:t>
            </a:r>
            <a:r>
              <a:rPr lang="en-US" noProof="1">
                <a:solidFill>
                  <a:srgbClr val="6666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d </a:t>
            </a:r>
            <a:r>
              <a:rPr lang="en-US" noProof="1">
                <a:solidFill>
                  <a:srgbClr val="6666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noProof="1">
                <a:solidFill>
                  <a:srgbClr val="407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"hello.txt"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	content = </a:t>
            </a:r>
            <a:r>
              <a:rPr lang="en-US" noProof="1">
                <a:solidFill>
                  <a:srgbClr val="4070A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"some random text"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	p</a:t>
            </a:r>
            <a:r>
              <a:rPr lang="en-US" noProof="1">
                <a:solidFill>
                  <a:srgbClr val="6666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write_text(content) </a:t>
            </a:r>
          </a:p>
          <a:p>
            <a:r>
              <a:rPr lang="en-US" b="1" noProof="1">
                <a:solidFill>
                  <a:srgbClr val="007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assert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p</a:t>
            </a:r>
            <a:r>
              <a:rPr lang="en-US" noProof="1">
                <a:solidFill>
                  <a:srgbClr val="6666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read_text() </a:t>
            </a:r>
            <a:r>
              <a:rPr lang="en-US" noProof="1">
                <a:solidFill>
                  <a:srgbClr val="6666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content </a:t>
            </a:r>
          </a:p>
          <a:p>
            <a:r>
              <a:rPr lang="en-US" b="1" noProof="1">
                <a:solidFill>
                  <a:srgbClr val="007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assert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noProof="1">
                <a:solidFill>
                  <a:srgbClr val="007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noProof="1">
                <a:solidFill>
                  <a:srgbClr val="007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(tmp_path</a:t>
            </a:r>
            <a:r>
              <a:rPr lang="en-US" noProof="1">
                <a:solidFill>
                  <a:srgbClr val="6666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iterdir())) </a:t>
            </a:r>
            <a:r>
              <a:rPr lang="en-US" noProof="1">
                <a:solidFill>
                  <a:srgbClr val="6666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noProof="1">
                <a:solidFill>
                  <a:srgbClr val="208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98947A-4698-470C-2825-80BAA655AF61}"/>
              </a:ext>
            </a:extLst>
          </p:cNvPr>
          <p:cNvSpPr txBox="1"/>
          <p:nvPr/>
        </p:nvSpPr>
        <p:spPr>
          <a:xfrm>
            <a:off x="7968208" y="3717032"/>
            <a:ext cx="223164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H" dirty="0"/>
              <a:t>All you need to do is add an argument with this exact name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69AB62-E319-5027-EB58-A8A9E12AA213}"/>
              </a:ext>
            </a:extLst>
          </p:cNvPr>
          <p:cNvCxnSpPr>
            <a:cxnSpLocks/>
          </p:cNvCxnSpPr>
          <p:nvPr/>
        </p:nvCxnSpPr>
        <p:spPr>
          <a:xfrm flipH="1" flipV="1">
            <a:off x="6425412" y="3783964"/>
            <a:ext cx="1440160" cy="2211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437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92715-14BC-1D99-D837-0F8183B8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Catching Errors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F497C-69F8-96DB-3E39-9F5D1C10D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0C80A-44E7-E2CF-E133-0B44FDDB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DF3EA-7810-93A9-B147-31E3ECDF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12" name="Picture 11" descr="A white background with black and green text&#10;&#10;AI-generated content may be incorrect.">
            <a:extLst>
              <a:ext uri="{FF2B5EF4-FFF2-40B4-BE49-F238E27FC236}">
                <a16:creationId xmlns:a16="http://schemas.microsoft.com/office/drawing/2014/main" id="{80C91D17-166F-8ACA-FE0A-3A8597F7F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01" y="3063875"/>
            <a:ext cx="10581336" cy="173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194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061C3-91A5-B44C-83EB-C1EB3ADD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21109"/>
            <a:ext cx="10515600" cy="903635"/>
          </a:xfrm>
        </p:spPr>
        <p:txBody>
          <a:bodyPr>
            <a:normAutofit/>
          </a:bodyPr>
          <a:lstStyle/>
          <a:p>
            <a:r>
              <a:rPr lang="en-DE" sz="4000" dirty="0"/>
              <a:t>Hi, ChatGPT, write some tests for </a:t>
            </a:r>
            <a:r>
              <a:rPr lang="en-DE" sz="4000" b="1" dirty="0"/>
              <a:t>logistic.py </a:t>
            </a:r>
            <a:r>
              <a:rPr lang="en-DE" sz="4000" dirty="0"/>
              <a:t>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37BB9-CA8B-3E16-E726-481AB84C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2D252-5A65-BAF2-0F00-ABA8A35F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DBA2D-3B63-146E-450E-604E377D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B97DFE8-2239-5833-FD05-B6388E95C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196752"/>
            <a:ext cx="5524500" cy="4343400"/>
          </a:xfrm>
          <a:prstGeom prst="rect">
            <a:avLst/>
          </a:prstGeom>
        </p:spPr>
      </p:pic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347A26E-3AB8-3890-B98B-8D6E52CCB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035" y="1328713"/>
            <a:ext cx="5486400" cy="2006600"/>
          </a:xfrm>
          <a:prstGeom prst="rect">
            <a:avLst/>
          </a:prstGeom>
        </p:spPr>
      </p:pic>
      <p:pic>
        <p:nvPicPr>
          <p:cNvPr id="16" name="Picture 1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25A79B6-AB47-5E09-E4DE-6873B3325D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035" y="3614122"/>
            <a:ext cx="5524500" cy="153101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CF14F799-5370-4FDE-5117-5A9E57B9ED63}"/>
              </a:ext>
            </a:extLst>
          </p:cNvPr>
          <p:cNvSpPr txBox="1">
            <a:spLocks/>
          </p:cNvSpPr>
          <p:nvPr/>
        </p:nvSpPr>
        <p:spPr>
          <a:xfrm>
            <a:off x="551384" y="5733256"/>
            <a:ext cx="10947648" cy="903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2800" b="1" dirty="0"/>
              <a:t>… aside for generating very satisfying dots in pytest, are these tests useful?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CB08E3-B65C-A40E-1CF5-6A399004A0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607" y="75328"/>
            <a:ext cx="1955056" cy="195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47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A02F-0BA7-43F7-F709-8B0BFF5BB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If you </a:t>
            </a:r>
            <a:r>
              <a:rPr lang="en-DE" i="1" dirty="0"/>
              <a:t>must</a:t>
            </a:r>
            <a:r>
              <a:rPr lang="en-DE" dirty="0"/>
              <a:t>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2E988-854A-44EB-4584-721E830BF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… at least a</a:t>
            </a:r>
            <a:r>
              <a:rPr lang="en-DE" dirty="0"/>
              <a:t>sk yourself:</a:t>
            </a:r>
          </a:p>
          <a:p>
            <a:r>
              <a:rPr lang="en-DE" dirty="0"/>
              <a:t>Does this test just </a:t>
            </a:r>
            <a:r>
              <a:rPr lang="en-DE" b="1" dirty="0"/>
              <a:t>re-implement</a:t>
            </a:r>
            <a:r>
              <a:rPr lang="en-DE" dirty="0"/>
              <a:t> my function?</a:t>
            </a:r>
          </a:p>
          <a:p>
            <a:r>
              <a:rPr lang="en-DE" dirty="0"/>
              <a:t>Does this test use my function in a </a:t>
            </a:r>
            <a:r>
              <a:rPr lang="en-DE" b="1" dirty="0"/>
              <a:t>sane</a:t>
            </a:r>
            <a:r>
              <a:rPr lang="en-DE" dirty="0"/>
              <a:t> way/context?</a:t>
            </a:r>
          </a:p>
          <a:p>
            <a:r>
              <a:rPr lang="en-DE" dirty="0"/>
              <a:t>Does this test check something that can actually </a:t>
            </a:r>
            <a:r>
              <a:rPr lang="en-DE" b="1" dirty="0"/>
              <a:t>plausibly go wrong</a:t>
            </a:r>
            <a:r>
              <a:rPr lang="en-DE" dirty="0"/>
              <a:t>?</a:t>
            </a:r>
          </a:p>
          <a:p>
            <a:pPr lvl="1"/>
            <a:r>
              <a:rPr lang="en-GB" dirty="0">
                <a:solidFill>
                  <a:schemeClr val="tx2"/>
                </a:solidFill>
              </a:rPr>
              <a:t>e.g. t</a:t>
            </a:r>
            <a:r>
              <a:rPr lang="en-DE" dirty="0">
                <a:solidFill>
                  <a:schemeClr val="tx2"/>
                </a:solidFill>
              </a:rPr>
              <a:t>he length of a list in a function that just iterates and appends would be quite strange to go wrong.</a:t>
            </a:r>
          </a:p>
          <a:p>
            <a:r>
              <a:rPr lang="en-DE" dirty="0"/>
              <a:t>Does this test check something that is </a:t>
            </a:r>
            <a:r>
              <a:rPr lang="en-DE" b="1" dirty="0"/>
              <a:t>critical if it fails</a:t>
            </a:r>
            <a:r>
              <a:rPr lang="en-DE" dirty="0"/>
              <a:t>?</a:t>
            </a:r>
          </a:p>
          <a:p>
            <a:pPr lvl="1"/>
            <a:r>
              <a:rPr lang="en-GB" dirty="0">
                <a:solidFill>
                  <a:schemeClr val="tx2"/>
                </a:solidFill>
              </a:rPr>
              <a:t>e.g. checking function does not return </a:t>
            </a:r>
            <a:r>
              <a:rPr lang="en-GB" dirty="0" err="1">
                <a:solidFill>
                  <a:schemeClr val="tx2"/>
                </a:solidFill>
              </a:rPr>
              <a:t>NaN</a:t>
            </a:r>
            <a:r>
              <a:rPr lang="en-GB" dirty="0">
                <a:solidFill>
                  <a:schemeClr val="tx2"/>
                </a:solidFill>
              </a:rPr>
              <a:t> -&gt; maybe that’s not the worst case</a:t>
            </a:r>
          </a:p>
          <a:p>
            <a:r>
              <a:rPr lang="en-GB" dirty="0"/>
              <a:t>Does this test use code that I don’t </a:t>
            </a:r>
            <a:r>
              <a:rPr lang="en-GB" b="1" dirty="0"/>
              <a:t>understand</a:t>
            </a:r>
            <a:r>
              <a:rPr lang="en-GB" dirty="0"/>
              <a:t>?</a:t>
            </a:r>
          </a:p>
          <a:p>
            <a:pPr lvl="1"/>
            <a:r>
              <a:rPr lang="en-GB" dirty="0">
                <a:solidFill>
                  <a:schemeClr val="tx2"/>
                </a:solidFill>
              </a:rPr>
              <a:t>Or does it use python code that I would never normally use and/or won’t understand when I check back in a few months. </a:t>
            </a:r>
            <a:endParaRPr lang="en-DE" dirty="0">
              <a:solidFill>
                <a:schemeClr val="tx2"/>
              </a:solidFill>
            </a:endParaRPr>
          </a:p>
          <a:p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3C597-4F5F-DA4F-703F-60EE5FDB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11F6E-21FB-C3A2-B033-7653FADEE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012B9-FF7F-6BFC-4A37-415F0F68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929169-24E8-A6E4-9BD5-7AE21B23B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1059" y="159154"/>
            <a:ext cx="2027064" cy="202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179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is good for your self-esteem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92569" y="1556792"/>
            <a:ext cx="4824536" cy="4937760"/>
          </a:xfrm>
        </p:spPr>
        <p:txBody>
          <a:bodyPr/>
          <a:lstStyle/>
          <a:p>
            <a:r>
              <a:rPr lang="en-US" dirty="0"/>
              <a:t>Immediately:  Always be confident that your results are correct, whether your approach works of not</a:t>
            </a:r>
          </a:p>
          <a:p>
            <a:r>
              <a:rPr lang="en-US" dirty="0"/>
              <a:t>In the future: </a:t>
            </a:r>
            <a:r>
              <a:rPr lang="en-US" b="1" dirty="0"/>
              <a:t>save your future self some trouble!</a:t>
            </a:r>
          </a:p>
          <a:p>
            <a:r>
              <a:rPr lang="en-US" dirty="0"/>
              <a:t>If you are left thinking “it’s cool but I cannot test </a:t>
            </a:r>
            <a:r>
              <a:rPr lang="en-US" i="1" dirty="0"/>
              <a:t>my</a:t>
            </a:r>
            <a:r>
              <a:rPr lang="en-US" dirty="0"/>
              <a:t> code because XYZ”, talk to us during the week and we’ll show you how to do it ;-)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DE8F8A-0EAD-7092-B9BB-75EE2E3AC6BC}"/>
              </a:ext>
            </a:extLst>
          </p:cNvPr>
          <p:cNvSpPr txBox="1"/>
          <p:nvPr/>
        </p:nvSpPr>
        <p:spPr>
          <a:xfrm>
            <a:off x="9362478" y="1537457"/>
            <a:ext cx="123944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DE" b="1" dirty="0">
                <a:solidFill>
                  <a:srgbClr val="7030A0"/>
                </a:solidFill>
                <a:latin typeface="Annie Use Your Telescope" panose="02000000000000000000" pitchFamily="2" charset="0"/>
              </a:rPr>
              <a:t>You, in 2027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C6DCEE-9582-064D-C802-262D0DDD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3" name="Picture 2" descr="A cartoon of two men shaking hands&#10;&#10;Description automatically generated with medium confidence">
            <a:extLst>
              <a:ext uri="{FF2B5EF4-FFF2-40B4-BE49-F238E27FC236}">
                <a16:creationId xmlns:a16="http://schemas.microsoft.com/office/drawing/2014/main" id="{34DF5776-D039-4FEF-0A1F-EE80B360A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816080" y="2017807"/>
            <a:ext cx="4032448" cy="40324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E19BD0-C73E-B244-3F6D-60BEF3DAEF02}"/>
              </a:ext>
            </a:extLst>
          </p:cNvPr>
          <p:cNvSpPr txBox="1"/>
          <p:nvPr/>
        </p:nvSpPr>
        <p:spPr>
          <a:xfrm>
            <a:off x="7073870" y="1537457"/>
            <a:ext cx="1425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solidFill>
                  <a:srgbClr val="C00000"/>
                </a:solidFill>
                <a:latin typeface="Annie Use Your Telescope" panose="02000000000000000000" pitchFamily="2" charset="0"/>
              </a:rPr>
              <a:t>You, in 2026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50A111FD-9A07-B02F-8F63-4B279181AFF4}"/>
              </a:ext>
            </a:extLst>
          </p:cNvPr>
          <p:cNvSpPr/>
          <p:nvPr/>
        </p:nvSpPr>
        <p:spPr>
          <a:xfrm>
            <a:off x="8688288" y="1591429"/>
            <a:ext cx="432048" cy="261389"/>
          </a:xfrm>
          <a:custGeom>
            <a:avLst/>
            <a:gdLst>
              <a:gd name="csX0" fmla="*/ 0 w 432048"/>
              <a:gd name="csY0" fmla="*/ 65347 h 261389"/>
              <a:gd name="csX1" fmla="*/ 301354 w 432048"/>
              <a:gd name="csY1" fmla="*/ 65347 h 261389"/>
              <a:gd name="csX2" fmla="*/ 301354 w 432048"/>
              <a:gd name="csY2" fmla="*/ 0 h 261389"/>
              <a:gd name="csX3" fmla="*/ 432048 w 432048"/>
              <a:gd name="csY3" fmla="*/ 130695 h 261389"/>
              <a:gd name="csX4" fmla="*/ 301354 w 432048"/>
              <a:gd name="csY4" fmla="*/ 261389 h 261389"/>
              <a:gd name="csX5" fmla="*/ 301354 w 432048"/>
              <a:gd name="csY5" fmla="*/ 196042 h 261389"/>
              <a:gd name="csX6" fmla="*/ 0 w 432048"/>
              <a:gd name="csY6" fmla="*/ 196042 h 261389"/>
              <a:gd name="csX7" fmla="*/ 0 w 432048"/>
              <a:gd name="csY7" fmla="*/ 65347 h 2613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2048" h="261389" fill="none" extrusionOk="0">
                <a:moveTo>
                  <a:pt x="0" y="65347"/>
                </a:moveTo>
                <a:cubicBezTo>
                  <a:pt x="141751" y="45563"/>
                  <a:pt x="175096" y="83749"/>
                  <a:pt x="301354" y="65347"/>
                </a:cubicBezTo>
                <a:cubicBezTo>
                  <a:pt x="296525" y="49510"/>
                  <a:pt x="307253" y="22854"/>
                  <a:pt x="301354" y="0"/>
                </a:cubicBezTo>
                <a:cubicBezTo>
                  <a:pt x="355029" y="35860"/>
                  <a:pt x="363205" y="90654"/>
                  <a:pt x="432048" y="130695"/>
                </a:cubicBezTo>
                <a:cubicBezTo>
                  <a:pt x="393368" y="197649"/>
                  <a:pt x="328266" y="215994"/>
                  <a:pt x="301354" y="261389"/>
                </a:cubicBezTo>
                <a:cubicBezTo>
                  <a:pt x="300137" y="247996"/>
                  <a:pt x="303803" y="223311"/>
                  <a:pt x="301354" y="196042"/>
                </a:cubicBezTo>
                <a:cubicBezTo>
                  <a:pt x="194250" y="201744"/>
                  <a:pt x="82176" y="161119"/>
                  <a:pt x="0" y="196042"/>
                </a:cubicBezTo>
                <a:cubicBezTo>
                  <a:pt x="-9366" y="152057"/>
                  <a:pt x="3719" y="95822"/>
                  <a:pt x="0" y="65347"/>
                </a:cubicBezTo>
                <a:close/>
              </a:path>
              <a:path w="432048" h="261389" stroke="0" extrusionOk="0">
                <a:moveTo>
                  <a:pt x="0" y="65347"/>
                </a:moveTo>
                <a:cubicBezTo>
                  <a:pt x="99149" y="33752"/>
                  <a:pt x="207809" y="100604"/>
                  <a:pt x="301354" y="65347"/>
                </a:cubicBezTo>
                <a:cubicBezTo>
                  <a:pt x="293827" y="34991"/>
                  <a:pt x="305101" y="25336"/>
                  <a:pt x="301354" y="0"/>
                </a:cubicBezTo>
                <a:cubicBezTo>
                  <a:pt x="349905" y="45726"/>
                  <a:pt x="383542" y="109907"/>
                  <a:pt x="432048" y="130695"/>
                </a:cubicBezTo>
                <a:cubicBezTo>
                  <a:pt x="370653" y="193379"/>
                  <a:pt x="323698" y="217143"/>
                  <a:pt x="301354" y="261389"/>
                </a:cubicBezTo>
                <a:cubicBezTo>
                  <a:pt x="294443" y="234575"/>
                  <a:pt x="308303" y="228033"/>
                  <a:pt x="301354" y="196042"/>
                </a:cubicBezTo>
                <a:cubicBezTo>
                  <a:pt x="194935" y="205357"/>
                  <a:pt x="80427" y="161482"/>
                  <a:pt x="0" y="196042"/>
                </a:cubicBezTo>
                <a:cubicBezTo>
                  <a:pt x="-15133" y="134519"/>
                  <a:pt x="2838" y="102770"/>
                  <a:pt x="0" y="65347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80474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lorful bug with red and blue eyes&#10;&#10;Description automatically generated">
            <a:extLst>
              <a:ext uri="{FF2B5EF4-FFF2-40B4-BE49-F238E27FC236}">
                <a16:creationId xmlns:a16="http://schemas.microsoft.com/office/drawing/2014/main" id="{FA805893-9BB8-F8A5-129C-67C473D4C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622" y="1516579"/>
            <a:ext cx="4114799" cy="41147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10420" y="5774220"/>
            <a:ext cx="10058400" cy="10391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/>
              <a:t>Debugging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r>
              <a:rPr lang="en-US" dirty="0">
                <a:solidFill>
                  <a:srgbClr val="FFFFFF"/>
                </a:solidFill>
                <a:latin typeface="Calibri" panose="020F0502020204030204"/>
              </a:rPr>
              <a:t>July 2026, CC BY-SA 4.0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4971C-44CB-C83B-4A0D-68EE9AFB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EF79ADEA-B933-47CC-A4E9-04E6298B917C}" type="slidenum">
              <a:rPr lang="en-US">
                <a:solidFill>
                  <a:srgbClr val="FFFFFF"/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46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79AF2B-8298-2D0E-D50D-7B4E953870ED}"/>
              </a:ext>
            </a:extLst>
          </p:cNvPr>
          <p:cNvSpPr/>
          <p:nvPr/>
        </p:nvSpPr>
        <p:spPr>
          <a:xfrm>
            <a:off x="3893622" y="1226622"/>
            <a:ext cx="4404756" cy="4404756"/>
          </a:xfrm>
          <a:prstGeom prst="ellipse">
            <a:avLst/>
          </a:prstGeom>
          <a:noFill/>
          <a:ln w="2540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CE847F-4C79-75DD-D5A5-5FD01E48DB99}"/>
              </a:ext>
            </a:extLst>
          </p:cNvPr>
          <p:cNvCxnSpPr>
            <a:cxnSpLocks/>
            <a:endCxn id="6" idx="5"/>
          </p:cNvCxnSpPr>
          <p:nvPr/>
        </p:nvCxnSpPr>
        <p:spPr>
          <a:xfrm>
            <a:off x="4632443" y="1762839"/>
            <a:ext cx="3020873" cy="3223477"/>
          </a:xfrm>
          <a:prstGeom prst="line">
            <a:avLst/>
          </a:prstGeom>
          <a:ln w="2540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BA2D225F-E4B6-CEC3-EC63-4101B1C8BA40}"/>
              </a:ext>
            </a:extLst>
          </p:cNvPr>
          <p:cNvSpPr txBox="1">
            <a:spLocks/>
          </p:cNvSpPr>
          <p:nvPr/>
        </p:nvSpPr>
        <p:spPr>
          <a:xfrm>
            <a:off x="1118558" y="-482106"/>
            <a:ext cx="10058400" cy="16068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Up next: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B7C7E9-81C4-80B7-FE6D-6B9C56182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46409">
            <a:off x="326077" y="5596697"/>
            <a:ext cx="1394203" cy="13942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E69412-DCF8-E830-BDB8-00D71EBC6A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35513" y="4614028"/>
            <a:ext cx="1313172" cy="131317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17099-818F-9D80-E0FC-282770DE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13513-0828-E977-822D-E6D8B164C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8CA67-8318-B053-7668-59AE5CB2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7FCB7-28E0-AE67-5C91-D08709822929}"/>
              </a:ext>
            </a:extLst>
          </p:cNvPr>
          <p:cNvSpPr txBox="1"/>
          <p:nvPr/>
        </p:nvSpPr>
        <p:spPr>
          <a:xfrm>
            <a:off x="3059816" y="2828835"/>
            <a:ext cx="60723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7200" dirty="0">
                <a:latin typeface="+mj-lt"/>
              </a:rPr>
              <a:t>BACK UP SLIDES</a:t>
            </a:r>
          </a:p>
        </p:txBody>
      </p:sp>
    </p:spTree>
    <p:extLst>
      <p:ext uri="{BB962C8B-B14F-4D97-AF65-F5344CB8AC3E}">
        <p14:creationId xmlns:p14="http://schemas.microsoft.com/office/powerpoint/2010/main" val="28786346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98DF7-5638-9045-BD48-E426C938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Random Seeds and Reproducibility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E4B5F-912F-5243-875B-22AD058AD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904"/>
            <a:ext cx="10515600" cy="4692179"/>
          </a:xfrm>
        </p:spPr>
        <p:txBody>
          <a:bodyPr/>
          <a:lstStyle/>
          <a:p>
            <a:r>
              <a:rPr lang="en-DE" dirty="0"/>
              <a:t>When running tests that involve radomness and some test doesn’t pass it is vital to be able to </a:t>
            </a:r>
            <a:r>
              <a:rPr lang="en-DE" b="1" dirty="0"/>
              <a:t>reproduce that test exactly</a:t>
            </a:r>
            <a:r>
              <a:rPr lang="en-DE" dirty="0"/>
              <a:t>!</a:t>
            </a:r>
          </a:p>
          <a:p>
            <a:r>
              <a:rPr lang="en-DE" dirty="0"/>
              <a:t>Computers produce pseudo-random numbers: setting a </a:t>
            </a:r>
            <a:r>
              <a:rPr lang="en-DE" b="1" dirty="0"/>
              <a:t>seed</a:t>
            </a:r>
            <a:r>
              <a:rPr lang="en-DE" dirty="0"/>
              <a:t> resets the basis for the random number generator</a:t>
            </a:r>
          </a:p>
          <a:p>
            <a:r>
              <a:rPr lang="en-DE" dirty="0"/>
              <a:t>This is essential for reproducibility</a:t>
            </a:r>
          </a:p>
          <a:p>
            <a:r>
              <a:rPr lang="en-GB" dirty="0"/>
              <a:t>A</a:t>
            </a:r>
            <a:r>
              <a:rPr lang="en-DE" dirty="0"/>
              <a:t>t a minimum, you should </a:t>
            </a:r>
            <a:r>
              <a:rPr lang="en-DE" b="1" dirty="0"/>
              <a:t>manually set the seed </a:t>
            </a:r>
            <a:r>
              <a:rPr lang="en-DE" dirty="0"/>
              <a:t>for </a:t>
            </a:r>
            <a:r>
              <a:rPr lang="en-US" dirty="0"/>
              <a:t>each of </a:t>
            </a:r>
            <a:r>
              <a:rPr lang="en-DE" dirty="0"/>
              <a:t>your random test</a:t>
            </a:r>
            <a:r>
              <a:rPr lang="en-US" dirty="0"/>
              <a:t>s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BFEB4-E600-9048-875D-D20F2AC6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DE482-0C99-974F-9192-67416059F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E255F-F5D9-744B-9D99-5CA2F4AA59DD}"/>
              </a:ext>
            </a:extLst>
          </p:cNvPr>
          <p:cNvSpPr txBox="1"/>
          <p:nvPr/>
        </p:nvSpPr>
        <p:spPr>
          <a:xfrm>
            <a:off x="3287688" y="4864486"/>
            <a:ext cx="550343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 w="666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SEED </a:t>
            </a:r>
            <a:r>
              <a:rPr lang="en-GB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random_state = np.random.RandomState(SEED)</a:t>
            </a:r>
          </a:p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random_state.rand()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6A5FA-83DE-A6D2-C1A7-65EE44C8D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879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AB49-561F-024B-AF4C-BA8A10C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Hands On 5!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DEA4B-4889-794D-92F4-077D71E70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31520" lvl="1" indent="-457200">
              <a:buFont typeface="+mj-lt"/>
              <a:buAutoNum type="alphaLcParenR"/>
            </a:pPr>
            <a:r>
              <a:rPr lang="en-GB" dirty="0"/>
              <a:t>In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test_logistic_fit.py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w</a:t>
            </a:r>
            <a:r>
              <a:rPr lang="en-GB" dirty="0"/>
              <a:t>rite a randomized test that checks that</a:t>
            </a:r>
            <a:r>
              <a:rPr lang="en-US" dirty="0"/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fit_r</a:t>
            </a:r>
            <a:r>
              <a:rPr lang="en-US" dirty="0"/>
              <a:t> can recover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/>
              <a:t> for any random value of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x0</a:t>
            </a:r>
            <a:r>
              <a:rPr lang="en-US" dirty="0"/>
              <a:t> and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endParaRPr lang="en-US" dirty="0"/>
          </a:p>
          <a:p>
            <a:pPr marL="1188720" lvl="2" indent="-457200"/>
            <a:r>
              <a:rPr lang="en-US" dirty="0"/>
              <a:t>Write a for loop of 100 iterations, in each iteration create a random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x0 and r</a:t>
            </a:r>
          </a:p>
          <a:p>
            <a:pPr marL="1188720" lvl="2" indent="-457200"/>
            <a:r>
              <a:rPr lang="en-US" dirty="0"/>
              <a:t>Test that </a:t>
            </a:r>
            <a:r>
              <a:rPr lang="en-US" dirty="0" err="1"/>
              <a:t>fit_r</a:t>
            </a:r>
            <a:r>
              <a:rPr lang="en-US" dirty="0"/>
              <a:t>(</a:t>
            </a:r>
            <a:r>
              <a:rPr lang="en-US" dirty="0" err="1"/>
              <a:t>xs</a:t>
            </a:r>
            <a:r>
              <a:rPr lang="en-US" dirty="0"/>
              <a:t>) == r ,  where </a:t>
            </a:r>
            <a:r>
              <a:rPr lang="en-US" dirty="0" err="1"/>
              <a:t>xs</a:t>
            </a:r>
            <a:r>
              <a:rPr lang="en-US" dirty="0"/>
              <a:t> = </a:t>
            </a:r>
            <a:r>
              <a:rPr lang="en-US" dirty="0" err="1"/>
              <a:t>iterate_f</a:t>
            </a:r>
            <a:r>
              <a:rPr lang="en-US" dirty="0"/>
              <a:t>(…)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552E7-3766-9546-8268-91FA6849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7166C-2C8A-1048-8FB2-2D9870472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90790-D7EF-131A-F354-FC15B852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AB3251-A879-96B7-9EE6-5C83DC24A9FE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00B05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539CF5-D256-415F-6A1E-D467B8864C93}"/>
              </a:ext>
            </a:extLst>
          </p:cNvPr>
          <p:cNvSpPr txBox="1"/>
          <p:nvPr/>
        </p:nvSpPr>
        <p:spPr>
          <a:xfrm>
            <a:off x="3287688" y="4864486"/>
            <a:ext cx="550343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 w="666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SEED </a:t>
            </a:r>
            <a:r>
              <a:rPr lang="en-GB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random_state = np.random.RandomState(SEED)</a:t>
            </a:r>
          </a:p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random_state.rand()</a:t>
            </a:r>
          </a:p>
        </p:txBody>
      </p:sp>
    </p:spTree>
    <p:extLst>
      <p:ext uri="{BB962C8B-B14F-4D97-AF65-F5344CB8AC3E}">
        <p14:creationId xmlns:p14="http://schemas.microsoft.com/office/powerpoint/2010/main" val="16180458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EF265-BE39-9143-ACA3-F64DC2A5D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 Pytest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6FFFB-9D64-EE4D-A985-F51537481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DE" dirty="0"/>
              <a:t>on-scientific coding uses random testing more rarely</a:t>
            </a:r>
            <a:r>
              <a:rPr lang="en-US" dirty="0"/>
              <a:t>, so there is no helper tools for that in pytest</a:t>
            </a:r>
            <a:endParaRPr lang="en-DE" dirty="0"/>
          </a:p>
          <a:p>
            <a:r>
              <a:rPr lang="en-US" dirty="0"/>
              <a:t>However, </a:t>
            </a:r>
            <a:r>
              <a:rPr lang="en-US" dirty="0" err="1"/>
              <a:t>i</a:t>
            </a:r>
            <a:r>
              <a:rPr lang="en-DE" dirty="0"/>
              <a:t>n scientific coding</a:t>
            </a:r>
            <a:r>
              <a:rPr lang="en-US" dirty="0"/>
              <a:t> it is quite common</a:t>
            </a:r>
            <a:endParaRPr lang="en-DE" dirty="0"/>
          </a:p>
          <a:p>
            <a:r>
              <a:rPr lang="en-DE" b="1" dirty="0"/>
              <a:t>What do we want?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DE" dirty="0"/>
              <a:t>For each (random) test there should be a seed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DE" dirty="0"/>
              <a:t>For each run of the test, the seed should be different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T</a:t>
            </a:r>
            <a:r>
              <a:rPr lang="en-DE" dirty="0"/>
              <a:t>hat seed should be printed with the test result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</a:t>
            </a:r>
            <a:r>
              <a:rPr lang="en-DE" dirty="0"/>
              <a:t>t needs to be possible to explicitely run the test again with that seed!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A0052-A922-3C42-A831-D015ED172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DA3B7-CEDF-984B-A832-8462FC4C7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D3936-B68C-D3E5-63AC-2D34558B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573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DE47-1C1F-A04E-97D5-37CEEC48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when you run </a:t>
            </a:r>
            <a:r>
              <a:rPr lang="en-US" dirty="0" err="1"/>
              <a:t>pytest</a:t>
            </a:r>
            <a:r>
              <a:rPr lang="en-US" dirty="0"/>
              <a:t>?</a:t>
            </a: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F4D4503A-473B-6745-8A43-903382FAA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71" y="1628800"/>
            <a:ext cx="11849658" cy="424847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38E85-9FAB-4049-8FF4-09F6264FB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39C76-5345-E04A-A993-6C001FDB8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9B545B-2072-198F-0EED-7DB254B4C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047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E108-0838-364C-9C06-AC306A9E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Stop! Fixtures???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382D8-7F7B-9818-A8A7-23B88A2DC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760"/>
            <a:ext cx="10515600" cy="4908203"/>
          </a:xfrm>
        </p:spPr>
        <p:txBody>
          <a:bodyPr/>
          <a:lstStyle/>
          <a:p>
            <a:r>
              <a:rPr lang="en-GB" dirty="0"/>
              <a:t>A fixture is a reusable setup tool: mostly used for integration tests/pipeline-level tests</a:t>
            </a:r>
          </a:p>
          <a:p>
            <a:r>
              <a:rPr lang="en-GB" dirty="0"/>
              <a:t>It’s a function that prepares some data, objects, or state that your test needs, so you don’t have to repeat the same setup code in every test.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F9DB4-09BE-DD43-770B-DDA9CFC6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45536-B746-42E8-2F79-A50038EC6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A8F84-7DEF-8271-22A5-BF7FDFCAC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9147A6A3-C9AE-3AA0-BA50-55F6437B2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15" t="20339" b="61017"/>
          <a:stretch>
            <a:fillRect/>
          </a:stretch>
        </p:blipFill>
        <p:spPr>
          <a:xfrm>
            <a:off x="2567608" y="3423538"/>
            <a:ext cx="7927706" cy="12961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9D4B7C-85A3-29EE-4F28-400C9D89DEB0}"/>
              </a:ext>
            </a:extLst>
          </p:cNvPr>
          <p:cNvSpPr txBox="1"/>
          <p:nvPr/>
        </p:nvSpPr>
        <p:spPr>
          <a:xfrm>
            <a:off x="479377" y="4638035"/>
            <a:ext cx="44644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e.g. </a:t>
            </a:r>
          </a:p>
          <a:p>
            <a:pPr marL="285750" indent="-285750">
              <a:buFontTx/>
              <a:buChar char="-"/>
            </a:pPr>
            <a:r>
              <a:rPr lang="en-GB" dirty="0"/>
              <a:t>Generate some synthetic data</a:t>
            </a:r>
          </a:p>
          <a:p>
            <a:pPr marL="285750" indent="-285750">
              <a:buFontTx/>
              <a:buChar char="-"/>
            </a:pPr>
            <a:r>
              <a:rPr lang="en-GB" dirty="0"/>
              <a:t>Create temporary files</a:t>
            </a:r>
          </a:p>
          <a:p>
            <a:pPr marL="285750" indent="-285750">
              <a:buFontTx/>
              <a:buChar char="-"/>
            </a:pPr>
            <a:r>
              <a:rPr lang="en-GB" dirty="0"/>
              <a:t>Create some synthetic environment</a:t>
            </a:r>
          </a:p>
          <a:p>
            <a:pPr marL="742950" lvl="1" indent="-285750">
              <a:buFontTx/>
              <a:buChar char="-"/>
            </a:pPr>
            <a:r>
              <a:rPr lang="en-GB" dirty="0"/>
              <a:t>like connection to microscope test environment or a server</a:t>
            </a:r>
          </a:p>
          <a:p>
            <a:pPr marL="285750" indent="-285750">
              <a:buFontTx/>
              <a:buChar char="-"/>
            </a:pP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622CE-46E3-10A7-00D8-E4AA54E390B8}"/>
              </a:ext>
            </a:extLst>
          </p:cNvPr>
          <p:cNvSpPr txBox="1"/>
          <p:nvPr/>
        </p:nvSpPr>
        <p:spPr>
          <a:xfrm>
            <a:off x="7248129" y="4809926"/>
            <a:ext cx="4464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e.g. </a:t>
            </a:r>
          </a:p>
          <a:p>
            <a:pPr marL="285750" indent="-285750">
              <a:buFontTx/>
              <a:buChar char="-"/>
            </a:pPr>
            <a:r>
              <a:rPr lang="en-GB" dirty="0"/>
              <a:t>delete temporary files</a:t>
            </a:r>
          </a:p>
          <a:p>
            <a:pPr marL="285750" indent="-285750">
              <a:buFontTx/>
              <a:buChar char="-"/>
            </a:pPr>
            <a:r>
              <a:rPr lang="en-GB" dirty="0"/>
              <a:t>Shut down some synthetic environment</a:t>
            </a:r>
          </a:p>
        </p:txBody>
      </p:sp>
    </p:spTree>
    <p:extLst>
      <p:ext uri="{BB962C8B-B14F-4D97-AF65-F5344CB8AC3E}">
        <p14:creationId xmlns:p14="http://schemas.microsoft.com/office/powerpoint/2010/main" val="27745303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D305F-A273-AB42-09E4-292F46860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293DF-14C9-7870-803C-6D83C5ECE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happens when you run pytest</a:t>
            </a: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32E75A01-5C73-6C5B-3795-8964E0151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71" y="1628800"/>
            <a:ext cx="11849658" cy="424847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E87C2-4EBE-7A75-C64F-76C62D5F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00CA0-D067-CF5B-4C9D-5BFCB44CA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3C879D-F3FE-3CFB-AF30-F051EF9D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60A65-98EE-F492-53E1-67FDE3E18C6D}"/>
              </a:ext>
            </a:extLst>
          </p:cNvPr>
          <p:cNvSpPr/>
          <p:nvPr/>
        </p:nvSpPr>
        <p:spPr>
          <a:xfrm>
            <a:off x="3215680" y="3140968"/>
            <a:ext cx="1425758" cy="792088"/>
          </a:xfrm>
          <a:prstGeom prst="rect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47E085-2EE0-4B53-89D5-953B608516E4}"/>
              </a:ext>
            </a:extLst>
          </p:cNvPr>
          <p:cNvCxnSpPr>
            <a:cxnSpLocks/>
          </p:cNvCxnSpPr>
          <p:nvPr/>
        </p:nvCxnSpPr>
        <p:spPr>
          <a:xfrm flipH="1" flipV="1">
            <a:off x="3935760" y="4005064"/>
            <a:ext cx="216024" cy="86409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F19A470-6184-C164-D6CC-86CB87ACDCE7}"/>
              </a:ext>
            </a:extLst>
          </p:cNvPr>
          <p:cNvSpPr txBox="1"/>
          <p:nvPr/>
        </p:nvSpPr>
        <p:spPr>
          <a:xfrm>
            <a:off x="3086067" y="5025072"/>
            <a:ext cx="3168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this</a:t>
            </a:r>
            <a:r>
              <a:rPr lang="de-DE" sz="2400" dirty="0"/>
              <a:t> </a:t>
            </a:r>
            <a:r>
              <a:rPr lang="de-DE" sz="2400" dirty="0" err="1"/>
              <a:t>is</a:t>
            </a:r>
            <a:r>
              <a:rPr lang="de-DE" sz="2400" dirty="0"/>
              <a:t> </a:t>
            </a:r>
            <a:r>
              <a:rPr lang="de-DE" sz="2400" dirty="0" err="1"/>
              <a:t>where</a:t>
            </a:r>
            <a:r>
              <a:rPr lang="de-DE" sz="2400" dirty="0"/>
              <a:t> </a:t>
            </a:r>
            <a:r>
              <a:rPr lang="de-DE" sz="2400" dirty="0" err="1"/>
              <a:t>our</a:t>
            </a:r>
            <a:r>
              <a:rPr lang="de-DE" sz="2400" dirty="0"/>
              <a:t> extra </a:t>
            </a:r>
            <a:r>
              <a:rPr lang="de-DE" sz="2400" dirty="0" err="1"/>
              <a:t>setup</a:t>
            </a:r>
            <a:r>
              <a:rPr lang="en-DE" sz="2400" dirty="0"/>
              <a:t> and teardown code can live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2078198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98DF7-5638-9045-BD48-E426C938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Conftest.py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E4B5F-912F-5243-875B-22AD058AD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18193"/>
            <a:ext cx="6697960" cy="1872208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DE" sz="2000" dirty="0">
                <a:latin typeface="Consolas" panose="020B0609020204030204" pitchFamily="49" charset="0"/>
                <a:cs typeface="Consolas" panose="020B0609020204030204" pitchFamily="49" charset="0"/>
              </a:rPr>
              <a:t>onftest.py </a:t>
            </a:r>
            <a:r>
              <a:rPr lang="en-DE" sz="2400" dirty="0"/>
              <a:t>is a </a:t>
            </a:r>
            <a:r>
              <a:rPr lang="en-US" sz="2400" dirty="0"/>
              <a:t>special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pytest</a:t>
            </a:r>
            <a:r>
              <a:rPr lang="en-DE" sz="2400" dirty="0"/>
              <a:t> </a:t>
            </a:r>
            <a:r>
              <a:rPr lang="en-US" sz="2400" dirty="0"/>
              <a:t>config </a:t>
            </a:r>
            <a:r>
              <a:rPr lang="en-DE" sz="2400" dirty="0"/>
              <a:t>file </a:t>
            </a:r>
            <a:br>
              <a:rPr lang="en-US" sz="2400" dirty="0"/>
            </a:br>
            <a:r>
              <a:rPr lang="en-DE" sz="2400" dirty="0"/>
              <a:t>(don’t import it!)</a:t>
            </a:r>
          </a:p>
          <a:p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DE" sz="2000" dirty="0">
                <a:latin typeface="Consolas" panose="020B0609020204030204" pitchFamily="49" charset="0"/>
                <a:cs typeface="Consolas" panose="020B0609020204030204" pitchFamily="49" charset="0"/>
              </a:rPr>
              <a:t>onftest.py </a:t>
            </a:r>
            <a:r>
              <a:rPr lang="en-DE" sz="2400" dirty="0"/>
              <a:t>can be used to define custom behavior or plugins. Fixtures can also be defined here, so that they can be used by all tests.</a:t>
            </a:r>
          </a:p>
          <a:p>
            <a:pPr marL="0" indent="0">
              <a:buNone/>
            </a:pPr>
            <a:endParaRPr lang="en-DE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BFEB4-E600-9048-875D-D20F2AC6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DE482-0C99-974F-9192-67416059F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pic>
        <p:nvPicPr>
          <p:cNvPr id="7" name="Picture 6" descr="A cartoon of a person in a white coat&#10;&#10;Description automatically generated with low confidence">
            <a:extLst>
              <a:ext uri="{FF2B5EF4-FFF2-40B4-BE49-F238E27FC236}">
                <a16:creationId xmlns:a16="http://schemas.microsoft.com/office/drawing/2014/main" id="{A0E82E67-D74C-4AF1-D76B-AACDDA12C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2035863"/>
            <a:ext cx="3236867" cy="32368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17305-D54B-8DBA-58EE-66D341A04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290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69177-1410-4689-C7CE-CA6AC3D1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58DCD-55C5-275E-F138-62CC8EA3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9D2B0-9083-11A8-282A-5EEC22BF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AFB33EA-0B54-FAB6-50B8-2E376FBBD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949"/>
          <a:stretch>
            <a:fillRect/>
          </a:stretch>
        </p:blipFill>
        <p:spPr>
          <a:xfrm>
            <a:off x="947466" y="968799"/>
            <a:ext cx="9632015" cy="4920401"/>
          </a:xfrm>
          <a:prstGeom prst="rect">
            <a:avLst/>
          </a:prstGeom>
        </p:spPr>
      </p:pic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C76EC8F-9275-3F00-4FF2-8354A29DF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30"/>
          <a:stretch>
            <a:fillRect/>
          </a:stretch>
        </p:blipFill>
        <p:spPr>
          <a:xfrm>
            <a:off x="10412231" y="969171"/>
            <a:ext cx="941569" cy="492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893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C7413-8838-6288-1908-26A588D6C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F6F0E-B14F-E0F3-3861-C20E9402B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Setting up randomness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99487-2971-0C97-E683-83317B64F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DE" b="1" dirty="0"/>
              <a:t>What do we want?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DE" dirty="0"/>
              <a:t>For each (random) test there should be a seed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DE" dirty="0"/>
              <a:t>For each run of the test, the seed should be different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T</a:t>
            </a:r>
            <a:r>
              <a:rPr lang="en-DE" dirty="0"/>
              <a:t>hat seed should be printed with the test result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</a:t>
            </a:r>
            <a:r>
              <a:rPr lang="en-DE" dirty="0"/>
              <a:t>t needs to be possible to explicitely run the test again with that seed!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endParaRPr lang="en-DE" dirty="0"/>
          </a:p>
          <a:p>
            <a:r>
              <a:rPr lang="en-DE" b="1" dirty="0"/>
              <a:t>A setup fixture, called before any tests are run:</a:t>
            </a:r>
          </a:p>
          <a:p>
            <a:pPr marL="914400" lvl="1" indent="-457200">
              <a:buAutoNum type="arabicPeriod"/>
            </a:pPr>
            <a:r>
              <a:rPr lang="de-DE" dirty="0" err="1"/>
              <a:t>Creates</a:t>
            </a:r>
            <a:r>
              <a:rPr lang="de-DE" dirty="0"/>
              <a:t> a </a:t>
            </a:r>
            <a:r>
              <a:rPr lang="de-DE" dirty="0" err="1"/>
              <a:t>random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tests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endParaRPr lang="de-DE" dirty="0"/>
          </a:p>
          <a:p>
            <a:pPr marL="914400" lvl="1" indent="-457200">
              <a:buAutoNum type="arabicPeriod"/>
            </a:pPr>
            <a:r>
              <a:rPr lang="de-DE" dirty="0"/>
              <a:t>Picks a </a:t>
            </a:r>
            <a:r>
              <a:rPr lang="de-DE" dirty="0" err="1"/>
              <a:t>random</a:t>
            </a:r>
            <a:r>
              <a:rPr lang="de-DE" dirty="0"/>
              <a:t> SEED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default</a:t>
            </a:r>
            <a:endParaRPr lang="de-DE" dirty="0"/>
          </a:p>
          <a:p>
            <a:pPr marL="914400" lvl="1" indent="-457200">
              <a:buAutoNum type="arabicPeriod"/>
            </a:pPr>
            <a:r>
              <a:rPr lang="de-DE" dirty="0"/>
              <a:t>Prints </a:t>
            </a:r>
            <a:r>
              <a:rPr lang="de-DE" dirty="0" err="1"/>
              <a:t>that</a:t>
            </a:r>
            <a:r>
              <a:rPr lang="de-DE" dirty="0"/>
              <a:t> SEED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  <a:p>
            <a:pPr marL="914400" lvl="1" indent="-457200">
              <a:buAutoNum type="arabicPeriod"/>
            </a:pP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a SEED so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reproduce</a:t>
            </a:r>
            <a:r>
              <a:rPr lang="de-DE" dirty="0"/>
              <a:t> a </a:t>
            </a:r>
            <a:r>
              <a:rPr lang="de-DE" dirty="0" err="1"/>
              <a:t>speific</a:t>
            </a:r>
            <a:r>
              <a:rPr lang="de-DE" dirty="0"/>
              <a:t> </a:t>
            </a:r>
            <a:r>
              <a:rPr lang="de-DE" dirty="0" err="1"/>
              <a:t>run</a:t>
            </a:r>
            <a:endParaRPr lang="de-DE" dirty="0"/>
          </a:p>
          <a:p>
            <a:pPr marL="914400" lvl="1" indent="-457200">
              <a:buAutoNum type="arabicPeriod"/>
            </a:pP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8DD4F-F5A6-A24E-6BB9-C926146C0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62FA6-E448-AB3B-C493-B72C9C70D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06B43-DCE5-F071-F729-BC001078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63CD1AD4-0073-B794-5BD7-05D0CB7C37DD}"/>
              </a:ext>
            </a:extLst>
          </p:cNvPr>
          <p:cNvSpPr/>
          <p:nvPr/>
        </p:nvSpPr>
        <p:spPr>
          <a:xfrm rot="5400000">
            <a:off x="4562500" y="3263652"/>
            <a:ext cx="618728" cy="1008112"/>
          </a:xfrm>
          <a:prstGeom prst="rightArrow">
            <a:avLst/>
          </a:prstGeom>
          <a:solidFill>
            <a:srgbClr val="FF0000"/>
          </a:solidFill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460005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AB49-561F-024B-AF4C-BA8A10C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Hands On 5!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DEA4B-4889-794D-92F4-077D71E70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2736"/>
            <a:ext cx="10515600" cy="5124227"/>
          </a:xfrm>
        </p:spPr>
        <p:txBody>
          <a:bodyPr>
            <a:normAutofit/>
          </a:bodyPr>
          <a:lstStyle/>
          <a:p>
            <a:pPr marL="731520" lvl="1" indent="-457200">
              <a:buFont typeface="+mj-lt"/>
              <a:buAutoNum type="alphaLcParenR"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Write a randomized test that checks that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fit_r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can recover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for any random value of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x0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and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731520" lvl="1" indent="-457200">
              <a:buFont typeface="+mj-lt"/>
              <a:buAutoNum type="alphaLcParenR"/>
            </a:pPr>
            <a:r>
              <a:rPr lang="en-US" dirty="0"/>
              <a:t>A</a:t>
            </a:r>
            <a:r>
              <a:rPr lang="en-DE" dirty="0"/>
              <a:t>dd </a:t>
            </a:r>
            <a:r>
              <a:rPr lang="en-US" dirty="0"/>
              <a:t>the</a:t>
            </a:r>
            <a:r>
              <a:rPr lang="en-DE" dirty="0"/>
              <a:t> </a:t>
            </a:r>
            <a:r>
              <a:rPr lang="en-DE" sz="2000" dirty="0">
                <a:latin typeface="Consolas" panose="020B0609020204030204" pitchFamily="49" charset="0"/>
                <a:cs typeface="Consolas" panose="020B0609020204030204" pitchFamily="49" charset="0"/>
              </a:rPr>
              <a:t>conftest.py</a:t>
            </a:r>
            <a:r>
              <a:rPr lang="en-DE" dirty="0"/>
              <a:t> file </a:t>
            </a:r>
            <a:r>
              <a:rPr lang="en-US" dirty="0"/>
              <a:t>the root directory of the project (hint: it is hiding in the demos folder!). It </a:t>
            </a:r>
            <a:r>
              <a:rPr lang="en-DE" dirty="0"/>
              <a:t>set</a:t>
            </a:r>
            <a:r>
              <a:rPr lang="en-US" dirty="0"/>
              <a:t>s</a:t>
            </a:r>
            <a:r>
              <a:rPr lang="en-DE" dirty="0"/>
              <a:t> a random seed before each run and make</a:t>
            </a:r>
            <a:r>
              <a:rPr lang="en-US" dirty="0"/>
              <a:t>s it </a:t>
            </a:r>
            <a:r>
              <a:rPr lang="en-DE" dirty="0"/>
              <a:t>possible </a:t>
            </a:r>
            <a:r>
              <a:rPr lang="en-US" dirty="0"/>
              <a:t>to reproduce failures in random tests</a:t>
            </a:r>
          </a:p>
          <a:p>
            <a:pPr marL="731520" lvl="1" indent="-457200">
              <a:buFont typeface="+mj-lt"/>
              <a:buAutoNum type="alphaLcParenR"/>
            </a:pPr>
            <a:r>
              <a:rPr kumimoji="0" lang="en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conftest.py</a:t>
            </a:r>
            <a:r>
              <a:rPr kumimoji="0" lang="en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dirty="0"/>
              <a:t>defines a new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US" dirty="0"/>
              <a:t> fixture. Modify your test to take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US" dirty="0"/>
              <a:t> (the name of the fixture) as an argument. You can then use it like a regular variable:</a:t>
            </a:r>
            <a:br>
              <a:rPr lang="en-US" dirty="0"/>
            </a:br>
            <a:r>
              <a:rPr lang="en-US" dirty="0">
                <a:solidFill>
                  <a:schemeClr val="tx2"/>
                </a:solidFill>
              </a:rPr>
              <a:t>		</a:t>
            </a:r>
            <a:r>
              <a:rPr lang="en-GB" sz="2000" dirty="0">
                <a:solidFill>
                  <a:schemeClr val="tx2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GB" sz="2000" dirty="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chemeClr val="accent6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test_random_convergence_decorator</a:t>
            </a:r>
            <a:r>
              <a:rPr lang="en-GB" sz="2000" dirty="0">
                <a:solidFill>
                  <a:schemeClr val="accent6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000" dirty="0" err="1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GB" sz="2000" dirty="0">
                <a:solidFill>
                  <a:schemeClr val="accent6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dirty="0">
              <a:solidFill>
                <a:schemeClr val="accent6"/>
              </a:solidFill>
              <a:highlight>
                <a:srgbClr val="C0C0C0"/>
              </a:highlight>
            </a:endParaRPr>
          </a:p>
          <a:p>
            <a:pPr marL="731520" lvl="1" indent="-457200">
              <a:buFont typeface="+mj-lt"/>
              <a:buAutoNum type="alphaLcParenR"/>
            </a:pPr>
            <a:r>
              <a:rPr lang="en-GB" dirty="0"/>
              <a:t>C</a:t>
            </a:r>
            <a:r>
              <a:rPr lang="en-DE" dirty="0"/>
              <a:t>heck that the console output of pytest now includes the seed and that you can pass a seed too using </a:t>
            </a:r>
            <a:r>
              <a:rPr lang="en-DE" sz="2000" dirty="0">
                <a:latin typeface="Consolas" panose="020B0609020204030204" pitchFamily="49" charset="0"/>
                <a:cs typeface="Consolas" panose="020B0609020204030204" pitchFamily="49" charset="0"/>
              </a:rPr>
              <a:t>--seed 123123</a:t>
            </a:r>
            <a:r>
              <a:rPr lang="en-DE" dirty="0"/>
              <a:t>!</a:t>
            </a:r>
          </a:p>
          <a:p>
            <a:endParaRPr lang="en-DE" dirty="0"/>
          </a:p>
          <a:p>
            <a:pPr marL="274320" lvl="1" indent="0">
              <a:buNone/>
            </a:pPr>
            <a:endParaRPr lang="en-DE" dirty="0"/>
          </a:p>
          <a:p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552E7-3766-9546-8268-91FA6849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7166C-2C8A-1048-8FB2-2D9870472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105FB-1910-EDED-97DF-75C7CD89A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75D263-7566-784F-96BF-BF732437D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776" y="5196729"/>
            <a:ext cx="8604448" cy="82395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7EB49F-093E-6249-81F1-35AF341FFFC8}"/>
              </a:ext>
            </a:extLst>
          </p:cNvPr>
          <p:cNvSpPr/>
          <p:nvPr/>
        </p:nvSpPr>
        <p:spPr>
          <a:xfrm>
            <a:off x="1847528" y="5811318"/>
            <a:ext cx="2448272" cy="261389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603576-9A3A-373D-C7D3-B2933A7D0530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00B05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453794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71464" y="1700808"/>
            <a:ext cx="9649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+mj-lt"/>
              </a:rPr>
              <a:t>Final exercise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 err="1"/>
              <a:t>July</a:t>
            </a:r>
            <a:r>
              <a:rPr lang="de-CH" dirty="0"/>
              <a:t> 2026, CC BY-SA 4.0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31B42B-279E-891E-4D3B-F44B41AF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751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2992-BD89-A94D-88E8-9EFBC30B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Excursion: </a:t>
            </a:r>
            <a:r>
              <a:rPr lang="en-DE"/>
              <a:t>Logistic </a:t>
            </a:r>
            <a:r>
              <a:rPr lang="en-US" dirty="0"/>
              <a:t>map</a:t>
            </a:r>
            <a:endParaRPr lang="en-D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F4E620-F8C4-C043-A008-D66A605D3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812" y="4842911"/>
            <a:ext cx="10370368" cy="1143663"/>
          </a:xfrm>
        </p:spPr>
        <p:txBody>
          <a:bodyPr>
            <a:normAutofit/>
          </a:bodyPr>
          <a:lstStyle/>
          <a:p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r</a:t>
            </a:r>
            <a:r>
              <a:rPr lang="de-DE" dirty="0"/>
              <a:t>=3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r</a:t>
            </a:r>
            <a:r>
              <a:rPr lang="de-DE" dirty="0"/>
              <a:t>=4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logistic</a:t>
            </a:r>
            <a:r>
              <a:rPr lang="de-DE" dirty="0"/>
              <a:t> </a:t>
            </a:r>
            <a:r>
              <a:rPr lang="de-DE" dirty="0" err="1"/>
              <a:t>map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a </a:t>
            </a:r>
            <a:r>
              <a:rPr lang="de-DE" dirty="0" err="1"/>
              <a:t>range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behaviors</a:t>
            </a:r>
            <a:endParaRPr lang="de-DE" dirty="0"/>
          </a:p>
          <a:p>
            <a:r>
              <a:rPr lang="de-DE" dirty="0" err="1">
                <a:cs typeface="Courier New" panose="02070309020205020404" pitchFamily="49" charset="0"/>
              </a:rPr>
              <a:t>Periodic</a:t>
            </a:r>
            <a:r>
              <a:rPr lang="de-DE" dirty="0">
                <a:cs typeface="Courier New" panose="02070309020205020404" pitchFamily="49" charset="0"/>
              </a:rPr>
              <a:t> vs. </a:t>
            </a:r>
            <a:r>
              <a:rPr lang="de-DE" dirty="0" err="1">
                <a:cs typeface="Courier New" panose="02070309020205020404" pitchFamily="49" charset="0"/>
              </a:rPr>
              <a:t>chaotic</a:t>
            </a:r>
            <a:endParaRPr lang="de-DE" dirty="0"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657ED-340B-344D-8E50-384F485C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E53EC-FF27-AE43-B32D-458EC3E0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pic>
        <p:nvPicPr>
          <p:cNvPr id="9" name="Picture 8" descr="A picture containing text, screenshot, line, diagram&#10;&#10;Description automatically generated">
            <a:extLst>
              <a:ext uri="{FF2B5EF4-FFF2-40B4-BE49-F238E27FC236}">
                <a16:creationId xmlns:a16="http://schemas.microsoft.com/office/drawing/2014/main" id="{7CAE94BB-CDA5-0D96-EDB5-D9B690000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1322783"/>
            <a:ext cx="9001000" cy="31503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1CC7C5-2433-B1CB-F6BD-F55C41C83AA2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7030A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99DD8-9756-07C8-FDD1-8C626E607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449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2992-BD89-A94D-88E8-9EFBC30B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Excursion: </a:t>
            </a:r>
            <a:r>
              <a:rPr lang="en-DE"/>
              <a:t>Logistic </a:t>
            </a:r>
            <a:r>
              <a:rPr lang="en-US" dirty="0"/>
              <a:t>map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657ED-340B-344D-8E50-384F485C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E53EC-FF27-AE43-B32D-458EC3E0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pic>
        <p:nvPicPr>
          <p:cNvPr id="6" name="Picture 5" descr="A picture containing chart&#10;&#10;Description automatically generated">
            <a:extLst>
              <a:ext uri="{FF2B5EF4-FFF2-40B4-BE49-F238E27FC236}">
                <a16:creationId xmlns:a16="http://schemas.microsoft.com/office/drawing/2014/main" id="{68EADA29-EF24-B448-9A94-D3393232E3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9" t="9642" r="8659" b="5315"/>
          <a:stretch/>
        </p:blipFill>
        <p:spPr>
          <a:xfrm>
            <a:off x="1644867" y="1340768"/>
            <a:ext cx="8927659" cy="468052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1EFC6-AFB3-155C-E8CD-865B059CE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6E1AA8-A5BF-D64D-9969-ECEF203AA1BD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7030A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933480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2992-BD89-A94D-88E8-9EFBC30B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Excursion: </a:t>
            </a:r>
            <a:r>
              <a:rPr lang="en-DE"/>
              <a:t>Logistic </a:t>
            </a:r>
            <a:r>
              <a:rPr lang="en-US" dirty="0"/>
              <a:t>map and chaos</a:t>
            </a:r>
            <a:endParaRPr lang="en-D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DBA389-D643-8C45-81FE-F404FC79E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4962" y="1791271"/>
            <a:ext cx="4806280" cy="4248472"/>
          </a:xfrm>
        </p:spPr>
        <p:txBody>
          <a:bodyPr>
            <a:normAutofit/>
          </a:bodyPr>
          <a:lstStyle/>
          <a:p>
            <a:r>
              <a:rPr lang="en-US" dirty="0"/>
              <a:t>Sensitive Dependence on Initial Conditions (SDIC)</a:t>
            </a:r>
          </a:p>
          <a:p>
            <a:r>
              <a:rPr lang="en-US" dirty="0">
                <a:cs typeface="Courier New" panose="02070309020205020404" pitchFamily="49" charset="0"/>
              </a:rPr>
              <a:t>Even starting points that are very close quickly diverge to completely different itineraries</a:t>
            </a:r>
          </a:p>
          <a:p>
            <a:r>
              <a:rPr lang="en-US" dirty="0">
                <a:cs typeface="Courier New" panose="02070309020205020404" pitchFamily="49" charset="0"/>
              </a:rPr>
              <a:t>This is called the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</a:rPr>
              <a:t>“Butterfly effect”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657ED-340B-344D-8E50-384F485C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E53EC-FF27-AE43-B32D-458EC3E0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pic>
        <p:nvPicPr>
          <p:cNvPr id="10" name="Picture 9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5EC068AC-3398-8F4C-AEFC-4D81FF82ED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4" b="2214"/>
          <a:stretch/>
        </p:blipFill>
        <p:spPr>
          <a:xfrm>
            <a:off x="8153400" y="3733475"/>
            <a:ext cx="3505200" cy="2988000"/>
          </a:xfrm>
          <a:prstGeom prst="rect">
            <a:avLst/>
          </a:prstGeom>
        </p:spPr>
      </p:pic>
      <p:pic>
        <p:nvPicPr>
          <p:cNvPr id="12" name="Picture 11" descr="A picture containing screenshot, text, line, diagram&#10;&#10;Description automatically generated">
            <a:extLst>
              <a:ext uri="{FF2B5EF4-FFF2-40B4-BE49-F238E27FC236}">
                <a16:creationId xmlns:a16="http://schemas.microsoft.com/office/drawing/2014/main" id="{8440937F-2072-9352-F33C-059392C17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20" y="1334046"/>
            <a:ext cx="4806280" cy="48062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DD7A3-A999-661A-0B0C-3C96081C3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E3B47-D223-6D05-5B1D-93C43485E6C8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7030A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86465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C38B2-9D8A-E945-8AD1-0A4960ED9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Hands 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5751-0F68-AB46-BE28-558729DE6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484784"/>
            <a:ext cx="10370368" cy="47525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Some r values for 3 &lt; r &lt; 4 have some interesting properties: a chaotic trajectory neither diverges nor converges.</a:t>
            </a:r>
          </a:p>
          <a:p>
            <a:pPr marL="274320" lvl="1" indent="0">
              <a:buNone/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a) Use the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plot_bifurcation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function from the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plot_logfun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module using your implementation of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iterate</a:t>
            </a:r>
            <a:r>
              <a:rPr lang="en-US" dirty="0">
                <a:solidFill>
                  <a:schemeClr val="tx1"/>
                </a:solidFill>
              </a:rPr>
              <a:t> to look at the bifurcation diagram. The function generates an output image,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bifurcation_diagram.png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7432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r>
              <a:rPr lang="en-US" dirty="0">
                <a:solidFill>
                  <a:schemeClr val="tx1"/>
                </a:solidFill>
              </a:rPr>
              <a:t>b) Write a test that checks for chaotic behavior when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r=3.8</a:t>
            </a:r>
            <a:r>
              <a:rPr lang="en-US" dirty="0">
                <a:solidFill>
                  <a:schemeClr val="tx1"/>
                </a:solidFill>
              </a:rPr>
              <a:t>. Run the logistic map for 100’000 iterations and verify the conditions for chaotic behavior: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marL="548640" lvl="2" indent="0">
              <a:buNone/>
            </a:pPr>
            <a:r>
              <a:rPr lang="en-US" dirty="0"/>
              <a:t>1) The function is deterministic: </a:t>
            </a:r>
            <a:r>
              <a:rPr lang="en-US" i="1" dirty="0"/>
              <a:t>this does not need to be tested in this case</a:t>
            </a:r>
          </a:p>
          <a:p>
            <a:pPr marL="548640" lvl="2" indent="0">
              <a:buNone/>
            </a:pPr>
            <a:r>
              <a:rPr lang="en-US" dirty="0"/>
              <a:t>2) Orbits must be bounded: check that all values are between 0 and 1</a:t>
            </a:r>
          </a:p>
          <a:p>
            <a:pPr marL="548640" lvl="2" indent="0">
              <a:buNone/>
            </a:pPr>
            <a:r>
              <a:rPr lang="en-US" dirty="0"/>
              <a:t>3) Orbits must be aperiodic: check that the last 1000 values are all different</a:t>
            </a:r>
          </a:p>
          <a:p>
            <a:pPr marL="548640" lvl="2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4) Sensitive dependence on initial conditions: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this is the bonus exercise (at the bottom of the README file)</a:t>
            </a:r>
          </a:p>
          <a:p>
            <a:pPr marL="274320" lvl="1" indent="0">
              <a:buNone/>
            </a:pP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The test should check conditions 2) and 3)!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B6AE5-089C-8D47-A20C-EF24F7539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sz="1000" dirty="0" err="1"/>
              <a:t>July</a:t>
            </a:r>
            <a:r>
              <a:rPr lang="de-CH" sz="1000" dirty="0"/>
              <a:t> 2026, CC BY-SA 4.0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FB865-37EF-674F-8049-1DE594EBE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Testing scientific code, v17.1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BCF3E-2EDA-1F3C-A282-83CAEBFB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9ADEA-B933-47CC-A4E9-04E6298B917C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4309E6-4CEF-F0B2-ADAF-52600CCD9B61}"/>
              </a:ext>
            </a:extLst>
          </p:cNvPr>
          <p:cNvSpPr/>
          <p:nvPr/>
        </p:nvSpPr>
        <p:spPr>
          <a:xfrm>
            <a:off x="152400" y="136524"/>
            <a:ext cx="11848256" cy="6584951"/>
          </a:xfrm>
          <a:prstGeom prst="rect">
            <a:avLst/>
          </a:prstGeom>
          <a:noFill/>
          <a:ln w="165100">
            <a:solidFill>
              <a:srgbClr val="00B05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9218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80879</TotalTime>
  <Words>5670</Words>
  <Application>Microsoft Macintosh PowerPoint</Application>
  <PresentationFormat>Widescreen</PresentationFormat>
  <Paragraphs>724</Paragraphs>
  <Slides>62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1" baseType="lpstr">
      <vt:lpstr>Annie Use Your Telescope</vt:lpstr>
      <vt:lpstr>Arial</vt:lpstr>
      <vt:lpstr>Calibri</vt:lpstr>
      <vt:lpstr>Calibri Light</vt:lpstr>
      <vt:lpstr>Cambria Math</vt:lpstr>
      <vt:lpstr>Consolas</vt:lpstr>
      <vt:lpstr>Courier New</vt:lpstr>
      <vt:lpstr>Menlo</vt:lpstr>
      <vt:lpstr>Office Theme</vt:lpstr>
      <vt:lpstr>PowerPoint Presentation</vt:lpstr>
      <vt:lpstr>PowerPoint Presentation</vt:lpstr>
      <vt:lpstr>Excursion: Logistic Map</vt:lpstr>
      <vt:lpstr>Excursion: Logistic Map</vt:lpstr>
      <vt:lpstr>Excursion: Logistic Map</vt:lpstr>
      <vt:lpstr>Excursion: Logistic Map</vt:lpstr>
      <vt:lpstr>Excursion: Logistic Map</vt:lpstr>
      <vt:lpstr>Excursion: Logistic Map</vt:lpstr>
      <vt:lpstr>Excursion: Logistic Map</vt:lpstr>
      <vt:lpstr>PowerPoint Presentation</vt:lpstr>
      <vt:lpstr>What does a good test look like? What should I test?</vt:lpstr>
      <vt:lpstr>Basic structure of test</vt:lpstr>
      <vt:lpstr>Test simple but general cases</vt:lpstr>
      <vt:lpstr>Test special cases and boundary conditions</vt:lpstr>
      <vt:lpstr>Similar testcases</vt:lpstr>
      <vt:lpstr>Common for-loop pattern for testing multiple cases</vt:lpstr>
      <vt:lpstr>Discuss!</vt:lpstr>
      <vt:lpstr>Hands-on 1!</vt:lpstr>
      <vt:lpstr>The for-loop pattern can be improved</vt:lpstr>
      <vt:lpstr>Simple example</vt:lpstr>
      <vt:lpstr>Simple example, with the parametrize decorator</vt:lpstr>
      <vt:lpstr>Simple example, with the parametrize decorator</vt:lpstr>
      <vt:lpstr>Example with multiple values</vt:lpstr>
      <vt:lpstr>Same example, with the parametrize decorator</vt:lpstr>
      <vt:lpstr>Same example, with the parametrize decorator</vt:lpstr>
      <vt:lpstr>Hands-on 2!</vt:lpstr>
      <vt:lpstr>Hands-on 3! Simulate a population over time</vt:lpstr>
      <vt:lpstr>PowerPoint Presentation</vt:lpstr>
      <vt:lpstr>Testing learning algorithms</vt:lpstr>
      <vt:lpstr>Parameter Recovery Tests</vt:lpstr>
      <vt:lpstr>Bug Sources in Modeling</vt:lpstr>
      <vt:lpstr>PowerPoint Presentation</vt:lpstr>
      <vt:lpstr>To test your code: Recover the parameters</vt:lpstr>
      <vt:lpstr>Generate synthetic data from the model to test the learning algorithm by recovering the parameters</vt:lpstr>
      <vt:lpstr>Hands-on 4! Recover the population growth, r</vt:lpstr>
      <vt:lpstr>Hands-on 4!</vt:lpstr>
      <vt:lpstr>PowerPoint Presentation</vt:lpstr>
      <vt:lpstr>Randomness in Testing can be useful</vt:lpstr>
      <vt:lpstr>Decorating “special” tests</vt:lpstr>
      <vt:lpstr>Marking tests with custom markers</vt:lpstr>
      <vt:lpstr>Writing temporary files: tmp_path</vt:lpstr>
      <vt:lpstr>Catching Errors</vt:lpstr>
      <vt:lpstr>Hi, ChatGPT, write some tests for logistic.py !</vt:lpstr>
      <vt:lpstr>If you must….</vt:lpstr>
      <vt:lpstr>Testing is good for your self-esteem</vt:lpstr>
      <vt:lpstr>Debugging</vt:lpstr>
      <vt:lpstr>PowerPoint Presentation</vt:lpstr>
      <vt:lpstr>Random Seeds and Reproducibility</vt:lpstr>
      <vt:lpstr>Hands On 5!</vt:lpstr>
      <vt:lpstr>A Pytest Solution</vt:lpstr>
      <vt:lpstr>What happens when you run pytest?</vt:lpstr>
      <vt:lpstr>Stop! Fixtures???</vt:lpstr>
      <vt:lpstr>What happens when you run pytest</vt:lpstr>
      <vt:lpstr>Conftest.py</vt:lpstr>
      <vt:lpstr>PowerPoint Presentation</vt:lpstr>
      <vt:lpstr>Setting up randomness</vt:lpstr>
      <vt:lpstr>Hands On 5!</vt:lpstr>
      <vt:lpstr>PowerPoint Presentation</vt:lpstr>
      <vt:lpstr>Excursion: Logistic map</vt:lpstr>
      <vt:lpstr>Excursion: Logistic map</vt:lpstr>
      <vt:lpstr>Excursion: Logistic map and chaos</vt:lpstr>
      <vt:lpstr>Hands on!</vt:lpstr>
    </vt:vector>
  </TitlesOfParts>
  <Company>University of Pennsylvania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Pietro Berkes</dc:creator>
  <cp:lastModifiedBy>Lisa Schwetlick</cp:lastModifiedBy>
  <cp:revision>1414</cp:revision>
  <cp:lastPrinted>2018-09-04T04:56:03Z</cp:lastPrinted>
  <dcterms:created xsi:type="dcterms:W3CDTF">2010-10-01T16:09:12Z</dcterms:created>
  <dcterms:modified xsi:type="dcterms:W3CDTF">2026-07-27T14:24:00Z</dcterms:modified>
</cp:coreProperties>
</file>